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sldIdLst>
    <p:sldId id="256" r:id="rId2"/>
    <p:sldId id="305" r:id="rId3"/>
    <p:sldId id="306" r:id="rId4"/>
    <p:sldId id="296" r:id="rId5"/>
    <p:sldId id="297" r:id="rId6"/>
    <p:sldId id="298" r:id="rId7"/>
    <p:sldId id="292" r:id="rId8"/>
    <p:sldId id="300" r:id="rId9"/>
    <p:sldId id="303" r:id="rId10"/>
    <p:sldId id="301" r:id="rId11"/>
    <p:sldId id="274" r:id="rId12"/>
    <p:sldId id="293" r:id="rId13"/>
    <p:sldId id="277" r:id="rId14"/>
    <p:sldId id="278" r:id="rId15"/>
    <p:sldId id="279" r:id="rId16"/>
    <p:sldId id="280" r:id="rId17"/>
    <p:sldId id="281" r:id="rId18"/>
    <p:sldId id="282" r:id="rId19"/>
    <p:sldId id="295" r:id="rId20"/>
    <p:sldId id="311" r:id="rId21"/>
    <p:sldId id="283" r:id="rId22"/>
    <p:sldId id="284" r:id="rId23"/>
    <p:sldId id="285" r:id="rId24"/>
    <p:sldId id="286" r:id="rId25"/>
    <p:sldId id="287" r:id="rId26"/>
    <p:sldId id="288" r:id="rId27"/>
    <p:sldId id="310" r:id="rId28"/>
    <p:sldId id="309" r:id="rId29"/>
    <p:sldId id="304" r:id="rId30"/>
    <p:sldId id="29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5811" autoAdjust="0"/>
  </p:normalViewPr>
  <p:slideViewPr>
    <p:cSldViewPr snapToGrid="0">
      <p:cViewPr varScale="1">
        <p:scale>
          <a:sx n="61" d="100"/>
          <a:sy n="61" d="100"/>
        </p:scale>
        <p:origin x="247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0FCDDB-833D-4520-8231-491BF07F8BB2}" type="datetimeFigureOut">
              <a:rPr lang="en-MY" smtClean="0"/>
              <a:t>13/9/2025</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5AD3E0-4FB2-483D-BF1E-5DE8623D56A5}" type="slidenum">
              <a:rPr lang="en-MY" smtClean="0"/>
              <a:t>‹#›</a:t>
            </a:fld>
            <a:endParaRPr lang="en-MY"/>
          </a:p>
        </p:txBody>
      </p:sp>
    </p:spTree>
    <p:extLst>
      <p:ext uri="{BB962C8B-B14F-4D97-AF65-F5344CB8AC3E}">
        <p14:creationId xmlns:p14="http://schemas.microsoft.com/office/powerpoint/2010/main" val="440820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https://mydissertationeditor.com/dissertation-presentation/</a:t>
            </a:r>
          </a:p>
          <a:p>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1</a:t>
            </a:fld>
            <a:endParaRPr lang="en-MY"/>
          </a:p>
        </p:txBody>
      </p:sp>
    </p:spTree>
    <p:extLst>
      <p:ext uri="{BB962C8B-B14F-4D97-AF65-F5344CB8AC3E}">
        <p14:creationId xmlns:p14="http://schemas.microsoft.com/office/powerpoint/2010/main" val="35703640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D8D8B-E6EF-81C6-266D-9B6A63F27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BCB779-635E-71E5-8ABF-32E609BC65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61A60-21B6-3B8E-51C1-FB43A7E78223}"/>
              </a:ext>
            </a:extLst>
          </p:cNvPr>
          <p:cNvSpPr>
            <a:spLocks noGrp="1"/>
          </p:cNvSpPr>
          <p:nvPr>
            <p:ph type="body" idx="1"/>
          </p:nvPr>
        </p:nvSpPr>
        <p:spPr/>
        <p:txBody>
          <a:bodyPr/>
          <a:lstStyle/>
          <a:p>
            <a:endParaRPr lang="en-MY" dirty="0"/>
          </a:p>
        </p:txBody>
      </p:sp>
      <p:sp>
        <p:nvSpPr>
          <p:cNvPr id="4" name="Slide Number Placeholder 3">
            <a:extLst>
              <a:ext uri="{FF2B5EF4-FFF2-40B4-BE49-F238E27FC236}">
                <a16:creationId xmlns:a16="http://schemas.microsoft.com/office/drawing/2014/main" id="{25A895CE-B2D1-7CB9-E974-7A634750488A}"/>
              </a:ext>
            </a:extLst>
          </p:cNvPr>
          <p:cNvSpPr>
            <a:spLocks noGrp="1"/>
          </p:cNvSpPr>
          <p:nvPr>
            <p:ph type="sldNum" sz="quarter" idx="5"/>
          </p:nvPr>
        </p:nvSpPr>
        <p:spPr/>
        <p:txBody>
          <a:bodyPr/>
          <a:lstStyle/>
          <a:p>
            <a:fld id="{7B5AD3E0-4FB2-483D-BF1E-5DE8623D56A5}" type="slidenum">
              <a:rPr lang="en-MY" smtClean="0"/>
              <a:t>2</a:t>
            </a:fld>
            <a:endParaRPr lang="en-MY"/>
          </a:p>
        </p:txBody>
      </p:sp>
    </p:spTree>
    <p:extLst>
      <p:ext uri="{BB962C8B-B14F-4D97-AF65-F5344CB8AC3E}">
        <p14:creationId xmlns:p14="http://schemas.microsoft.com/office/powerpoint/2010/main" val="3652657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UV / Vis Spectroscopy</a:t>
            </a:r>
          </a:p>
          <a:p>
            <a:endParaRPr lang="en-MY" dirty="0"/>
          </a:p>
          <a:p>
            <a:pPr marL="0" marR="0" lvl="0" indent="0" algn="l" defTabSz="914400" rtl="0" eaLnBrk="1" fontAlgn="auto" latinLnBrk="0" hangingPunct="1">
              <a:lnSpc>
                <a:spcPct val="100000"/>
              </a:lnSpc>
              <a:spcBef>
                <a:spcPts val="0"/>
              </a:spcBef>
              <a:spcAft>
                <a:spcPts val="0"/>
              </a:spcAft>
              <a:buClrTx/>
              <a:buSzTx/>
              <a:buFontTx/>
              <a:buNone/>
              <a:tabLst/>
              <a:defRPr/>
            </a:pPr>
            <a:r>
              <a:rPr lang="en-MY" dirty="0"/>
              <a:t>Able to Simulate linear UV-vis absorption spectrum with a dense manifold of states.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MY" dirty="0"/>
          </a:p>
          <a:p>
            <a:r>
              <a:rPr lang="en-MY" dirty="0"/>
              <a:t>Entire  energy spectrum is obtained after Fourier transform of the dipole moment.</a:t>
            </a:r>
          </a:p>
          <a:p>
            <a:endParaRPr lang="en-MY"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much wider spectral range.  Using long simulation compared to linear response</a:t>
            </a:r>
            <a:endParaRPr lang="en-MY" dirty="0"/>
          </a:p>
          <a:p>
            <a:endParaRPr lang="en-MY" dirty="0"/>
          </a:p>
          <a:p>
            <a:endParaRPr lang="en-MY" dirty="0"/>
          </a:p>
          <a:p>
            <a:r>
              <a:rPr lang="en-MY" dirty="0"/>
              <a:t>We have to use </a:t>
            </a:r>
            <a:r>
              <a:rPr lang="en-MY" dirty="0" err="1"/>
              <a:t>relativistiv</a:t>
            </a:r>
            <a:r>
              <a:rPr lang="en-MY" dirty="0"/>
              <a:t> method because – near core, so we use RT- </a:t>
            </a:r>
          </a:p>
          <a:p>
            <a:endParaRPr lang="en-MY" dirty="0"/>
          </a:p>
          <a:p>
            <a:r>
              <a:rPr lang="en-MY" dirty="0"/>
              <a:t>X-ray Absorption Spectroscopy</a:t>
            </a:r>
          </a:p>
          <a:p>
            <a:pPr marL="0" marR="0" lvl="0" indent="0" algn="l" defTabSz="914400" rtl="0" eaLnBrk="1" fontAlgn="auto" latinLnBrk="0" hangingPunct="1">
              <a:lnSpc>
                <a:spcPct val="100000"/>
              </a:lnSpc>
              <a:spcBef>
                <a:spcPts val="0"/>
              </a:spcBef>
              <a:spcAft>
                <a:spcPts val="0"/>
              </a:spcAft>
              <a:buClrTx/>
              <a:buSzTx/>
              <a:buFontTx/>
              <a:buNone/>
              <a:tabLst/>
              <a:defRPr/>
            </a:pPr>
            <a:r>
              <a:rPr lang="en-MY" dirty="0"/>
              <a:t> Two-component relativistic RT-TDDFT modelled L</a:t>
            </a:r>
            <a:r>
              <a:rPr lang="en-MY" baseline="-25000" dirty="0"/>
              <a:t>2,3</a:t>
            </a:r>
            <a:r>
              <a:rPr lang="en-MY" dirty="0"/>
              <a:t> absorption edges for SiCl</a:t>
            </a:r>
            <a:r>
              <a:rPr lang="en-MY" baseline="-25000" dirty="0"/>
              <a:t>4</a:t>
            </a:r>
            <a:r>
              <a:rPr lang="en-MY" dirty="0"/>
              <a:t> Silicon tetrachloride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two absorption edges, L2 and L3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MY" dirty="0"/>
          </a:p>
          <a:p>
            <a:r>
              <a:rPr lang="en-US" dirty="0"/>
              <a:t>Two component - excellent balance between the computational cost and theoretical accuracy</a:t>
            </a:r>
            <a:endParaRPr lang="en-MY" dirty="0"/>
          </a:p>
          <a:p>
            <a:r>
              <a:rPr lang="en-MY" dirty="0"/>
              <a:t>Real time can obtain the entire spectrum in X-ray region at once. </a:t>
            </a:r>
          </a:p>
          <a:p>
            <a:endParaRPr lang="en-MY" dirty="0"/>
          </a:p>
          <a:p>
            <a:endParaRPr lang="en-US" dirty="0"/>
          </a:p>
          <a:p>
            <a:r>
              <a:rPr lang="en-MY" dirty="0"/>
              <a:t>Nonlinear properties</a:t>
            </a:r>
          </a:p>
          <a:p>
            <a:r>
              <a:rPr lang="en-MY" dirty="0"/>
              <a:t>We can also model non-linear response of system to EM.</a:t>
            </a:r>
          </a:p>
          <a:p>
            <a:r>
              <a:rPr lang="en-MY" dirty="0"/>
              <a:t>We can see the linear and non-linear properties of  Beryllium monohydride </a:t>
            </a:r>
          </a:p>
          <a:p>
            <a:r>
              <a:rPr lang="en-MY" dirty="0"/>
              <a:t>First and second order agree very well between real-time simulation and analytical expression</a:t>
            </a:r>
          </a:p>
          <a:p>
            <a:r>
              <a:rPr lang="en-MY" dirty="0"/>
              <a:t>Some deviation for third order in real-time simulations </a:t>
            </a:r>
          </a:p>
          <a:p>
            <a:endParaRPr lang="en-MY" dirty="0"/>
          </a:p>
          <a:p>
            <a:endParaRPr lang="en-MY" dirty="0"/>
          </a:p>
          <a:p>
            <a:r>
              <a:rPr lang="en-MY" dirty="0"/>
              <a:t>Current challenges</a:t>
            </a:r>
          </a:p>
          <a:p>
            <a:endParaRPr lang="en-MY" dirty="0"/>
          </a:p>
          <a:p>
            <a:r>
              <a:rPr lang="en-US" dirty="0"/>
              <a:t>The time propagation of the wave-function or the density matrix, is the main challenges</a:t>
            </a:r>
          </a:p>
          <a:p>
            <a:r>
              <a:rPr lang="en-US" dirty="0"/>
              <a:t>in real-time techniques. This is because the time scales of the propagation ranging</a:t>
            </a:r>
          </a:p>
          <a:p>
            <a:r>
              <a:rPr lang="en-US" dirty="0"/>
              <a:t>from </a:t>
            </a:r>
            <a:r>
              <a:rPr lang="en-US" dirty="0" err="1"/>
              <a:t>atto</a:t>
            </a:r>
            <a:r>
              <a:rPr lang="en-US" dirty="0"/>
              <a:t> to </a:t>
            </a:r>
            <a:r>
              <a:rPr lang="en-US" dirty="0" err="1"/>
              <a:t>femto</a:t>
            </a:r>
            <a:r>
              <a:rPr lang="en-US" dirty="0"/>
              <a:t>, to even picoseconds. This require large number of steps in the time</a:t>
            </a:r>
          </a:p>
          <a:p>
            <a:r>
              <a:rPr lang="en-US" dirty="0"/>
              <a:t>propagation</a:t>
            </a:r>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3</a:t>
            </a:fld>
            <a:endParaRPr lang="en-MY"/>
          </a:p>
        </p:txBody>
      </p:sp>
    </p:spTree>
    <p:extLst>
      <p:ext uri="{BB962C8B-B14F-4D97-AF65-F5344CB8AC3E}">
        <p14:creationId xmlns:p14="http://schemas.microsoft.com/office/powerpoint/2010/main" val="3703552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dirty="0"/>
              <a:t>Machine learning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MY" dirty="0"/>
              <a:t>is getting more popular in chemistry in recent years</a:t>
            </a:r>
          </a:p>
          <a:p>
            <a:endParaRPr lang="en-MY" dirty="0"/>
          </a:p>
          <a:p>
            <a:endParaRPr lang="en-MY" dirty="0"/>
          </a:p>
          <a:p>
            <a:endParaRPr lang="en-MY" dirty="0"/>
          </a:p>
          <a:p>
            <a:endParaRPr lang="en-MY" dirty="0"/>
          </a:p>
          <a:p>
            <a:r>
              <a:rPr lang="en-MY" dirty="0"/>
              <a:t>We have well-developed theories in real-time methods, and recent development of machine learning. </a:t>
            </a:r>
          </a:p>
          <a:p>
            <a:endParaRPr lang="en-MY" dirty="0"/>
          </a:p>
          <a:p>
            <a:r>
              <a:rPr lang="en-MY" dirty="0"/>
              <a:t>Therefore, it seems</a:t>
            </a:r>
          </a:p>
          <a:p>
            <a:r>
              <a:rPr lang="en-MY" dirty="0"/>
              <a:t>to be a time to investigate the possibility of merging the two branches of science in</a:t>
            </a:r>
          </a:p>
          <a:p>
            <a:r>
              <a:rPr lang="en-MY" dirty="0"/>
              <a:t>order to provide quantum chemists with new tools for research. </a:t>
            </a:r>
          </a:p>
          <a:p>
            <a:endParaRPr lang="en-MY" dirty="0"/>
          </a:p>
          <a:p>
            <a:endParaRPr lang="en-MY" dirty="0"/>
          </a:p>
          <a:p>
            <a:r>
              <a:rPr lang="en-MY" dirty="0"/>
              <a:t>computationally intensive explicit time propagation,</a:t>
            </a:r>
          </a:p>
          <a:p>
            <a:r>
              <a:rPr lang="en-MY" dirty="0"/>
              <a:t>has regained motivation in research in recent years due to advances in computing</a:t>
            </a:r>
          </a:p>
          <a:p>
            <a:r>
              <a:rPr lang="en-MY" dirty="0"/>
              <a:t>power and numerical algorithms. </a:t>
            </a:r>
          </a:p>
          <a:p>
            <a:endParaRPr lang="en-MY" dirty="0"/>
          </a:p>
          <a:p>
            <a:endParaRPr lang="en-MY" dirty="0"/>
          </a:p>
          <a:p>
            <a:r>
              <a:rPr lang="en-MY" dirty="0"/>
              <a:t>In this work we want to investigate how machine learning can be applied in molecular</a:t>
            </a:r>
          </a:p>
          <a:p>
            <a:r>
              <a:rPr lang="en-MY" dirty="0"/>
              <a:t>electrodynamic simulations.</a:t>
            </a:r>
          </a:p>
          <a:p>
            <a:endParaRPr lang="en-MY" dirty="0"/>
          </a:p>
          <a:p>
            <a:endParaRPr lang="en-MY" dirty="0"/>
          </a:p>
          <a:p>
            <a:r>
              <a:rPr lang="en-MY" dirty="0"/>
              <a:t>In particular, we will consider here the simplest ab-initio method for electronic</a:t>
            </a:r>
          </a:p>
          <a:p>
            <a:r>
              <a:rPr lang="en-MY" dirty="0"/>
              <a:t>structure theory based on the mean-field approximation, namely the real time </a:t>
            </a:r>
            <a:r>
              <a:rPr lang="en-MY" dirty="0" err="1"/>
              <a:t>time</a:t>
            </a:r>
            <a:r>
              <a:rPr lang="en-MY" dirty="0"/>
              <a:t>-</a:t>
            </a:r>
          </a:p>
          <a:p>
            <a:r>
              <a:rPr lang="en-MY" dirty="0"/>
              <a:t>dependent Hartree-Fock (RT-TDHF). </a:t>
            </a:r>
          </a:p>
          <a:p>
            <a:endParaRPr lang="en-MY" dirty="0"/>
          </a:p>
          <a:p>
            <a:endParaRPr lang="en-MY" dirty="0"/>
          </a:p>
          <a:p>
            <a:r>
              <a:rPr lang="en-MY" dirty="0"/>
              <a:t>Fock matrix must be iteratively analysed and manipulated, which is the most time-</a:t>
            </a:r>
          </a:p>
          <a:p>
            <a:r>
              <a:rPr lang="en-MY" dirty="0"/>
              <a:t>consuming step. – </a:t>
            </a:r>
          </a:p>
          <a:p>
            <a:endParaRPr lang="en-MY" dirty="0"/>
          </a:p>
          <a:p>
            <a:r>
              <a:rPr lang="en-MY" dirty="0"/>
              <a:t>we suggest that there</a:t>
            </a:r>
          </a:p>
          <a:p>
            <a:r>
              <a:rPr lang="en-MY" dirty="0"/>
              <a:t>exists a linear relationship between the Fock matrix and the density matrix</a:t>
            </a:r>
          </a:p>
          <a:p>
            <a:r>
              <a:rPr lang="en-MY" dirty="0"/>
              <a:t>Is it possible to we speed up real time</a:t>
            </a:r>
          </a:p>
          <a:p>
            <a:r>
              <a:rPr lang="en-MY" dirty="0"/>
              <a:t>Alternative method using machine learning</a:t>
            </a:r>
          </a:p>
          <a:p>
            <a:endParaRPr lang="en-MY" dirty="0"/>
          </a:p>
          <a:p>
            <a:endParaRPr lang="en-MY" dirty="0"/>
          </a:p>
          <a:p>
            <a:r>
              <a:rPr lang="en-MY" dirty="0"/>
              <a:t>In particular we will use supervised learning technique, which use labelled data for prediction</a:t>
            </a:r>
          </a:p>
          <a:p>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4</a:t>
            </a:fld>
            <a:endParaRPr lang="en-MY"/>
          </a:p>
        </p:txBody>
      </p:sp>
    </p:spTree>
    <p:extLst>
      <p:ext uri="{BB962C8B-B14F-4D97-AF65-F5344CB8AC3E}">
        <p14:creationId xmlns:p14="http://schemas.microsoft.com/office/powerpoint/2010/main" val="1299788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Theory – real –time method</a:t>
            </a:r>
          </a:p>
          <a:p>
            <a:endParaRPr lang="en-MY" dirty="0"/>
          </a:p>
          <a:p>
            <a:r>
              <a:rPr lang="en-MY" dirty="0"/>
              <a:t>+ a bit machine learning in propagation</a:t>
            </a:r>
          </a:p>
          <a:p>
            <a:endParaRPr lang="en-MY" dirty="0"/>
          </a:p>
          <a:p>
            <a:r>
              <a:rPr lang="en-MY" dirty="0"/>
              <a:t>Currently – few papers</a:t>
            </a:r>
          </a:p>
          <a:p>
            <a:endParaRPr lang="en-MY" dirty="0"/>
          </a:p>
          <a:p>
            <a:r>
              <a:rPr lang="en-MY" dirty="0"/>
              <a:t>The only existing papers dealing with machine-learned propagation of the Hartree-Fock Hamiltonian are by Bhat and</a:t>
            </a:r>
          </a:p>
          <a:p>
            <a:r>
              <a:rPr lang="en-MY" dirty="0"/>
              <a:t>his co-workers. </a:t>
            </a:r>
          </a:p>
          <a:p>
            <a:endParaRPr lang="en-MY" dirty="0"/>
          </a:p>
          <a:p>
            <a:r>
              <a:rPr lang="en-MY" dirty="0"/>
              <a:t>They have used time-dependent density matrices to learn the Hamiltonian, and use learn Hamiltonian for propagation. They have used linear machine learning model.</a:t>
            </a:r>
          </a:p>
          <a:p>
            <a:endParaRPr lang="en-MY" dirty="0"/>
          </a:p>
          <a:p>
            <a:endParaRPr lang="en-MY" dirty="0"/>
          </a:p>
          <a:p>
            <a:r>
              <a:rPr lang="en-MY" dirty="0"/>
              <a:t>However, in these papers, they did not</a:t>
            </a:r>
          </a:p>
          <a:p>
            <a:r>
              <a:rPr lang="en-MY" dirty="0"/>
              <a:t>address the quality of the predicted Fock matrix and how accurately it can be compared</a:t>
            </a:r>
          </a:p>
          <a:p>
            <a:r>
              <a:rPr lang="en-MY" dirty="0"/>
              <a:t>to the true matrix. </a:t>
            </a:r>
          </a:p>
          <a:p>
            <a:endParaRPr lang="en-MY" dirty="0"/>
          </a:p>
          <a:p>
            <a:r>
              <a:rPr lang="en-US" dirty="0"/>
              <a:t>Furthermore, they did not compare their method with different</a:t>
            </a:r>
          </a:p>
          <a:p>
            <a:r>
              <a:rPr lang="en-US" dirty="0"/>
              <a:t>machine learning methods. </a:t>
            </a:r>
          </a:p>
          <a:p>
            <a:endParaRPr lang="en-US" dirty="0"/>
          </a:p>
          <a:p>
            <a:r>
              <a:rPr lang="en-US" dirty="0"/>
              <a:t>Drawback:</a:t>
            </a:r>
          </a:p>
          <a:p>
            <a:pPr marL="285750" indent="-285750">
              <a:lnSpc>
                <a:spcPct val="115000"/>
              </a:lnSpc>
              <a:spcAft>
                <a:spcPts val="800"/>
              </a:spcAft>
              <a:buFont typeface="Arial" panose="020B0604020202020204" pitchFamily="34" charset="0"/>
              <a:buChar char="•"/>
            </a:pPr>
            <a:r>
              <a:rPr lang="en-US" dirty="0"/>
              <a:t>Parameter    scaling as basis size </a:t>
            </a:r>
            <a:r>
              <a:rPr lang="en-MY" sz="1200" kern="100" dirty="0">
                <a:effectLst/>
                <a:latin typeface="Times New Roman" panose="02020603050405020304" pitchFamily="18" charset="0"/>
                <a:ea typeface="DengXian" panose="02010600030101010101" pitchFamily="2" charset="-122"/>
              </a:rPr>
              <a:t>K</a:t>
            </a:r>
            <a:r>
              <a:rPr lang="en-MY" sz="1200" kern="100" baseline="30000" dirty="0">
                <a:effectLst/>
                <a:latin typeface="Times New Roman" panose="02020603050405020304" pitchFamily="18" charset="0"/>
                <a:ea typeface="DengXian" panose="02010600030101010101" pitchFamily="2" charset="-122"/>
              </a:rPr>
              <a:t>4</a:t>
            </a:r>
            <a:endParaRPr lang="en-MY" sz="1200" kern="100" dirty="0">
              <a:effectLst/>
              <a:latin typeface="Times New Roman" panose="02020603050405020304" pitchFamily="18" charset="0"/>
              <a:ea typeface="DengXian" panose="02010600030101010101" pitchFamily="2" charset="-122"/>
            </a:endParaRPr>
          </a:p>
          <a:p>
            <a:pPr marL="285750" indent="-285750">
              <a:buFont typeface="Arial" panose="020B0604020202020204" pitchFamily="34" charset="0"/>
              <a:buChar char="•"/>
            </a:pPr>
            <a:r>
              <a:rPr lang="en-US" dirty="0"/>
              <a:t>Storing 2 electron integrals</a:t>
            </a:r>
          </a:p>
          <a:p>
            <a:endParaRPr lang="en-US" dirty="0"/>
          </a:p>
          <a:p>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5</a:t>
            </a:fld>
            <a:endParaRPr lang="en-MY"/>
          </a:p>
        </p:txBody>
      </p:sp>
    </p:spTree>
    <p:extLst>
      <p:ext uri="{BB962C8B-B14F-4D97-AF65-F5344CB8AC3E}">
        <p14:creationId xmlns:p14="http://schemas.microsoft.com/office/powerpoint/2010/main" val="3254251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Reproduce the work of Bhat</a:t>
            </a:r>
          </a:p>
          <a:p>
            <a:r>
              <a:rPr lang="en-MY" dirty="0"/>
              <a:t>Possible using linear regression, deep learning</a:t>
            </a:r>
          </a:p>
          <a:p>
            <a:endParaRPr lang="en-MY" dirty="0"/>
          </a:p>
          <a:p>
            <a:r>
              <a:rPr lang="en-MY" dirty="0"/>
              <a:t>Hopefully reduce the time for calculation (but fail) </a:t>
            </a:r>
            <a:r>
              <a:rPr lang="en-US" dirty="0"/>
              <a:t>We expect that this study will successfully provide us with new</a:t>
            </a:r>
          </a:p>
          <a:p>
            <a:r>
              <a:rPr lang="en-US" dirty="0"/>
              <a:t>insights for effective electrodynamic simulation using a machine-learned Fock matrix,</a:t>
            </a:r>
          </a:p>
          <a:p>
            <a:r>
              <a:rPr lang="en-US" dirty="0"/>
              <a:t>and hopefully to reduce computation time allowing for longer propagations, which are</a:t>
            </a:r>
          </a:p>
          <a:p>
            <a:r>
              <a:rPr lang="en-US" dirty="0"/>
              <a:t>crucial for increasing the accuracy of the derived observables. </a:t>
            </a:r>
            <a:endParaRPr lang="en-MY" dirty="0"/>
          </a:p>
          <a:p>
            <a:endParaRPr lang="en-MY" dirty="0"/>
          </a:p>
          <a:p>
            <a:r>
              <a:rPr lang="en-US" dirty="0"/>
              <a:t>n this work, we will investigate the prediction of Fock</a:t>
            </a:r>
          </a:p>
          <a:p>
            <a:r>
              <a:rPr lang="en-US" dirty="0"/>
              <a:t>matrix using density matrices obtained along the real-time simulation and compare</a:t>
            </a:r>
          </a:p>
          <a:p>
            <a:r>
              <a:rPr lang="en-US" dirty="0"/>
              <a:t>the performance of different machine learning algorithms.</a:t>
            </a:r>
          </a:p>
          <a:p>
            <a:endParaRPr lang="en-US" dirty="0"/>
          </a:p>
          <a:p>
            <a:r>
              <a:rPr lang="en-US" dirty="0"/>
              <a:t> Due to the limitation of</a:t>
            </a:r>
          </a:p>
          <a:p>
            <a:r>
              <a:rPr lang="en-US" dirty="0"/>
              <a:t>the existing literature and research approach, this thesis will focus exclusively on the</a:t>
            </a:r>
          </a:p>
          <a:p>
            <a:r>
              <a:rPr lang="en-US" dirty="0"/>
              <a:t>RT-TDHF scheme since it is the simplest approximation method and we can apply the</a:t>
            </a:r>
          </a:p>
          <a:p>
            <a:r>
              <a:rPr lang="en-US" dirty="0"/>
              <a:t>findings to other methods, including density functional theory. </a:t>
            </a:r>
          </a:p>
          <a:p>
            <a:endParaRPr lang="en-US" dirty="0"/>
          </a:p>
          <a:p>
            <a:r>
              <a:rPr lang="en-US" dirty="0"/>
              <a:t>We use this</a:t>
            </a:r>
          </a:p>
          <a:p>
            <a:r>
              <a:rPr lang="en-US" dirty="0"/>
              <a:t>problem as a testbed to develop strategies that can be </a:t>
            </a:r>
            <a:r>
              <a:rPr lang="en-US" dirty="0" err="1"/>
              <a:t>generalised</a:t>
            </a:r>
            <a:r>
              <a:rPr lang="en-US" dirty="0"/>
              <a:t> to other methods in</a:t>
            </a:r>
          </a:p>
          <a:p>
            <a:r>
              <a:rPr lang="en-US" dirty="0"/>
              <a:t>quantum dynamics, such as the post-Hartree-Fock method and time-dependent density</a:t>
            </a:r>
          </a:p>
          <a:p>
            <a:r>
              <a:rPr lang="en-US" dirty="0"/>
              <a:t>functional theory. </a:t>
            </a:r>
          </a:p>
          <a:p>
            <a:endParaRPr lang="en-US" dirty="0"/>
          </a:p>
          <a:p>
            <a:r>
              <a:rPr lang="en-US" dirty="0"/>
              <a:t> investigate simple molecular systems with relatively small basis sets since</a:t>
            </a:r>
          </a:p>
          <a:p>
            <a:r>
              <a:rPr lang="en-US" dirty="0"/>
              <a:t>increasing the hierarchy of basis sets increases the computational resource requirements</a:t>
            </a:r>
          </a:p>
          <a:p>
            <a:endParaRPr lang="en-US" dirty="0"/>
          </a:p>
          <a:p>
            <a:endParaRPr lang="en-US" dirty="0"/>
          </a:p>
          <a:p>
            <a:r>
              <a:rPr lang="en-US" dirty="0"/>
              <a:t>This study aims to complement the usual electrodynamic simulation, i.e. to find out</a:t>
            </a:r>
          </a:p>
          <a:p>
            <a:r>
              <a:rPr lang="en-US" dirty="0"/>
              <a:t>whether it is possible to mix the current method with machine learning analysis instead</a:t>
            </a:r>
          </a:p>
          <a:p>
            <a:r>
              <a:rPr lang="en-US" dirty="0"/>
              <a:t>of using machine learning as a substitute for the current method. Therefore, we will</a:t>
            </a:r>
          </a:p>
          <a:p>
            <a:r>
              <a:rPr lang="en-US" dirty="0"/>
              <a:t>use the data generated during time propagation, which are the Fock matrices and the</a:t>
            </a:r>
          </a:p>
          <a:p>
            <a:r>
              <a:rPr lang="en-US" dirty="0"/>
              <a:t>density matrices generated during propagation, as a complete dataset.</a:t>
            </a:r>
          </a:p>
          <a:p>
            <a:endParaRPr lang="en-US" dirty="0"/>
          </a:p>
          <a:p>
            <a:endParaRPr lang="en-US" dirty="0"/>
          </a:p>
          <a:p>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6</a:t>
            </a:fld>
            <a:endParaRPr lang="en-MY"/>
          </a:p>
        </p:txBody>
      </p:sp>
    </p:spTree>
    <p:extLst>
      <p:ext uri="{BB962C8B-B14F-4D97-AF65-F5344CB8AC3E}">
        <p14:creationId xmlns:p14="http://schemas.microsoft.com/office/powerpoint/2010/main" val="4274280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Formula </a:t>
            </a:r>
          </a:p>
          <a:p>
            <a:endParaRPr lang="en-MY" dirty="0"/>
          </a:p>
          <a:p>
            <a:r>
              <a:rPr lang="en-MY" dirty="0"/>
              <a:t>Because we are using a supervised ML technique, need to obtain data.</a:t>
            </a:r>
          </a:p>
          <a:p>
            <a:endParaRPr lang="en-MY" dirty="0"/>
          </a:p>
          <a:p>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7</a:t>
            </a:fld>
            <a:endParaRPr lang="en-MY"/>
          </a:p>
        </p:txBody>
      </p:sp>
    </p:spTree>
    <p:extLst>
      <p:ext uri="{BB962C8B-B14F-4D97-AF65-F5344CB8AC3E}">
        <p14:creationId xmlns:p14="http://schemas.microsoft.com/office/powerpoint/2010/main" val="4222856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Use supervised method machine learning</a:t>
            </a:r>
          </a:p>
          <a:p>
            <a:r>
              <a:rPr lang="en-MY" dirty="0"/>
              <a:t>Particularly LR, NN</a:t>
            </a:r>
          </a:p>
          <a:p>
            <a:endParaRPr lang="en-MY" dirty="0"/>
          </a:p>
          <a:p>
            <a:r>
              <a:rPr lang="en-MY" dirty="0"/>
              <a:t>Performance metrics</a:t>
            </a:r>
          </a:p>
          <a:p>
            <a:endParaRPr lang="en-MY" dirty="0"/>
          </a:p>
          <a:p>
            <a:endParaRPr lang="en-MY" dirty="0"/>
          </a:p>
          <a:p>
            <a:r>
              <a:rPr lang="en-US" dirty="0"/>
              <a:t>There are many types of machine learning methods. We will use supervised ma-</a:t>
            </a:r>
          </a:p>
          <a:p>
            <a:r>
              <a:rPr lang="en-US" dirty="0"/>
              <a:t>chine learning methods because we can obtain the data (Fock and density matrices)</a:t>
            </a:r>
          </a:p>
          <a:p>
            <a:r>
              <a:rPr lang="en-US" dirty="0"/>
              <a:t>during time propagation at each time step.</a:t>
            </a:r>
          </a:p>
          <a:p>
            <a:endParaRPr lang="en-US" dirty="0"/>
          </a:p>
          <a:p>
            <a:endParaRPr lang="en-US" dirty="0"/>
          </a:p>
          <a:p>
            <a:r>
              <a:rPr lang="en-MY" dirty="0"/>
              <a:t>simple</a:t>
            </a:r>
          </a:p>
          <a:p>
            <a:r>
              <a:rPr lang="en-MY" dirty="0"/>
              <a:t>linear regression method.</a:t>
            </a:r>
          </a:p>
          <a:p>
            <a:endParaRPr lang="en-MY" dirty="0"/>
          </a:p>
          <a:p>
            <a:endParaRPr lang="en-MY" dirty="0"/>
          </a:p>
          <a:p>
            <a:r>
              <a:rPr lang="en-US" dirty="0"/>
              <a:t>which focuses on investigating</a:t>
            </a:r>
          </a:p>
          <a:p>
            <a:r>
              <a:rPr lang="en-US" dirty="0"/>
              <a:t>the effectiveness of a simple regression model in this framework. </a:t>
            </a:r>
          </a:p>
          <a:p>
            <a:endParaRPr lang="en-US" dirty="0"/>
          </a:p>
          <a:p>
            <a:r>
              <a:rPr lang="en-US" dirty="0"/>
              <a:t>We will also apply</a:t>
            </a:r>
          </a:p>
          <a:p>
            <a:r>
              <a:rPr lang="en-US" dirty="0"/>
              <a:t>the simple neural network method to investigate whether it is an effective method for</a:t>
            </a:r>
          </a:p>
          <a:p>
            <a:r>
              <a:rPr lang="en-US" dirty="0"/>
              <a:t>solving our problem. </a:t>
            </a:r>
          </a:p>
          <a:p>
            <a:endParaRPr lang="en-US" dirty="0"/>
          </a:p>
          <a:p>
            <a:endParaRPr lang="en-US" dirty="0"/>
          </a:p>
          <a:p>
            <a:r>
              <a:rPr lang="en-US" dirty="0"/>
              <a:t>To check how effective the machine-learned Fock matrix is compared to the</a:t>
            </a:r>
          </a:p>
          <a:p>
            <a:r>
              <a:rPr lang="en-US" dirty="0"/>
              <a:t>actual value, we introduce different performance metric measurement tools commonly</a:t>
            </a:r>
          </a:p>
          <a:p>
            <a:r>
              <a:rPr lang="en-US" dirty="0"/>
              <a:t>used in machine learning studies.</a:t>
            </a:r>
          </a:p>
          <a:p>
            <a:endParaRPr lang="en-US" dirty="0"/>
          </a:p>
          <a:p>
            <a:endParaRPr lang="en-MY" dirty="0"/>
          </a:p>
          <a:p>
            <a:pPr marL="0" marR="0" lvl="0" indent="0" algn="l" defTabSz="914400" rtl="0" eaLnBrk="1" fontAlgn="auto" latinLnBrk="0" hangingPunct="1">
              <a:lnSpc>
                <a:spcPct val="100000"/>
              </a:lnSpc>
              <a:spcBef>
                <a:spcPts val="0"/>
              </a:spcBef>
              <a:spcAft>
                <a:spcPts val="0"/>
              </a:spcAft>
              <a:buClrTx/>
              <a:buSzTx/>
              <a:buFontTx/>
              <a:buNone/>
              <a:tabLst/>
              <a:defRPr/>
            </a:pPr>
            <a:r>
              <a:rPr lang="en-MY" dirty="0"/>
              <a:t>Performance metrics (r2, </a:t>
            </a:r>
            <a:r>
              <a:rPr lang="en-MY" dirty="0" err="1"/>
              <a:t>rmse</a:t>
            </a:r>
            <a:r>
              <a:rPr lang="en-MY" dirty="0"/>
              <a:t>, </a:t>
            </a:r>
            <a:r>
              <a:rPr lang="en-MY" dirty="0" err="1"/>
              <a:t>mape</a:t>
            </a:r>
            <a:r>
              <a:rPr lang="en-MY" dirty="0"/>
              <a:t>)</a:t>
            </a:r>
          </a:p>
          <a:p>
            <a:endParaRPr lang="en-MY" dirty="0"/>
          </a:p>
          <a:p>
            <a:endParaRPr lang="en-MY" dirty="0"/>
          </a:p>
          <a:p>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8</a:t>
            </a:fld>
            <a:endParaRPr lang="en-MY"/>
          </a:p>
        </p:txBody>
      </p:sp>
    </p:spTree>
    <p:extLst>
      <p:ext uri="{BB962C8B-B14F-4D97-AF65-F5344CB8AC3E}">
        <p14:creationId xmlns:p14="http://schemas.microsoft.com/office/powerpoint/2010/main" val="2734558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Flow chart – show complexity</a:t>
            </a:r>
          </a:p>
          <a:p>
            <a:endParaRPr lang="en-MY" dirty="0"/>
          </a:p>
          <a:p>
            <a:r>
              <a:rPr lang="en-MY" dirty="0"/>
              <a:t>Libraries</a:t>
            </a:r>
          </a:p>
          <a:p>
            <a:endParaRPr lang="en-MY" dirty="0"/>
          </a:p>
          <a:p>
            <a:r>
              <a:rPr lang="en-US" dirty="0"/>
              <a:t>he implementation of</a:t>
            </a:r>
          </a:p>
          <a:p>
            <a:r>
              <a:rPr lang="en-US" dirty="0"/>
              <a:t>machine learning is done in Python programming language. We used several popular</a:t>
            </a:r>
          </a:p>
          <a:p>
            <a:r>
              <a:rPr lang="en-US" dirty="0"/>
              <a:t>Python machine learning modules such as scikit-learn, TensorFlow which are available</a:t>
            </a:r>
          </a:p>
          <a:p>
            <a:r>
              <a:rPr lang="en-US" dirty="0"/>
              <a:t>freely online. Those machine learning modules are easy to use, regularly maintained</a:t>
            </a:r>
          </a:p>
          <a:p>
            <a:r>
              <a:rPr lang="en-US" dirty="0"/>
              <a:t>by developers, and come with detailed documentation and tutorials.</a:t>
            </a:r>
            <a:endParaRPr lang="en-MY" dirty="0"/>
          </a:p>
          <a:p>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9</a:t>
            </a:fld>
            <a:endParaRPr lang="en-MY"/>
          </a:p>
        </p:txBody>
      </p:sp>
    </p:spTree>
    <p:extLst>
      <p:ext uri="{BB962C8B-B14F-4D97-AF65-F5344CB8AC3E}">
        <p14:creationId xmlns:p14="http://schemas.microsoft.com/office/powerpoint/2010/main" val="3768101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Outline</a:t>
            </a:r>
          </a:p>
          <a:p>
            <a:endParaRPr lang="en-MY" dirty="0"/>
          </a:p>
          <a:p>
            <a:r>
              <a:rPr lang="en-MY" dirty="0"/>
              <a:t>First graph, then we will see what factors that affected it</a:t>
            </a:r>
          </a:p>
          <a:p>
            <a:endParaRPr lang="en-MY" dirty="0"/>
          </a:p>
          <a:p>
            <a:r>
              <a:rPr lang="en-MY" dirty="0"/>
              <a:t>And we see why the </a:t>
            </a:r>
            <a:r>
              <a:rPr lang="en-MY" dirty="0" err="1"/>
              <a:t>fttting</a:t>
            </a:r>
            <a:r>
              <a:rPr lang="en-MY" dirty="0"/>
              <a:t> is not perfect</a:t>
            </a:r>
          </a:p>
        </p:txBody>
      </p:sp>
      <p:sp>
        <p:nvSpPr>
          <p:cNvPr id="4" name="Slide Number Placeholder 3"/>
          <p:cNvSpPr>
            <a:spLocks noGrp="1"/>
          </p:cNvSpPr>
          <p:nvPr>
            <p:ph type="sldNum" sz="quarter" idx="5"/>
          </p:nvPr>
        </p:nvSpPr>
        <p:spPr/>
        <p:txBody>
          <a:bodyPr/>
          <a:lstStyle/>
          <a:p>
            <a:fld id="{7B5AD3E0-4FB2-483D-BF1E-5DE8623D56A5}" type="slidenum">
              <a:rPr lang="en-MY" smtClean="0"/>
              <a:t>10</a:t>
            </a:fld>
            <a:endParaRPr lang="en-MY"/>
          </a:p>
        </p:txBody>
      </p:sp>
    </p:spTree>
    <p:extLst>
      <p:ext uri="{BB962C8B-B14F-4D97-AF65-F5344CB8AC3E}">
        <p14:creationId xmlns:p14="http://schemas.microsoft.com/office/powerpoint/2010/main" val="64902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Molecules used are</a:t>
            </a:r>
          </a:p>
          <a:p>
            <a:endParaRPr lang="en-MY" dirty="0"/>
          </a:p>
          <a:p>
            <a:r>
              <a:rPr lang="en-MY" dirty="0"/>
              <a:t>Data obtained from Propagation using </a:t>
            </a:r>
            <a:r>
              <a:rPr lang="en-MY" dirty="0" err="1"/>
              <a:t>PySCF</a:t>
            </a:r>
            <a:endParaRPr lang="en-MY" dirty="0"/>
          </a:p>
          <a:p>
            <a:endParaRPr lang="en-MY" dirty="0"/>
          </a:p>
          <a:p>
            <a:endParaRPr lang="en-MY" dirty="0"/>
          </a:p>
          <a:p>
            <a:r>
              <a:rPr lang="en-MY" dirty="0"/>
              <a:t>Linear regression formula</a:t>
            </a:r>
          </a:p>
          <a:p>
            <a:endParaRPr lang="en-MY" dirty="0"/>
          </a:p>
          <a:p>
            <a:r>
              <a:rPr lang="en-MY" dirty="0"/>
              <a:t>OLS</a:t>
            </a:r>
          </a:p>
          <a:p>
            <a:endParaRPr lang="en-MY" dirty="0"/>
          </a:p>
          <a:p>
            <a:r>
              <a:rPr lang="en-MY" dirty="0"/>
              <a:t>This part we will use scikit learn linear regression</a:t>
            </a:r>
          </a:p>
          <a:p>
            <a:endParaRPr lang="en-MY" dirty="0"/>
          </a:p>
          <a:p>
            <a:r>
              <a:rPr lang="en-MY" dirty="0"/>
              <a:t>Instead of two e </a:t>
            </a:r>
            <a:r>
              <a:rPr lang="en-MY" dirty="0" err="1"/>
              <a:t>ontegral</a:t>
            </a:r>
            <a:r>
              <a:rPr lang="en-MY" dirty="0"/>
              <a:t>, use parameter</a:t>
            </a:r>
          </a:p>
        </p:txBody>
      </p:sp>
      <p:sp>
        <p:nvSpPr>
          <p:cNvPr id="4" name="Slide Number Placeholder 3"/>
          <p:cNvSpPr>
            <a:spLocks noGrp="1"/>
          </p:cNvSpPr>
          <p:nvPr>
            <p:ph type="sldNum" sz="quarter" idx="5"/>
          </p:nvPr>
        </p:nvSpPr>
        <p:spPr/>
        <p:txBody>
          <a:bodyPr/>
          <a:lstStyle/>
          <a:p>
            <a:fld id="{7B5AD3E0-4FB2-483D-BF1E-5DE8623D56A5}" type="slidenum">
              <a:rPr lang="en-MY" smtClean="0"/>
              <a:t>11</a:t>
            </a:fld>
            <a:endParaRPr lang="en-MY"/>
          </a:p>
        </p:txBody>
      </p:sp>
    </p:spTree>
    <p:extLst>
      <p:ext uri="{BB962C8B-B14F-4D97-AF65-F5344CB8AC3E}">
        <p14:creationId xmlns:p14="http://schemas.microsoft.com/office/powerpoint/2010/main" val="27402502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our data have different range of values, (negative/positive, decimal values) and we know that in machine learning, scaling data is important. (why?)</a:t>
            </a:r>
          </a:p>
          <a:p>
            <a:endParaRPr lang="en-US" dirty="0"/>
          </a:p>
          <a:p>
            <a:r>
              <a:rPr lang="en-US" dirty="0"/>
              <a:t>Effect not scaling?</a:t>
            </a:r>
          </a:p>
          <a:p>
            <a:endParaRPr lang="en-US" dirty="0"/>
          </a:p>
          <a:p>
            <a:r>
              <a:rPr lang="en-US" dirty="0"/>
              <a:t>Here we will use different data scaling method, which are </a:t>
            </a:r>
            <a:r>
              <a:rPr lang="en-US" dirty="0" err="1"/>
              <a:t>MinMax</a:t>
            </a:r>
            <a:r>
              <a:rPr lang="en-US" dirty="0"/>
              <a:t> scaling, Standard scaling and without scaling.</a:t>
            </a:r>
          </a:p>
          <a:p>
            <a:endParaRPr lang="en-MY" dirty="0"/>
          </a:p>
          <a:p>
            <a:r>
              <a:rPr lang="en-MY" dirty="0"/>
              <a:t>The results are quite similar in our data sets, </a:t>
            </a:r>
          </a:p>
          <a:p>
            <a:endParaRPr lang="en-MY" dirty="0"/>
          </a:p>
          <a:p>
            <a:r>
              <a:rPr lang="en-US" dirty="0"/>
              <a:t>Standard scaler leads to slightly better results, which is better R2 value </a:t>
            </a:r>
            <a:r>
              <a:rPr lang="en-US" dirty="0" err="1"/>
              <a:t>LiH</a:t>
            </a:r>
            <a:r>
              <a:rPr lang="en-US" dirty="0"/>
              <a:t>, because we wants to have values closer to 1, and we have number of R2, which is each features or each density matrix element, there are 36  Fock matrix elements  in this case. </a:t>
            </a:r>
          </a:p>
          <a:p>
            <a:endParaRPr lang="en-US" dirty="0"/>
          </a:p>
          <a:p>
            <a:r>
              <a:rPr lang="en-US" dirty="0"/>
              <a:t>Most of 0.99, which is good fit, </a:t>
            </a:r>
          </a:p>
          <a:p>
            <a:endParaRPr lang="en-US" dirty="0"/>
          </a:p>
          <a:p>
            <a:endParaRPr lang="en-US" dirty="0"/>
          </a:p>
          <a:p>
            <a:r>
              <a:rPr lang="en-US" dirty="0"/>
              <a:t>But when the data becomes even further larger than H2O, then the scaling effect might be more prominent, because we have more ranges of data. </a:t>
            </a:r>
          </a:p>
          <a:p>
            <a:endParaRPr lang="en-US" dirty="0"/>
          </a:p>
          <a:p>
            <a:endParaRPr lang="en-US" dirty="0"/>
          </a:p>
          <a:p>
            <a:r>
              <a:rPr lang="en-US" dirty="0"/>
              <a:t>It is known that many machine algorithms perform better when scaled to</a:t>
            </a:r>
          </a:p>
          <a:p>
            <a:r>
              <a:rPr lang="en-US" dirty="0"/>
              <a:t>standard range, since many deep algorithms assume normality with a mean of</a:t>
            </a:r>
          </a:p>
          <a:p>
            <a:r>
              <a:rPr lang="en-US" dirty="0"/>
              <a:t>0 and standard deviation of 1.</a:t>
            </a:r>
          </a:p>
          <a:p>
            <a:endParaRPr lang="en-US" dirty="0"/>
          </a:p>
          <a:p>
            <a:r>
              <a:rPr lang="en-US" dirty="0"/>
              <a:t>Therefore, in the results that come after this, we will the use the standard scaler for machine learning.</a:t>
            </a:r>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12</a:t>
            </a:fld>
            <a:endParaRPr lang="en-MY"/>
          </a:p>
        </p:txBody>
      </p:sp>
    </p:spTree>
    <p:extLst>
      <p:ext uri="{BB962C8B-B14F-4D97-AF65-F5344CB8AC3E}">
        <p14:creationId xmlns:p14="http://schemas.microsoft.com/office/powerpoint/2010/main" val="2626139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(interpretation explain of graphs)</a:t>
            </a:r>
          </a:p>
          <a:p>
            <a:endParaRPr lang="en-MY" dirty="0"/>
          </a:p>
          <a:p>
            <a:r>
              <a:rPr lang="en-MY" dirty="0"/>
              <a:t>(for H2 and </a:t>
            </a:r>
            <a:r>
              <a:rPr lang="en-MY" dirty="0" err="1"/>
              <a:t>LiH</a:t>
            </a:r>
            <a:r>
              <a:rPr lang="en-MY" dirty="0"/>
              <a:t>, the trend remains the same across different train-test ratio, which is accurate such that R2=1, very low MAPE and RMSE)</a:t>
            </a:r>
          </a:p>
          <a:p>
            <a:endParaRPr lang="en-MY" dirty="0"/>
          </a:p>
          <a:p>
            <a:r>
              <a:rPr lang="en-MY" dirty="0"/>
              <a:t>We have also tested for Hydrogen and </a:t>
            </a:r>
            <a:r>
              <a:rPr lang="en-MY" dirty="0" err="1"/>
              <a:t>LiH</a:t>
            </a:r>
            <a:r>
              <a:rPr lang="en-MY" dirty="0"/>
              <a:t> , but the data on water molecule is more significant</a:t>
            </a:r>
          </a:p>
          <a:p>
            <a:endParaRPr lang="en-MY" dirty="0"/>
          </a:p>
          <a:p>
            <a:r>
              <a:rPr lang="en-US" dirty="0"/>
              <a:t> prediction accuracy increases when the ratio of training set increases</a:t>
            </a:r>
          </a:p>
          <a:p>
            <a:endParaRPr lang="en-US" dirty="0"/>
          </a:p>
          <a:p>
            <a:r>
              <a:rPr lang="en-US" dirty="0"/>
              <a:t> because algorithm has more data to learn, it performs better on the prediction</a:t>
            </a:r>
          </a:p>
          <a:p>
            <a:endParaRPr lang="en-US" dirty="0"/>
          </a:p>
          <a:p>
            <a:r>
              <a:rPr lang="en-US" dirty="0"/>
              <a:t>we should use at least 50% of training data for prediction, prediction converge to stable value</a:t>
            </a:r>
          </a:p>
          <a:p>
            <a:endParaRPr lang="en-US" dirty="0"/>
          </a:p>
          <a:p>
            <a:endParaRPr lang="en-US" dirty="0"/>
          </a:p>
          <a:p>
            <a:endParaRPr lang="en-US" dirty="0"/>
          </a:p>
          <a:p>
            <a:r>
              <a:rPr lang="en-US" dirty="0"/>
              <a:t>on test set</a:t>
            </a:r>
          </a:p>
          <a:p>
            <a:endParaRPr lang="en-US" dirty="0"/>
          </a:p>
          <a:p>
            <a:pPr marL="285750" indent="-285750">
              <a:buFont typeface="Arial" panose="020B0604020202020204" pitchFamily="34" charset="0"/>
              <a:buChar char="•"/>
            </a:pPr>
            <a:r>
              <a:rPr lang="en-MY" dirty="0"/>
              <a:t>Table</a:t>
            </a:r>
          </a:p>
          <a:p>
            <a:pPr marL="285750" indent="-285750">
              <a:buFont typeface="Arial" panose="020B0604020202020204" pitchFamily="34" charset="0"/>
              <a:buChar char="•"/>
            </a:pPr>
            <a:r>
              <a:rPr lang="en-MY" kern="100" dirty="0">
                <a:ea typeface="DengXian" panose="02010600030101010101" pitchFamily="2" charset="-122"/>
              </a:rPr>
              <a:t>H</a:t>
            </a:r>
            <a:r>
              <a:rPr lang="en-MY" kern="100" baseline="-25000" dirty="0">
                <a:ea typeface="DengXian" panose="02010600030101010101" pitchFamily="2" charset="-122"/>
              </a:rPr>
              <a:t>2 </a:t>
            </a:r>
            <a:r>
              <a:rPr lang="en-MY" dirty="0"/>
              <a:t>and </a:t>
            </a:r>
            <a:r>
              <a:rPr lang="en-MY" dirty="0" err="1"/>
              <a:t>LiH</a:t>
            </a:r>
            <a:r>
              <a:rPr lang="en-MY" dirty="0"/>
              <a:t> , but the data on water molecule is significant</a:t>
            </a:r>
          </a:p>
          <a:p>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13</a:t>
            </a:fld>
            <a:endParaRPr lang="en-MY"/>
          </a:p>
        </p:txBody>
      </p:sp>
    </p:spTree>
    <p:extLst>
      <p:ext uri="{BB962C8B-B14F-4D97-AF65-F5344CB8AC3E}">
        <p14:creationId xmlns:p14="http://schemas.microsoft.com/office/powerpoint/2010/main" val="1936710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prediction accuracy increases when we include more time steps</a:t>
            </a:r>
          </a:p>
          <a:p>
            <a:endParaRPr lang="en-US" dirty="0"/>
          </a:p>
          <a:p>
            <a:r>
              <a:rPr lang="en-US" dirty="0"/>
              <a:t> By including twice</a:t>
            </a:r>
          </a:p>
          <a:p>
            <a:r>
              <a:rPr lang="en-US" dirty="0"/>
              <a:t>the results of time steps, we include also double the training data in each train-test</a:t>
            </a:r>
          </a:p>
          <a:p>
            <a:r>
              <a:rPr lang="en-US" dirty="0"/>
              <a:t>ratio, and longer propagation results. We can see that longer propagation lowers the</a:t>
            </a:r>
          </a:p>
          <a:p>
            <a:r>
              <a:rPr lang="en-US" dirty="0"/>
              <a:t>inaccuracy of prediction</a:t>
            </a:r>
          </a:p>
          <a:p>
            <a:endParaRPr lang="en-US" dirty="0"/>
          </a:p>
          <a:p>
            <a:endParaRPr lang="en-US" dirty="0"/>
          </a:p>
          <a:p>
            <a:r>
              <a:rPr lang="en-US" dirty="0"/>
              <a:t>Expected because more data to learn from</a:t>
            </a:r>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14</a:t>
            </a:fld>
            <a:endParaRPr lang="en-MY"/>
          </a:p>
        </p:txBody>
      </p:sp>
    </p:spTree>
    <p:extLst>
      <p:ext uri="{BB962C8B-B14F-4D97-AF65-F5344CB8AC3E}">
        <p14:creationId xmlns:p14="http://schemas.microsoft.com/office/powerpoint/2010/main" val="22454303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STO-3G, 6-31G</a:t>
            </a:r>
          </a:p>
          <a:p>
            <a:endParaRPr lang="en-US" dirty="0"/>
          </a:p>
          <a:p>
            <a:r>
              <a:rPr lang="en-US" dirty="0"/>
              <a:t>The increase of basis results in the analysis of 49 number of features</a:t>
            </a:r>
          </a:p>
          <a:p>
            <a:r>
              <a:rPr lang="en-US" dirty="0"/>
              <a:t>increase to 169 number of feature</a:t>
            </a:r>
          </a:p>
          <a:p>
            <a:endParaRPr lang="en-US" dirty="0"/>
          </a:p>
          <a:p>
            <a:r>
              <a:rPr lang="en-US" dirty="0"/>
              <a:t>With the increase of basis size, we expect to see</a:t>
            </a:r>
          </a:p>
          <a:p>
            <a:r>
              <a:rPr lang="en-US" dirty="0"/>
              <a:t>the prediction more prone to error. However, the study shows the value of R2 remains</a:t>
            </a:r>
          </a:p>
          <a:p>
            <a:r>
              <a:rPr lang="en-US" dirty="0"/>
              <a:t>similar with increasing size of basis. The MAPE decrease with increase basis size. </a:t>
            </a:r>
          </a:p>
          <a:p>
            <a:endParaRPr lang="en-US" dirty="0"/>
          </a:p>
          <a:p>
            <a:r>
              <a:rPr lang="en-US" dirty="0"/>
              <a:t>This  might because basis is not the main factor for error</a:t>
            </a:r>
          </a:p>
          <a:p>
            <a:endParaRPr lang="en-US" dirty="0"/>
          </a:p>
          <a:p>
            <a:r>
              <a:rPr lang="en-US" dirty="0"/>
              <a:t>Limitation of this approach – increase largely for large basis set</a:t>
            </a:r>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15</a:t>
            </a:fld>
            <a:endParaRPr lang="en-MY"/>
          </a:p>
        </p:txBody>
      </p:sp>
    </p:spTree>
    <p:extLst>
      <p:ext uri="{BB962C8B-B14F-4D97-AF65-F5344CB8AC3E}">
        <p14:creationId xmlns:p14="http://schemas.microsoft.com/office/powerpoint/2010/main" val="1057316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know that if  a orientation of a simple molecule can affect the machine learning prediction, </a:t>
            </a:r>
          </a:p>
          <a:p>
            <a:endParaRPr lang="en-US" dirty="0"/>
          </a:p>
          <a:p>
            <a:r>
              <a:rPr lang="en-US" dirty="0"/>
              <a:t>So we propagate the molecules with different orientations to the field, with </a:t>
            </a:r>
            <a:r>
              <a:rPr lang="en-US" dirty="0" err="1"/>
              <a:t>Pyscf</a:t>
            </a:r>
            <a:r>
              <a:rPr lang="en-US" dirty="0"/>
              <a:t> and generated another datasets. </a:t>
            </a:r>
          </a:p>
          <a:p>
            <a:endParaRPr lang="en-US" dirty="0"/>
          </a:p>
          <a:p>
            <a:r>
              <a:rPr lang="en-US" dirty="0"/>
              <a:t>small linear diatomic molecule such as </a:t>
            </a:r>
            <a:r>
              <a:rPr lang="en-US" dirty="0" err="1"/>
              <a:t>LiH</a:t>
            </a:r>
            <a:r>
              <a:rPr lang="en-US" dirty="0"/>
              <a:t>, the changing its alignment of bond axis in</a:t>
            </a:r>
          </a:p>
          <a:p>
            <a:r>
              <a:rPr lang="en-US" dirty="0"/>
              <a:t>x, y and z axis to the perturbation with respect to the incoming field directed along</a:t>
            </a:r>
          </a:p>
          <a:p>
            <a:r>
              <a:rPr lang="en-US" dirty="0"/>
              <a:t>the z-axis generally has no effect and performs good predictions</a:t>
            </a:r>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16</a:t>
            </a:fld>
            <a:endParaRPr lang="en-MY"/>
          </a:p>
        </p:txBody>
      </p:sp>
    </p:spTree>
    <p:extLst>
      <p:ext uri="{BB962C8B-B14F-4D97-AF65-F5344CB8AC3E}">
        <p14:creationId xmlns:p14="http://schemas.microsoft.com/office/powerpoint/2010/main" val="16973294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LiH</a:t>
            </a:r>
            <a:r>
              <a:rPr lang="en-US" dirty="0"/>
              <a:t> – no effect prediction the same whether we remove or not the values</a:t>
            </a:r>
          </a:p>
          <a:p>
            <a:endParaRPr lang="en-US" dirty="0"/>
          </a:p>
          <a:p>
            <a:r>
              <a:rPr lang="en-US" dirty="0" err="1"/>
              <a:t>ur</a:t>
            </a:r>
            <a:r>
              <a:rPr lang="en-US" dirty="0"/>
              <a:t> data are obtained from real-time TDHF simulation, which use a</a:t>
            </a:r>
          </a:p>
          <a:p>
            <a:r>
              <a:rPr lang="en-US" dirty="0"/>
              <a:t>time dependent perturbation or delta-kick function. We expect that applying a delta-</a:t>
            </a:r>
          </a:p>
          <a:p>
            <a:r>
              <a:rPr lang="en-US" dirty="0"/>
              <a:t>kick, means that applying an electric field for a very short time at t = 0, equally</a:t>
            </a:r>
          </a:p>
          <a:p>
            <a:r>
              <a:rPr lang="en-US" dirty="0"/>
              <a:t>excites all the optically allowed transitions</a:t>
            </a:r>
          </a:p>
          <a:p>
            <a:endParaRPr lang="en-US" dirty="0"/>
          </a:p>
          <a:p>
            <a:r>
              <a:rPr lang="en-US" dirty="0"/>
              <a:t>Thus it is interesting to investigate</a:t>
            </a:r>
          </a:p>
          <a:p>
            <a:r>
              <a:rPr lang="en-US" dirty="0"/>
              <a:t>such effect on the fitting procedures. One may expect that the very first time steps of</a:t>
            </a:r>
          </a:p>
          <a:p>
            <a:r>
              <a:rPr lang="en-US" dirty="0"/>
              <a:t>the time evolution are affected by this instantaneous perturbation.</a:t>
            </a:r>
          </a:p>
          <a:p>
            <a:endParaRPr lang="en-US" dirty="0"/>
          </a:p>
          <a:p>
            <a:r>
              <a:rPr lang="en-US" dirty="0"/>
              <a:t>The number of data removed are 0 (remove 0 values), 500 (-500 values) from the first</a:t>
            </a:r>
          </a:p>
          <a:p>
            <a:r>
              <a:rPr lang="en-US" dirty="0"/>
              <a:t>500 time steps and 1000 (-1000 values) data from the first 1000 time steps</a:t>
            </a:r>
          </a:p>
          <a:p>
            <a:endParaRPr lang="en-MY" dirty="0"/>
          </a:p>
          <a:p>
            <a:r>
              <a:rPr lang="en-MY" dirty="0"/>
              <a:t>Suspect might caused by other factors (underlying)</a:t>
            </a:r>
          </a:p>
          <a:p>
            <a:endParaRPr lang="en-MY" dirty="0"/>
          </a:p>
          <a:p>
            <a:r>
              <a:rPr lang="en-US" dirty="0"/>
              <a:t>. However, our ap-</a:t>
            </a:r>
          </a:p>
          <a:p>
            <a:r>
              <a:rPr lang="en-US" dirty="0" err="1"/>
              <a:t>proach</a:t>
            </a:r>
            <a:r>
              <a:rPr lang="en-US" dirty="0"/>
              <a:t> is different, and hence removing data with only two time steps will not affect</a:t>
            </a:r>
          </a:p>
          <a:p>
            <a:r>
              <a:rPr lang="en-US" dirty="0"/>
              <a:t>the result. </a:t>
            </a:r>
          </a:p>
          <a:p>
            <a:endParaRPr lang="en-US" dirty="0"/>
          </a:p>
          <a:p>
            <a:endParaRPr lang="en-US" dirty="0"/>
          </a:p>
          <a:p>
            <a:r>
              <a:rPr lang="en-US" dirty="0"/>
              <a:t>when we increase the number of training data,</a:t>
            </a:r>
          </a:p>
          <a:p>
            <a:r>
              <a:rPr lang="en-US" dirty="0"/>
              <a:t>the delta kick effect will not be important, and the results converge to the same value</a:t>
            </a:r>
          </a:p>
          <a:p>
            <a:r>
              <a:rPr lang="en-US" dirty="0"/>
              <a:t>when we remove different number of initial values. This is expected as we include more</a:t>
            </a:r>
          </a:p>
          <a:p>
            <a:r>
              <a:rPr lang="en-US" dirty="0"/>
              <a:t>training data, the learning is more effective.</a:t>
            </a:r>
          </a:p>
          <a:p>
            <a:endParaRPr lang="en-US" dirty="0"/>
          </a:p>
          <a:p>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17</a:t>
            </a:fld>
            <a:endParaRPr lang="en-MY"/>
          </a:p>
        </p:txBody>
      </p:sp>
    </p:spTree>
    <p:extLst>
      <p:ext uri="{BB962C8B-B14F-4D97-AF65-F5344CB8AC3E}">
        <p14:creationId xmlns:p14="http://schemas.microsoft.com/office/powerpoint/2010/main" val="25961648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Re(2,3) and </a:t>
            </a:r>
            <a:r>
              <a:rPr lang="en-US" dirty="0" err="1"/>
              <a:t>Im</a:t>
            </a:r>
            <a:r>
              <a:rPr lang="en-US" dirty="0"/>
              <a:t>(2,3) represents the time series plots of H2O dataset with respect to the 2nd row and 3rd column of real and imaginary part of Fock matrices.</a:t>
            </a:r>
          </a:p>
          <a:p>
            <a:endParaRPr lang="en-US" dirty="0"/>
          </a:p>
          <a:p>
            <a:r>
              <a:rPr lang="en-US" dirty="0"/>
              <a:t>The red dot represents the predicted value Fock matrix elements, and the black cross represents the true value of Fock matrix elements.</a:t>
            </a:r>
          </a:p>
          <a:p>
            <a:endParaRPr lang="en-US" dirty="0"/>
          </a:p>
          <a:p>
            <a:r>
              <a:rPr lang="en-US" dirty="0"/>
              <a:t>The “first” and “last” 10% in the plot label means that we plot the fist 500 data points, and last 500 data points, out of the 5000 data points. </a:t>
            </a:r>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18</a:t>
            </a:fld>
            <a:endParaRPr lang="en-MY"/>
          </a:p>
        </p:txBody>
      </p:sp>
    </p:spTree>
    <p:extLst>
      <p:ext uri="{BB962C8B-B14F-4D97-AF65-F5344CB8AC3E}">
        <p14:creationId xmlns:p14="http://schemas.microsoft.com/office/powerpoint/2010/main" val="35459499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For the hidden layers, we are using </a:t>
            </a:r>
            <a:r>
              <a:rPr lang="en-MY" dirty="0" err="1"/>
              <a:t>ReLU</a:t>
            </a:r>
            <a:r>
              <a:rPr lang="en-MY" dirty="0"/>
              <a:t> activation function to introduce non-linearity, it is the most </a:t>
            </a:r>
            <a:r>
              <a:rPr lang="en-MY" dirty="0" err="1"/>
              <a:t>poular</a:t>
            </a:r>
            <a:r>
              <a:rPr lang="en-MY" dirty="0"/>
              <a:t> activation function. </a:t>
            </a:r>
          </a:p>
        </p:txBody>
      </p:sp>
      <p:sp>
        <p:nvSpPr>
          <p:cNvPr id="4" name="Slide Number Placeholder 3"/>
          <p:cNvSpPr>
            <a:spLocks noGrp="1"/>
          </p:cNvSpPr>
          <p:nvPr>
            <p:ph type="sldNum" sz="quarter" idx="5"/>
          </p:nvPr>
        </p:nvSpPr>
        <p:spPr/>
        <p:txBody>
          <a:bodyPr/>
          <a:lstStyle/>
          <a:p>
            <a:fld id="{7B5AD3E0-4FB2-483D-BF1E-5DE8623D56A5}" type="slidenum">
              <a:rPr lang="en-MY" smtClean="0"/>
              <a:t>20</a:t>
            </a:fld>
            <a:endParaRPr lang="en-MY"/>
          </a:p>
        </p:txBody>
      </p:sp>
    </p:spTree>
    <p:extLst>
      <p:ext uri="{BB962C8B-B14F-4D97-AF65-F5344CB8AC3E}">
        <p14:creationId xmlns:p14="http://schemas.microsoft.com/office/powerpoint/2010/main" val="25739258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an increasing num-</a:t>
            </a:r>
          </a:p>
          <a:p>
            <a:r>
              <a:rPr lang="en-US" dirty="0" err="1"/>
              <a:t>ber</a:t>
            </a:r>
            <a:r>
              <a:rPr lang="en-US" dirty="0"/>
              <a:t> of layers, we notice that the prediction accuracy decreases. </a:t>
            </a:r>
          </a:p>
          <a:p>
            <a:endParaRPr lang="en-US" dirty="0"/>
          </a:p>
          <a:p>
            <a:r>
              <a:rPr lang="en-US" dirty="0"/>
              <a:t>This is because the data is a linear</a:t>
            </a:r>
          </a:p>
          <a:p>
            <a:r>
              <a:rPr lang="en-US" dirty="0"/>
              <a:t>regression task, and increasing non-linear layer will decrease the accuracy. Without</a:t>
            </a:r>
          </a:p>
          <a:p>
            <a:r>
              <a:rPr lang="en-US" dirty="0"/>
              <a:t>hidden layer, the model performs as linear regression. Increasing the number of hidden</a:t>
            </a:r>
          </a:p>
          <a:p>
            <a:r>
              <a:rPr lang="en-US" dirty="0"/>
              <a:t>layer, does not necessarily increase the prediction accuracy. In the neural network, we</a:t>
            </a:r>
          </a:p>
          <a:p>
            <a:r>
              <a:rPr lang="en-US" dirty="0"/>
              <a:t>only need hidden layers if the data need to be explained non-linearly.</a:t>
            </a:r>
          </a:p>
          <a:p>
            <a:endParaRPr lang="en-US" dirty="0"/>
          </a:p>
          <a:p>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21</a:t>
            </a:fld>
            <a:endParaRPr lang="en-MY"/>
          </a:p>
        </p:txBody>
      </p:sp>
    </p:spTree>
    <p:extLst>
      <p:ext uri="{BB962C8B-B14F-4D97-AF65-F5344CB8AC3E}">
        <p14:creationId xmlns:p14="http://schemas.microsoft.com/office/powerpoint/2010/main" val="32347285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of neurons in the input layer, is</a:t>
            </a:r>
          </a:p>
          <a:p>
            <a:r>
              <a:rPr lang="en-US" dirty="0"/>
              <a:t>decided by the number of input parameters, similarly in the output layer that decided</a:t>
            </a:r>
          </a:p>
          <a:p>
            <a:r>
              <a:rPr lang="en-US" dirty="0"/>
              <a:t>by number of output parameters</a:t>
            </a:r>
          </a:p>
          <a:p>
            <a:endParaRPr lang="en-US" dirty="0"/>
          </a:p>
          <a:p>
            <a:endParaRPr lang="en-US" dirty="0"/>
          </a:p>
          <a:p>
            <a:endParaRPr lang="en-US" dirty="0"/>
          </a:p>
          <a:p>
            <a:r>
              <a:rPr lang="en-US" dirty="0"/>
              <a:t>However, the number of neurons in the hidden layer</a:t>
            </a:r>
          </a:p>
          <a:p>
            <a:r>
              <a:rPr lang="en-US" dirty="0"/>
              <a:t>is not fixed. Using few neurons in the hidden layers, will result underfitting, while too</a:t>
            </a:r>
          </a:p>
          <a:p>
            <a:r>
              <a:rPr lang="en-US" dirty="0"/>
              <a:t>many neurons in the hidden layers will result in overfitting.</a:t>
            </a:r>
          </a:p>
          <a:p>
            <a:endParaRPr lang="en-US" dirty="0"/>
          </a:p>
          <a:p>
            <a:endParaRPr lang="en-US" dirty="0"/>
          </a:p>
          <a:p>
            <a:r>
              <a:rPr lang="en-US" dirty="0"/>
              <a:t>Generally, we can see that the best</a:t>
            </a:r>
          </a:p>
          <a:p>
            <a:r>
              <a:rPr lang="en-US" dirty="0"/>
              <a:t>number of neurons in the one hidden layer are around 32 in this case. This is consistent</a:t>
            </a:r>
          </a:p>
          <a:p>
            <a:r>
              <a:rPr lang="en-US" dirty="0"/>
              <a:t>with the rule-of-thumb method that are used for determining the number of neurons in</a:t>
            </a:r>
          </a:p>
          <a:p>
            <a:r>
              <a:rPr lang="en-US" dirty="0"/>
              <a:t>the hidden nodes.[62] The number of neurons in one hidden layer are 2/3 </a:t>
            </a:r>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22</a:t>
            </a:fld>
            <a:endParaRPr lang="en-MY"/>
          </a:p>
        </p:txBody>
      </p:sp>
    </p:spTree>
    <p:extLst>
      <p:ext uri="{BB962C8B-B14F-4D97-AF65-F5344CB8AC3E}">
        <p14:creationId xmlns:p14="http://schemas.microsoft.com/office/powerpoint/2010/main" val="19932661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using Adam optimizer results in better prediction than SGD optimizer. We</a:t>
            </a:r>
          </a:p>
          <a:p>
            <a:r>
              <a:rPr lang="en-US" dirty="0"/>
              <a:t>can see that Adam optimizer works effectively in small number of training data, while</a:t>
            </a:r>
          </a:p>
          <a:p>
            <a:r>
              <a:rPr lang="en-US" dirty="0"/>
              <a:t>SGD only rise in the prediction accuracy with increasing training data</a:t>
            </a:r>
          </a:p>
          <a:p>
            <a:endParaRPr lang="en-US" dirty="0"/>
          </a:p>
          <a:p>
            <a:endParaRPr lang="en-US" dirty="0"/>
          </a:p>
          <a:p>
            <a:r>
              <a:rPr lang="en-US" dirty="0"/>
              <a:t>his might</a:t>
            </a:r>
          </a:p>
          <a:p>
            <a:r>
              <a:rPr lang="en-US" dirty="0"/>
              <a:t>because Adam generally converges faster and more reliable than SGD, and is preferred</a:t>
            </a:r>
          </a:p>
          <a:p>
            <a:r>
              <a:rPr lang="en-US" dirty="0"/>
              <a:t>choice due to its efficiency, while SGD may require more training iterations. </a:t>
            </a:r>
          </a:p>
          <a:p>
            <a:endParaRPr lang="en-US" dirty="0"/>
          </a:p>
          <a:p>
            <a:r>
              <a:rPr lang="en-US" dirty="0"/>
              <a:t>This</a:t>
            </a:r>
          </a:p>
          <a:p>
            <a:r>
              <a:rPr lang="en-US" dirty="0"/>
              <a:t>is because Adam combines two techniques compared to SGD, which are momentum</a:t>
            </a:r>
          </a:p>
          <a:p>
            <a:r>
              <a:rPr lang="en-US" dirty="0"/>
              <a:t>and adaptive learning rates. Momentum can speeds up the training by accelerating</a:t>
            </a:r>
          </a:p>
          <a:p>
            <a:r>
              <a:rPr lang="en-US" dirty="0"/>
              <a:t>gradients in the right directions, intuitively can say as rolling ball down the hill with</a:t>
            </a:r>
          </a:p>
          <a:p>
            <a:r>
              <a:rPr lang="en-US" dirty="0"/>
              <a:t>increasing momentum.[63] The adaptive learning rates adapts the learning rate for each</a:t>
            </a:r>
          </a:p>
          <a:p>
            <a:r>
              <a:rPr lang="en-US" dirty="0"/>
              <a:t>parameter for faster convergence, compared to SGD only use a fixed learning rate.</a:t>
            </a:r>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23</a:t>
            </a:fld>
            <a:endParaRPr lang="en-MY"/>
          </a:p>
        </p:txBody>
      </p:sp>
    </p:spTree>
    <p:extLst>
      <p:ext uri="{BB962C8B-B14F-4D97-AF65-F5344CB8AC3E}">
        <p14:creationId xmlns:p14="http://schemas.microsoft.com/office/powerpoint/2010/main" val="21299064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have defined the dictionary of hyperparameters of 0, 1 and 2 hidden</a:t>
            </a:r>
          </a:p>
          <a:p>
            <a:r>
              <a:rPr lang="en-US" dirty="0"/>
              <a:t>layers, </a:t>
            </a:r>
            <a:r>
              <a:rPr lang="en-US" dirty="0" err="1"/>
              <a:t>adam</a:t>
            </a:r>
            <a:r>
              <a:rPr lang="en-US" dirty="0"/>
              <a:t> or </a:t>
            </a:r>
            <a:r>
              <a:rPr lang="en-US" dirty="0" err="1"/>
              <a:t>sgd</a:t>
            </a:r>
            <a:r>
              <a:rPr lang="en-US" dirty="0"/>
              <a:t> optimizers, and with 32, 64, 128 , 256 number of neurons.</a:t>
            </a:r>
          </a:p>
          <a:p>
            <a:endParaRPr lang="en-US" dirty="0"/>
          </a:p>
          <a:p>
            <a:r>
              <a:rPr lang="en-US" dirty="0" err="1"/>
              <a:t>ompared</a:t>
            </a:r>
            <a:r>
              <a:rPr lang="en-US" dirty="0"/>
              <a:t> to the guessed default hyperparameters we have defined, we</a:t>
            </a:r>
          </a:p>
          <a:p>
            <a:r>
              <a:rPr lang="en-US" dirty="0"/>
              <a:t>can say that we have good implementation of the three hyperparameters (number of</a:t>
            </a:r>
          </a:p>
          <a:p>
            <a:r>
              <a:rPr lang="en-US" dirty="0"/>
              <a:t>hidden layers, number of neurons, types of optimizers) without using the grid search.</a:t>
            </a:r>
          </a:p>
          <a:p>
            <a:endParaRPr lang="en-US" dirty="0"/>
          </a:p>
          <a:p>
            <a:r>
              <a:rPr lang="en-US" dirty="0"/>
              <a:t>This shows that learning the neural network theory and understanding the data we</a:t>
            </a:r>
          </a:p>
          <a:p>
            <a:r>
              <a:rPr lang="en-US" dirty="0"/>
              <a:t>are working is important, to save time for tuning. </a:t>
            </a:r>
          </a:p>
          <a:p>
            <a:endParaRPr lang="en-US" dirty="0"/>
          </a:p>
          <a:p>
            <a:r>
              <a:rPr lang="en-US" dirty="0"/>
              <a:t>The process of</a:t>
            </a:r>
          </a:p>
          <a:p>
            <a:r>
              <a:rPr lang="en-US" dirty="0"/>
              <a:t>completing the grid search takes time, and once we have obtained the best result,</a:t>
            </a:r>
          </a:p>
          <a:p>
            <a:r>
              <a:rPr lang="en-US" dirty="0"/>
              <a:t>we are not sure whether a change in parameters would give us better result. </a:t>
            </a:r>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24</a:t>
            </a:fld>
            <a:endParaRPr lang="en-MY"/>
          </a:p>
        </p:txBody>
      </p:sp>
    </p:spTree>
    <p:extLst>
      <p:ext uri="{BB962C8B-B14F-4D97-AF65-F5344CB8AC3E}">
        <p14:creationId xmlns:p14="http://schemas.microsoft.com/office/powerpoint/2010/main" val="6172149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procedure of removing the features that are zeros is same</a:t>
            </a:r>
          </a:p>
          <a:p>
            <a:r>
              <a:rPr lang="en-US" dirty="0"/>
              <a:t>as in the linear regression method, which is finding out the absolute and mean of the</a:t>
            </a:r>
          </a:p>
          <a:p>
            <a:r>
              <a:rPr lang="en-US" dirty="0"/>
              <a:t>values for density and Fock matrices across time series that are less than 1 × 10−13</a:t>
            </a:r>
          </a:p>
          <a:p>
            <a:endParaRPr lang="en-US" dirty="0"/>
          </a:p>
          <a:p>
            <a:r>
              <a:rPr lang="en-US" dirty="0"/>
              <a:t>We can see that the prediction accuracy rise significantly, shows that the noise will</a:t>
            </a:r>
          </a:p>
          <a:p>
            <a:r>
              <a:rPr lang="en-US" dirty="0"/>
              <a:t>also directly affect the training of the model of neural network. This means that the</a:t>
            </a:r>
          </a:p>
          <a:p>
            <a:r>
              <a:rPr lang="en-US" dirty="0"/>
              <a:t>presence of noise that caused the model to learn on wrong values and perform badly.</a:t>
            </a:r>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25</a:t>
            </a:fld>
            <a:endParaRPr lang="en-MY"/>
          </a:p>
        </p:txBody>
      </p:sp>
    </p:spTree>
    <p:extLst>
      <p:ext uri="{BB962C8B-B14F-4D97-AF65-F5344CB8AC3E}">
        <p14:creationId xmlns:p14="http://schemas.microsoft.com/office/powerpoint/2010/main" val="109705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Parameters of NN?</a:t>
            </a:r>
          </a:p>
          <a:p>
            <a:endParaRPr lang="en-MY" dirty="0"/>
          </a:p>
          <a:p>
            <a:r>
              <a:rPr lang="en-MY" dirty="0"/>
              <a:t>By looking at the plots similar, both prediction results are good.</a:t>
            </a:r>
          </a:p>
          <a:p>
            <a:endParaRPr lang="en-MY" dirty="0"/>
          </a:p>
          <a:p>
            <a:r>
              <a:rPr lang="en-MY" dirty="0"/>
              <a:t>We have to rely on the numerical values </a:t>
            </a:r>
          </a:p>
          <a:p>
            <a:endParaRPr lang="en-MY" dirty="0"/>
          </a:p>
          <a:p>
            <a:r>
              <a:rPr lang="en-MY" dirty="0"/>
              <a:t>We can see that linear regression method is better, </a:t>
            </a:r>
          </a:p>
          <a:p>
            <a:endParaRPr lang="en-MY" dirty="0"/>
          </a:p>
          <a:p>
            <a:r>
              <a:rPr lang="en-MY" dirty="0"/>
              <a:t>Because NN has many factors that affect the accuracy </a:t>
            </a:r>
          </a:p>
        </p:txBody>
      </p:sp>
      <p:sp>
        <p:nvSpPr>
          <p:cNvPr id="4" name="Slide Number Placeholder 3"/>
          <p:cNvSpPr>
            <a:spLocks noGrp="1"/>
          </p:cNvSpPr>
          <p:nvPr>
            <p:ph type="sldNum" sz="quarter" idx="5"/>
          </p:nvPr>
        </p:nvSpPr>
        <p:spPr/>
        <p:txBody>
          <a:bodyPr/>
          <a:lstStyle/>
          <a:p>
            <a:fld id="{7B5AD3E0-4FB2-483D-BF1E-5DE8623D56A5}" type="slidenum">
              <a:rPr lang="en-MY" smtClean="0"/>
              <a:t>26</a:t>
            </a:fld>
            <a:endParaRPr lang="en-MY"/>
          </a:p>
        </p:txBody>
      </p:sp>
    </p:spTree>
    <p:extLst>
      <p:ext uri="{BB962C8B-B14F-4D97-AF65-F5344CB8AC3E}">
        <p14:creationId xmlns:p14="http://schemas.microsoft.com/office/powerpoint/2010/main" val="27260751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C05FB-3D09-DD86-3C28-64B06373D7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16D2B-8E1F-B0C0-9258-9FC8E1D025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D05223-4591-3FBC-6C96-671ABEBB5647}"/>
              </a:ext>
            </a:extLst>
          </p:cNvPr>
          <p:cNvSpPr>
            <a:spLocks noGrp="1"/>
          </p:cNvSpPr>
          <p:nvPr>
            <p:ph type="body" idx="1"/>
          </p:nvPr>
        </p:nvSpPr>
        <p:spPr/>
        <p:txBody>
          <a:bodyPr/>
          <a:lstStyle/>
          <a:p>
            <a:r>
              <a:rPr lang="en-US" dirty="0"/>
              <a:t>are ways to </a:t>
            </a:r>
            <a:r>
              <a:rPr lang="en-US" dirty="0" err="1"/>
              <a:t>optimise</a:t>
            </a:r>
            <a:r>
              <a:rPr lang="en-US" dirty="0"/>
              <a:t> our code, such as running the neural network on a GPU</a:t>
            </a:r>
          </a:p>
          <a:p>
            <a:endParaRPr lang="en-US" dirty="0"/>
          </a:p>
          <a:p>
            <a:r>
              <a:rPr lang="en-US" dirty="0"/>
              <a:t>e expect to investigate to apply the scheme worked out here</a:t>
            </a:r>
          </a:p>
          <a:p>
            <a:r>
              <a:rPr lang="en-US" dirty="0"/>
              <a:t>to larger molecular system with extended basis set, </a:t>
            </a:r>
          </a:p>
          <a:p>
            <a:endParaRPr lang="en-US" dirty="0"/>
          </a:p>
          <a:p>
            <a:r>
              <a:rPr lang="en-US" dirty="0"/>
              <a:t>and develop more effective machine</a:t>
            </a:r>
          </a:p>
          <a:p>
            <a:r>
              <a:rPr lang="en-US" dirty="0"/>
              <a:t>learning methods when dealing with data that require large memory. </a:t>
            </a:r>
          </a:p>
          <a:p>
            <a:endParaRPr lang="en-US" dirty="0"/>
          </a:p>
          <a:p>
            <a:r>
              <a:rPr lang="en-US" dirty="0"/>
              <a:t>Instead of predicting one by one</a:t>
            </a:r>
          </a:p>
          <a:p>
            <a:endParaRPr lang="en-US" dirty="0"/>
          </a:p>
          <a:p>
            <a:r>
              <a:rPr lang="en-US" dirty="0"/>
              <a:t>se other regression methods such as ridge regression models, to test if there is an</a:t>
            </a:r>
          </a:p>
          <a:p>
            <a:r>
              <a:rPr lang="en-US" dirty="0"/>
              <a:t>increase of prediction accuracy. </a:t>
            </a:r>
          </a:p>
          <a:p>
            <a:endParaRPr lang="en-US" dirty="0"/>
          </a:p>
          <a:p>
            <a:endParaRPr lang="en-US" dirty="0"/>
          </a:p>
          <a:p>
            <a:r>
              <a:rPr lang="en-US" dirty="0"/>
              <a:t>e aim to incorporate the machine learning</a:t>
            </a:r>
          </a:p>
          <a:p>
            <a:r>
              <a:rPr lang="en-US" dirty="0"/>
              <a:t>algorithms into the propagation code to execute the machine learning in real-time, in-</a:t>
            </a:r>
          </a:p>
          <a:p>
            <a:r>
              <a:rPr lang="en-US" dirty="0"/>
              <a:t>stead of extracting out the density and Fock matrices independently. The next step for</a:t>
            </a:r>
          </a:p>
          <a:p>
            <a:r>
              <a:rPr lang="en-US" dirty="0"/>
              <a:t>future work will be using this learned Fock matrix for the electron density evolution,</a:t>
            </a:r>
          </a:p>
          <a:p>
            <a:r>
              <a:rPr lang="en-US" dirty="0"/>
              <a:t>because we are interested in knowing how good the predicted Fock matrix in the actual</a:t>
            </a:r>
          </a:p>
          <a:p>
            <a:r>
              <a:rPr lang="en-US" dirty="0"/>
              <a:t>real-time propagation scheme.</a:t>
            </a:r>
          </a:p>
          <a:p>
            <a:endParaRPr lang="en-US" dirty="0"/>
          </a:p>
          <a:p>
            <a:endParaRPr lang="en-US" dirty="0"/>
          </a:p>
          <a:p>
            <a:r>
              <a:rPr lang="en-US" dirty="0"/>
              <a:t>Next step - </a:t>
            </a:r>
          </a:p>
          <a:p>
            <a:r>
              <a:rPr lang="en-US" dirty="0"/>
              <a:t>learned Fock matrix to</a:t>
            </a:r>
          </a:p>
          <a:p>
            <a:r>
              <a:rPr lang="en-US" dirty="0"/>
              <a:t>simulate the electron dynamics in the presence or absence of an applied electric field, as</a:t>
            </a:r>
          </a:p>
          <a:p>
            <a:r>
              <a:rPr lang="en-US" dirty="0"/>
              <a:t>shown in the previous literature.</a:t>
            </a:r>
          </a:p>
          <a:p>
            <a:endParaRPr lang="en-US" dirty="0"/>
          </a:p>
          <a:p>
            <a:r>
              <a:rPr lang="en-US" dirty="0"/>
              <a:t>This can be done by reconstructing the predicted </a:t>
            </a:r>
            <a:r>
              <a:rPr lang="en-US" dirty="0" err="1"/>
              <a:t>forck</a:t>
            </a:r>
            <a:r>
              <a:rPr lang="en-US" dirty="0"/>
              <a:t> </a:t>
            </a:r>
            <a:r>
              <a:rPr lang="en-US" dirty="0" err="1"/>
              <a:t>matix</a:t>
            </a:r>
            <a:r>
              <a:rPr lang="en-US" dirty="0"/>
              <a:t> elements, back into its matrix form</a:t>
            </a:r>
          </a:p>
          <a:p>
            <a:endParaRPr lang="en-US" dirty="0"/>
          </a:p>
          <a:p>
            <a:endParaRPr lang="en-MY" dirty="0"/>
          </a:p>
        </p:txBody>
      </p:sp>
      <p:sp>
        <p:nvSpPr>
          <p:cNvPr id="4" name="Slide Number Placeholder 3">
            <a:extLst>
              <a:ext uri="{FF2B5EF4-FFF2-40B4-BE49-F238E27FC236}">
                <a16:creationId xmlns:a16="http://schemas.microsoft.com/office/drawing/2014/main" id="{0918560B-714C-54A6-C742-5B7EC0424AB9}"/>
              </a:ext>
            </a:extLst>
          </p:cNvPr>
          <p:cNvSpPr>
            <a:spLocks noGrp="1"/>
          </p:cNvSpPr>
          <p:nvPr>
            <p:ph type="sldNum" sz="quarter" idx="5"/>
          </p:nvPr>
        </p:nvSpPr>
        <p:spPr/>
        <p:txBody>
          <a:bodyPr/>
          <a:lstStyle/>
          <a:p>
            <a:fld id="{7B5AD3E0-4FB2-483D-BF1E-5DE8623D56A5}" type="slidenum">
              <a:rPr lang="en-MY" smtClean="0"/>
              <a:t>27</a:t>
            </a:fld>
            <a:endParaRPr lang="en-MY"/>
          </a:p>
        </p:txBody>
      </p:sp>
    </p:spTree>
    <p:extLst>
      <p:ext uri="{BB962C8B-B14F-4D97-AF65-F5344CB8AC3E}">
        <p14:creationId xmlns:p14="http://schemas.microsoft.com/office/powerpoint/2010/main" val="39290751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09DA-C4B2-F732-E142-1264F4995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3B610-1640-95DD-5918-E2928388ED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CC5E4C-969A-1FD1-61D1-197C25D1DBBE}"/>
              </a:ext>
            </a:extLst>
          </p:cNvPr>
          <p:cNvSpPr>
            <a:spLocks noGrp="1"/>
          </p:cNvSpPr>
          <p:nvPr>
            <p:ph type="body" idx="1"/>
          </p:nvPr>
        </p:nvSpPr>
        <p:spPr/>
        <p:txBody>
          <a:bodyPr/>
          <a:lstStyle/>
          <a:p>
            <a:r>
              <a:rPr lang="en-US" dirty="0"/>
              <a:t>This thesis shows that the use of machine learn-</a:t>
            </a:r>
          </a:p>
          <a:p>
            <a:r>
              <a:rPr lang="en-US" dirty="0" err="1"/>
              <a:t>ing</a:t>
            </a:r>
            <a:r>
              <a:rPr lang="en-US" dirty="0"/>
              <a:t> methods such as linear regression and neural network can be promising to learn</a:t>
            </a:r>
          </a:p>
          <a:p>
            <a:r>
              <a:rPr lang="en-US" dirty="0"/>
              <a:t>and predict the Fock matrix given the time series of density matrices generated in a</a:t>
            </a:r>
          </a:p>
          <a:p>
            <a:r>
              <a:rPr lang="en-US" dirty="0"/>
              <a:t>real-time simulation.</a:t>
            </a:r>
          </a:p>
          <a:p>
            <a:endParaRPr lang="en-US" dirty="0"/>
          </a:p>
          <a:p>
            <a:r>
              <a:rPr lang="en-US" dirty="0"/>
              <a:t>investigated the factors that affect the accuracy</a:t>
            </a:r>
          </a:p>
          <a:p>
            <a:r>
              <a:rPr lang="en-US" dirty="0"/>
              <a:t>of the training and prediction, thus completing the previous literature works by Bhat</a:t>
            </a:r>
          </a:p>
          <a:p>
            <a:r>
              <a:rPr lang="en-US" dirty="0"/>
              <a:t>and coworkers [1, 2, 3]. Once the factors that affect the accuracy of the prediction are identified, this</a:t>
            </a:r>
          </a:p>
          <a:p>
            <a:r>
              <a:rPr lang="en-US" dirty="0"/>
              <a:t>machine-learned Fock matrix can be effectively used for propagation instead of the</a:t>
            </a:r>
          </a:p>
          <a:p>
            <a:r>
              <a:rPr lang="en-US" dirty="0"/>
              <a:t>exact Hamiltonian, which is costly.</a:t>
            </a:r>
          </a:p>
          <a:p>
            <a:endParaRPr lang="en-US" dirty="0"/>
          </a:p>
          <a:p>
            <a:endParaRPr lang="en-US" dirty="0"/>
          </a:p>
          <a:p>
            <a:r>
              <a:rPr lang="en-US" dirty="0"/>
              <a:t>In general, machine learning is good at making predictions, and</a:t>
            </a:r>
          </a:p>
          <a:p>
            <a:r>
              <a:rPr lang="en-US" dirty="0"/>
              <a:t>when more training data is included, the prediction accuracy increases. The presence</a:t>
            </a:r>
          </a:p>
          <a:p>
            <a:r>
              <a:rPr lang="en-US" dirty="0"/>
              <a:t>of noise in the dataset is the main factor that affects the accuracy of prediction</a:t>
            </a:r>
          </a:p>
          <a:p>
            <a:endParaRPr lang="en-US" dirty="0"/>
          </a:p>
          <a:p>
            <a:r>
              <a:rPr lang="en-US" dirty="0"/>
              <a:t>This work shows that the machine learning can potentially be a useful tool to be</a:t>
            </a:r>
          </a:p>
          <a:p>
            <a:r>
              <a:rPr lang="en-US" dirty="0" err="1"/>
              <a:t>applyed</a:t>
            </a:r>
            <a:r>
              <a:rPr lang="en-US" dirty="0"/>
              <a:t> in the electrodynamics simulations. </a:t>
            </a:r>
          </a:p>
          <a:p>
            <a:endParaRPr lang="en-US" dirty="0"/>
          </a:p>
          <a:p>
            <a:r>
              <a:rPr lang="en-US" dirty="0"/>
              <a:t>Linear regression method is one of the</a:t>
            </a:r>
          </a:p>
          <a:p>
            <a:r>
              <a:rPr lang="en-US" dirty="0"/>
              <a:t>earliest form of machine learning, it is easy to use and is effective in most applications.</a:t>
            </a:r>
          </a:p>
          <a:p>
            <a:endParaRPr lang="en-US" dirty="0"/>
          </a:p>
          <a:p>
            <a:endParaRPr lang="en-US" dirty="0"/>
          </a:p>
          <a:p>
            <a:r>
              <a:rPr lang="en-US" dirty="0"/>
              <a:t> limitation of using machine learning is the quality of the data, which</a:t>
            </a:r>
          </a:p>
          <a:p>
            <a:r>
              <a:rPr lang="en-US" dirty="0"/>
              <a:t>has to be inspected, requiring pre-processing of data if necessary.</a:t>
            </a:r>
          </a:p>
          <a:p>
            <a:endParaRPr lang="en-US" dirty="0"/>
          </a:p>
          <a:p>
            <a:r>
              <a:rPr lang="en-US" dirty="0"/>
              <a:t> Besides, in the case</a:t>
            </a:r>
          </a:p>
          <a:p>
            <a:r>
              <a:rPr lang="en-US" dirty="0"/>
              <a:t>of neural network, we do not know the factor and underlying data patterns that give</a:t>
            </a:r>
          </a:p>
          <a:p>
            <a:r>
              <a:rPr lang="en-US" dirty="0"/>
              <a:t>us the best combination of hyperparameters. </a:t>
            </a:r>
          </a:p>
          <a:p>
            <a:r>
              <a:rPr lang="en-US" dirty="0"/>
              <a:t>We also </a:t>
            </a:r>
            <a:r>
              <a:rPr lang="en-US" dirty="0" err="1"/>
              <a:t>analysed</a:t>
            </a:r>
            <a:r>
              <a:rPr lang="en-US" dirty="0"/>
              <a:t> the time complexity of the linear</a:t>
            </a:r>
          </a:p>
          <a:p>
            <a:r>
              <a:rPr lang="en-US" dirty="0"/>
              <a:t>regression and neural network, which shows that it can potentially reduce the cost</a:t>
            </a:r>
          </a:p>
          <a:p>
            <a:r>
              <a:rPr lang="en-US" dirty="0"/>
              <a:t>of computation compared to the usual evaluation of the two-electron integral.</a:t>
            </a:r>
          </a:p>
          <a:p>
            <a:endParaRPr lang="en-US" dirty="0"/>
          </a:p>
          <a:p>
            <a:endParaRPr lang="en-US" dirty="0"/>
          </a:p>
          <a:p>
            <a:r>
              <a:rPr lang="en-US" dirty="0"/>
              <a:t> different combinations of hyperparameters in the neural network also affects the</a:t>
            </a:r>
          </a:p>
          <a:p>
            <a:r>
              <a:rPr lang="en-US" dirty="0"/>
              <a:t>accuracy of the prediction. Therefore, the data set should be carefully </a:t>
            </a:r>
            <a:r>
              <a:rPr lang="en-US" dirty="0" err="1"/>
              <a:t>analysed</a:t>
            </a:r>
            <a:r>
              <a:rPr lang="en-US" dirty="0"/>
              <a:t> before</a:t>
            </a:r>
          </a:p>
          <a:p>
            <a:r>
              <a:rPr lang="en-US" dirty="0"/>
              <a:t>performing machine learning to increase the accuracy.</a:t>
            </a:r>
          </a:p>
          <a:p>
            <a:endParaRPr lang="en-MY" dirty="0"/>
          </a:p>
          <a:p>
            <a:r>
              <a:rPr lang="en-US" dirty="0" err="1"/>
              <a:t>hus</a:t>
            </a:r>
            <a:r>
              <a:rPr lang="en-US" dirty="0"/>
              <a:t>, if the simplest algorithm can perform the prediction</a:t>
            </a:r>
          </a:p>
          <a:p>
            <a:r>
              <a:rPr lang="en-US" dirty="0"/>
              <a:t>accurately, we do not need to apply for more complex algorithms that consume larger</a:t>
            </a:r>
          </a:p>
          <a:p>
            <a:r>
              <a:rPr lang="en-US" dirty="0"/>
              <a:t>resources.</a:t>
            </a:r>
          </a:p>
          <a:p>
            <a:endParaRPr lang="en-US" dirty="0"/>
          </a:p>
          <a:p>
            <a:r>
              <a:rPr lang="en-MY" dirty="0"/>
              <a:t>Conclusion</a:t>
            </a:r>
          </a:p>
          <a:p>
            <a:endParaRPr lang="en-MY" dirty="0"/>
          </a:p>
          <a:p>
            <a:r>
              <a:rPr lang="en-MY" dirty="0"/>
              <a:t>Not necessarily reduce the computation time, but it is possible to use an alternative method</a:t>
            </a:r>
          </a:p>
          <a:p>
            <a:endParaRPr lang="en-MY" dirty="0"/>
          </a:p>
          <a:p>
            <a:r>
              <a:rPr lang="en-MY" dirty="0"/>
              <a:t>Identified the factors </a:t>
            </a:r>
          </a:p>
          <a:p>
            <a:endParaRPr lang="en-MY" dirty="0"/>
          </a:p>
          <a:p>
            <a:r>
              <a:rPr lang="en-MY" dirty="0"/>
              <a:t>Prove the work of Bhat can be done</a:t>
            </a:r>
          </a:p>
          <a:p>
            <a:endParaRPr lang="en-US" dirty="0"/>
          </a:p>
          <a:p>
            <a:endParaRPr lang="en-MY" dirty="0"/>
          </a:p>
        </p:txBody>
      </p:sp>
      <p:sp>
        <p:nvSpPr>
          <p:cNvPr id="4" name="Slide Number Placeholder 3">
            <a:extLst>
              <a:ext uri="{FF2B5EF4-FFF2-40B4-BE49-F238E27FC236}">
                <a16:creationId xmlns:a16="http://schemas.microsoft.com/office/drawing/2014/main" id="{3B426A84-6F7D-2189-70FD-A377923BD9AA}"/>
              </a:ext>
            </a:extLst>
          </p:cNvPr>
          <p:cNvSpPr>
            <a:spLocks noGrp="1"/>
          </p:cNvSpPr>
          <p:nvPr>
            <p:ph type="sldNum" sz="quarter" idx="5"/>
          </p:nvPr>
        </p:nvSpPr>
        <p:spPr/>
        <p:txBody>
          <a:bodyPr/>
          <a:lstStyle/>
          <a:p>
            <a:fld id="{7B5AD3E0-4FB2-483D-BF1E-5DE8623D56A5}" type="slidenum">
              <a:rPr lang="en-MY" smtClean="0"/>
              <a:t>28</a:t>
            </a:fld>
            <a:endParaRPr lang="en-MY"/>
          </a:p>
        </p:txBody>
      </p:sp>
    </p:spTree>
    <p:extLst>
      <p:ext uri="{BB962C8B-B14F-4D97-AF65-F5344CB8AC3E}">
        <p14:creationId xmlns:p14="http://schemas.microsoft.com/office/powerpoint/2010/main" val="34638274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Supervisor, friends </a:t>
            </a:r>
          </a:p>
          <a:p>
            <a:endParaRPr lang="en-MY" dirty="0"/>
          </a:p>
        </p:txBody>
      </p:sp>
      <p:sp>
        <p:nvSpPr>
          <p:cNvPr id="4" name="Slide Number Placeholder 3"/>
          <p:cNvSpPr>
            <a:spLocks noGrp="1"/>
          </p:cNvSpPr>
          <p:nvPr>
            <p:ph type="sldNum" sz="quarter" idx="5"/>
          </p:nvPr>
        </p:nvSpPr>
        <p:spPr/>
        <p:txBody>
          <a:bodyPr/>
          <a:lstStyle/>
          <a:p>
            <a:fld id="{7B5AD3E0-4FB2-483D-BF1E-5DE8623D56A5}" type="slidenum">
              <a:rPr lang="en-MY" smtClean="0"/>
              <a:t>29</a:t>
            </a:fld>
            <a:endParaRPr lang="en-MY"/>
          </a:p>
        </p:txBody>
      </p:sp>
    </p:spTree>
    <p:extLst>
      <p:ext uri="{BB962C8B-B14F-4D97-AF65-F5344CB8AC3E}">
        <p14:creationId xmlns:p14="http://schemas.microsoft.com/office/powerpoint/2010/main" val="4267786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6655284-6177-4B88-A475-DD40F9294B1F}" type="datetimeFigureOut">
              <a:rPr lang="en-MY" smtClean="0"/>
              <a:t>13/9/2025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67FE4E5B-91FA-4EA7-81DB-EE5DD7A9207B}" type="slidenum">
              <a:rPr lang="en-MY" smtClean="0"/>
              <a:t>‹#›</a:t>
            </a:fld>
            <a:endParaRPr lang="en-MY"/>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6744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655284-6177-4B88-A475-DD40F9294B1F}" type="datetimeFigureOut">
              <a:rPr lang="en-MY" smtClean="0"/>
              <a:t>13/9/2025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67FE4E5B-91FA-4EA7-81DB-EE5DD7A9207B}" type="slidenum">
              <a:rPr lang="en-MY" smtClean="0"/>
              <a:t>‹#›</a:t>
            </a:fld>
            <a:endParaRPr lang="en-MY"/>
          </a:p>
        </p:txBody>
      </p:sp>
    </p:spTree>
    <p:extLst>
      <p:ext uri="{BB962C8B-B14F-4D97-AF65-F5344CB8AC3E}">
        <p14:creationId xmlns:p14="http://schemas.microsoft.com/office/powerpoint/2010/main" val="3738404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655284-6177-4B88-A475-DD40F9294B1F}" type="datetimeFigureOut">
              <a:rPr lang="en-MY" smtClean="0"/>
              <a:t>13/9/2025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67FE4E5B-91FA-4EA7-81DB-EE5DD7A9207B}" type="slidenum">
              <a:rPr lang="en-MY" smtClean="0"/>
              <a:t>‹#›</a:t>
            </a:fld>
            <a:endParaRPr lang="en-MY"/>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6870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6655284-6177-4B88-A475-DD40F9294B1F}" type="datetimeFigureOut">
              <a:rPr lang="en-MY" smtClean="0"/>
              <a:t>13/9/2025</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67FE4E5B-91FA-4EA7-81DB-EE5DD7A9207B}" type="slidenum">
              <a:rPr lang="en-MY" smtClean="0"/>
              <a:t>‹#›</a:t>
            </a:fld>
            <a:endParaRPr lang="en-MY"/>
          </a:p>
        </p:txBody>
      </p:sp>
    </p:spTree>
    <p:extLst>
      <p:ext uri="{BB962C8B-B14F-4D97-AF65-F5344CB8AC3E}">
        <p14:creationId xmlns:p14="http://schemas.microsoft.com/office/powerpoint/2010/main" val="4067610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6655284-6177-4B88-A475-DD40F9294B1F}" type="datetimeFigureOut">
              <a:rPr lang="en-MY" smtClean="0"/>
              <a:t>13/9/2025</a:t>
            </a:fld>
            <a:endParaRPr lang="en-MY"/>
          </a:p>
        </p:txBody>
      </p:sp>
      <p:sp>
        <p:nvSpPr>
          <p:cNvPr id="8" name="Footer Placeholder 7"/>
          <p:cNvSpPr>
            <a:spLocks noGrp="1"/>
          </p:cNvSpPr>
          <p:nvPr>
            <p:ph type="ftr" sz="quarter" idx="11"/>
          </p:nvPr>
        </p:nvSpPr>
        <p:spPr/>
        <p:txBody>
          <a:bodyPr/>
          <a:lstStyle/>
          <a:p>
            <a:endParaRPr lang="en-MY"/>
          </a:p>
        </p:txBody>
      </p:sp>
      <p:sp>
        <p:nvSpPr>
          <p:cNvPr id="9" name="Slide Number Placeholder 8"/>
          <p:cNvSpPr>
            <a:spLocks noGrp="1"/>
          </p:cNvSpPr>
          <p:nvPr>
            <p:ph type="sldNum" sz="quarter" idx="12"/>
          </p:nvPr>
        </p:nvSpPr>
        <p:spPr/>
        <p:txBody>
          <a:bodyPr/>
          <a:lstStyle/>
          <a:p>
            <a:fld id="{67FE4E5B-91FA-4EA7-81DB-EE5DD7A9207B}" type="slidenum">
              <a:rPr lang="en-MY" smtClean="0"/>
              <a:t>‹#›</a:t>
            </a:fld>
            <a:endParaRPr lang="en-MY"/>
          </a:p>
        </p:txBody>
      </p:sp>
    </p:spTree>
    <p:extLst>
      <p:ext uri="{BB962C8B-B14F-4D97-AF65-F5344CB8AC3E}">
        <p14:creationId xmlns:p14="http://schemas.microsoft.com/office/powerpoint/2010/main" val="2151403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6655284-6177-4B88-A475-DD40F9294B1F}" type="datetimeFigureOut">
              <a:rPr lang="en-MY" smtClean="0"/>
              <a:t>13/9/2025</a:t>
            </a:fld>
            <a:endParaRPr lang="en-MY"/>
          </a:p>
        </p:txBody>
      </p:sp>
      <p:sp>
        <p:nvSpPr>
          <p:cNvPr id="4" name="Footer Placeholder 3"/>
          <p:cNvSpPr>
            <a:spLocks noGrp="1"/>
          </p:cNvSpPr>
          <p:nvPr>
            <p:ph type="ftr" sz="quarter" idx="11"/>
          </p:nvPr>
        </p:nvSpPr>
        <p:spPr/>
        <p:txBody>
          <a:bodyPr/>
          <a:lstStyle/>
          <a:p>
            <a:endParaRPr lang="en-MY"/>
          </a:p>
        </p:txBody>
      </p:sp>
      <p:sp>
        <p:nvSpPr>
          <p:cNvPr id="5" name="Slide Number Placeholder 4"/>
          <p:cNvSpPr>
            <a:spLocks noGrp="1"/>
          </p:cNvSpPr>
          <p:nvPr>
            <p:ph type="sldNum" sz="quarter" idx="12"/>
          </p:nvPr>
        </p:nvSpPr>
        <p:spPr/>
        <p:txBody>
          <a:bodyPr/>
          <a:lstStyle/>
          <a:p>
            <a:fld id="{67FE4E5B-91FA-4EA7-81DB-EE5DD7A9207B}" type="slidenum">
              <a:rPr lang="en-MY" smtClean="0"/>
              <a:t>‹#›</a:t>
            </a:fld>
            <a:endParaRPr lang="en-MY"/>
          </a:p>
        </p:txBody>
      </p:sp>
    </p:spTree>
    <p:extLst>
      <p:ext uri="{BB962C8B-B14F-4D97-AF65-F5344CB8AC3E}">
        <p14:creationId xmlns:p14="http://schemas.microsoft.com/office/powerpoint/2010/main" val="507806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6655284-6177-4B88-A475-DD40F9294B1F}" type="datetimeFigureOut">
              <a:rPr lang="en-MY" smtClean="0"/>
              <a:t>13/9/2025</a:t>
            </a:fld>
            <a:endParaRPr lang="en-MY"/>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MY"/>
          </a:p>
        </p:txBody>
      </p:sp>
      <p:sp>
        <p:nvSpPr>
          <p:cNvPr id="9" name="Slide Number Placeholder 8"/>
          <p:cNvSpPr>
            <a:spLocks noGrp="1"/>
          </p:cNvSpPr>
          <p:nvPr>
            <p:ph type="sldNum" sz="quarter" idx="12"/>
          </p:nvPr>
        </p:nvSpPr>
        <p:spPr/>
        <p:txBody>
          <a:bodyPr/>
          <a:lstStyle/>
          <a:p>
            <a:fld id="{67FE4E5B-91FA-4EA7-81DB-EE5DD7A9207B}" type="slidenum">
              <a:rPr lang="en-MY" smtClean="0"/>
              <a:t>‹#›</a:t>
            </a:fld>
            <a:endParaRPr lang="en-MY"/>
          </a:p>
        </p:txBody>
      </p:sp>
    </p:spTree>
    <p:extLst>
      <p:ext uri="{BB962C8B-B14F-4D97-AF65-F5344CB8AC3E}">
        <p14:creationId xmlns:p14="http://schemas.microsoft.com/office/powerpoint/2010/main" val="3145504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6655284-6177-4B88-A475-DD40F9294B1F}" type="datetimeFigureOut">
              <a:rPr lang="en-MY" smtClean="0"/>
              <a:t>13/9/2025</a:t>
            </a:fld>
            <a:endParaRPr lang="en-MY"/>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MY"/>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7FE4E5B-91FA-4EA7-81DB-EE5DD7A9207B}" type="slidenum">
              <a:rPr lang="en-MY" smtClean="0"/>
              <a:t>‹#›</a:t>
            </a:fld>
            <a:endParaRPr lang="en-MY"/>
          </a:p>
        </p:txBody>
      </p:sp>
    </p:spTree>
    <p:extLst>
      <p:ext uri="{BB962C8B-B14F-4D97-AF65-F5344CB8AC3E}">
        <p14:creationId xmlns:p14="http://schemas.microsoft.com/office/powerpoint/2010/main" val="260070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655284-6177-4B88-A475-DD40F9294B1F}" type="datetimeFigureOut">
              <a:rPr lang="en-MY" smtClean="0"/>
              <a:t>13/9/2025</a:t>
            </a:fld>
            <a:endParaRPr lang="en-MY"/>
          </a:p>
        </p:txBody>
      </p:sp>
      <p:sp>
        <p:nvSpPr>
          <p:cNvPr id="6" name="Footer Placeholder 5"/>
          <p:cNvSpPr>
            <a:spLocks noGrp="1"/>
          </p:cNvSpPr>
          <p:nvPr>
            <p:ph type="ftr" sz="quarter" idx="11"/>
          </p:nvPr>
        </p:nvSpPr>
        <p:spPr/>
        <p:txBody>
          <a:bodyPr/>
          <a:lstStyle/>
          <a:p>
            <a:endParaRPr lang="en-MY"/>
          </a:p>
        </p:txBody>
      </p:sp>
      <p:sp>
        <p:nvSpPr>
          <p:cNvPr id="7" name="Slide Number Placeholder 6"/>
          <p:cNvSpPr>
            <a:spLocks noGrp="1"/>
          </p:cNvSpPr>
          <p:nvPr>
            <p:ph type="sldNum" sz="quarter" idx="12"/>
          </p:nvPr>
        </p:nvSpPr>
        <p:spPr/>
        <p:txBody>
          <a:bodyPr/>
          <a:lstStyle/>
          <a:p>
            <a:fld id="{67FE4E5B-91FA-4EA7-81DB-EE5DD7A9207B}" type="slidenum">
              <a:rPr lang="en-MY" smtClean="0"/>
              <a:t>‹#›</a:t>
            </a:fld>
            <a:endParaRPr lang="en-MY"/>
          </a:p>
        </p:txBody>
      </p:sp>
    </p:spTree>
    <p:extLst>
      <p:ext uri="{BB962C8B-B14F-4D97-AF65-F5344CB8AC3E}">
        <p14:creationId xmlns:p14="http://schemas.microsoft.com/office/powerpoint/2010/main" val="532958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655284-6177-4B88-A475-DD40F9294B1F}" type="datetimeFigureOut">
              <a:rPr lang="en-MY" smtClean="0"/>
              <a:t>13/9/2025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67FE4E5B-91FA-4EA7-81DB-EE5DD7A9207B}" type="slidenum">
              <a:rPr lang="en-MY" smtClean="0"/>
              <a:t>‹#›</a:t>
            </a:fld>
            <a:endParaRPr lang="en-MY"/>
          </a:p>
        </p:txBody>
      </p:sp>
    </p:spTree>
    <p:extLst>
      <p:ext uri="{BB962C8B-B14F-4D97-AF65-F5344CB8AC3E}">
        <p14:creationId xmlns:p14="http://schemas.microsoft.com/office/powerpoint/2010/main" val="3952911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655284-6177-4B88-A475-DD40F9294B1F}" type="datetimeFigureOut">
              <a:rPr lang="en-MY" smtClean="0"/>
              <a:t>13/9/2025</a:t>
            </a:fld>
            <a:endParaRPr lang="en-MY"/>
          </a:p>
        </p:txBody>
      </p:sp>
      <p:sp>
        <p:nvSpPr>
          <p:cNvPr id="5" name="Footer Placeholder 4"/>
          <p:cNvSpPr>
            <a:spLocks noGrp="1"/>
          </p:cNvSpPr>
          <p:nvPr>
            <p:ph type="ftr" sz="quarter" idx="11"/>
          </p:nvPr>
        </p:nvSpPr>
        <p:spPr/>
        <p:txBody>
          <a:bodyPr/>
          <a:lstStyle/>
          <a:p>
            <a:endParaRPr lang="en-MY"/>
          </a:p>
        </p:txBody>
      </p:sp>
      <p:sp>
        <p:nvSpPr>
          <p:cNvPr id="6" name="Slide Number Placeholder 5"/>
          <p:cNvSpPr>
            <a:spLocks noGrp="1"/>
          </p:cNvSpPr>
          <p:nvPr>
            <p:ph type="sldNum" sz="quarter" idx="12"/>
          </p:nvPr>
        </p:nvSpPr>
        <p:spPr/>
        <p:txBody>
          <a:bodyPr/>
          <a:lstStyle/>
          <a:p>
            <a:fld id="{67FE4E5B-91FA-4EA7-81DB-EE5DD7A9207B}" type="slidenum">
              <a:rPr lang="en-MY" smtClean="0"/>
              <a:t>‹#›</a:t>
            </a:fld>
            <a:endParaRPr lang="en-MY"/>
          </a:p>
        </p:txBody>
      </p:sp>
    </p:spTree>
    <p:extLst>
      <p:ext uri="{BB962C8B-B14F-4D97-AF65-F5344CB8AC3E}">
        <p14:creationId xmlns:p14="http://schemas.microsoft.com/office/powerpoint/2010/main" val="2618277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6655284-6177-4B88-A475-DD40F9294B1F}" type="datetimeFigureOut">
              <a:rPr lang="en-MY" smtClean="0"/>
              <a:t>13/9/2025</a:t>
            </a:fld>
            <a:endParaRPr lang="en-MY"/>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MY"/>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67FE4E5B-91FA-4EA7-81DB-EE5DD7A9207B}" type="slidenum">
              <a:rPr lang="en-MY" smtClean="0"/>
              <a:t>‹#›</a:t>
            </a:fld>
            <a:endParaRPr lang="en-MY"/>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15004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4.xml"/><Relationship Id="rId7" Type="http://schemas.openxmlformats.org/officeDocument/2006/relationships/image" Target="../media/image14.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3.png"/><Relationship Id="rId5" Type="http://schemas.openxmlformats.org/officeDocument/2006/relationships/notesSlide" Target="../notesSlides/notesSlide6.xml"/><Relationship Id="rId10" Type="http://schemas.openxmlformats.org/officeDocument/2006/relationships/image" Target="../media/image17.png"/><Relationship Id="rId4" Type="http://schemas.openxmlformats.org/officeDocument/2006/relationships/slideLayout" Target="../slideLayouts/slideLayout7.xml"/><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notesSlide" Target="../notesSlides/notesSlide8.xml"/><Relationship Id="rId7" Type="http://schemas.openxmlformats.org/officeDocument/2006/relationships/image" Target="../media/image24.png"/><Relationship Id="rId2" Type="http://schemas.openxmlformats.org/officeDocument/2006/relationships/slideLayout" Target="../slideLayouts/slideLayout7.xml"/><Relationship Id="rId1" Type="http://schemas.openxmlformats.org/officeDocument/2006/relationships/tags" Target="../tags/tag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11.xml"/><Relationship Id="rId7" Type="http://schemas.openxmlformats.org/officeDocument/2006/relationships/image" Target="../media/image36.png"/><Relationship Id="rId2" Type="http://schemas.openxmlformats.org/officeDocument/2006/relationships/slideLayout" Target="../slideLayouts/slideLayout7.xml"/><Relationship Id="rId1" Type="http://schemas.openxmlformats.org/officeDocument/2006/relationships/tags" Target="../tags/tag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7.png"/></Relationships>
</file>

<file path=ppt/slides/_rels/slide1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1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4.png"/></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58.png"/><Relationship Id="rId4" Type="http://schemas.openxmlformats.org/officeDocument/2006/relationships/image" Target="../media/image57.png"/></Relationships>
</file>

<file path=ppt/slides/_rels/slide1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67.png"/><Relationship Id="rId4" Type="http://schemas.openxmlformats.org/officeDocument/2006/relationships/image" Target="../media/image66.png"/></Relationships>
</file>

<file path=ppt/slides/_rels/slide21.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2.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65.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s>
</file>

<file path=ppt/slides/_rels/slide2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85.png"/><Relationship Id="rId4" Type="http://schemas.openxmlformats.org/officeDocument/2006/relationships/image" Target="../media/image84.png"/></Relationships>
</file>

<file path=ppt/slides/_rels/slide2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88.png"/><Relationship Id="rId4" Type="http://schemas.openxmlformats.org/officeDocument/2006/relationships/image" Target="../media/image87.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D5FC8-A169-86D9-3A29-09415B0316DE}"/>
              </a:ext>
            </a:extLst>
          </p:cNvPr>
          <p:cNvSpPr>
            <a:spLocks noGrp="1"/>
          </p:cNvSpPr>
          <p:nvPr>
            <p:ph type="ctrTitle"/>
          </p:nvPr>
        </p:nvSpPr>
        <p:spPr/>
        <p:txBody>
          <a:bodyPr>
            <a:noAutofit/>
          </a:bodyPr>
          <a:lstStyle/>
          <a:p>
            <a:r>
              <a:rPr lang="en-US" sz="6000" dirty="0"/>
              <a:t>Machine learning techniques for molecular electrodynamic simulations in real time</a:t>
            </a:r>
            <a:endParaRPr lang="en-MY" sz="6000" dirty="0"/>
          </a:p>
        </p:txBody>
      </p:sp>
      <p:sp>
        <p:nvSpPr>
          <p:cNvPr id="3" name="Subtitle 2">
            <a:extLst>
              <a:ext uri="{FF2B5EF4-FFF2-40B4-BE49-F238E27FC236}">
                <a16:creationId xmlns:a16="http://schemas.microsoft.com/office/drawing/2014/main" id="{A729F188-8432-8A7A-811F-9EDC14769BAE}"/>
              </a:ext>
            </a:extLst>
          </p:cNvPr>
          <p:cNvSpPr>
            <a:spLocks noGrp="1"/>
          </p:cNvSpPr>
          <p:nvPr>
            <p:ph type="subTitle" idx="1"/>
          </p:nvPr>
        </p:nvSpPr>
        <p:spPr/>
        <p:txBody>
          <a:bodyPr>
            <a:normAutofit fontScale="85000" lnSpcReduction="20000"/>
          </a:bodyPr>
          <a:lstStyle/>
          <a:p>
            <a:r>
              <a:rPr lang="en-MY" dirty="0"/>
              <a:t>Candidate: Siow jia sheng (TCCM)</a:t>
            </a:r>
          </a:p>
          <a:p>
            <a:r>
              <a:rPr lang="it-IT" dirty="0"/>
              <a:t>Relatore : Prof.ssa Paola Belanzoni </a:t>
            </a:r>
          </a:p>
          <a:p>
            <a:r>
              <a:rPr lang="it-IT" dirty="0"/>
              <a:t>Correlatori : Dott. Leonardo Belpassi</a:t>
            </a:r>
            <a:endParaRPr lang="en-MY" dirty="0"/>
          </a:p>
        </p:txBody>
      </p:sp>
      <p:pic>
        <p:nvPicPr>
          <p:cNvPr id="5" name="Picture 4">
            <a:extLst>
              <a:ext uri="{FF2B5EF4-FFF2-40B4-BE49-F238E27FC236}">
                <a16:creationId xmlns:a16="http://schemas.microsoft.com/office/drawing/2014/main" id="{819F9924-5987-46B9-BCD8-B9F6BEC8FB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210670"/>
            <a:ext cx="1340223" cy="1340223"/>
          </a:xfrm>
          <a:prstGeom prst="rect">
            <a:avLst/>
          </a:prstGeom>
        </p:spPr>
      </p:pic>
    </p:spTree>
    <p:extLst>
      <p:ext uri="{BB962C8B-B14F-4D97-AF65-F5344CB8AC3E}">
        <p14:creationId xmlns:p14="http://schemas.microsoft.com/office/powerpoint/2010/main" val="2514969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1CFFD-068E-8DB5-483E-9B2440723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C6F0FF-6F78-6F3E-F095-591E04CF72E5}"/>
              </a:ext>
            </a:extLst>
          </p:cNvPr>
          <p:cNvSpPr txBox="1">
            <a:spLocks/>
          </p:cNvSpPr>
          <p:nvPr/>
        </p:nvSpPr>
        <p:spPr>
          <a:xfrm>
            <a:off x="658368" y="420715"/>
            <a:ext cx="4255008" cy="859445"/>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MY" dirty="0"/>
              <a:t>Outline</a:t>
            </a:r>
          </a:p>
        </p:txBody>
      </p:sp>
    </p:spTree>
    <p:extLst>
      <p:ext uri="{BB962C8B-B14F-4D97-AF65-F5344CB8AC3E}">
        <p14:creationId xmlns:p14="http://schemas.microsoft.com/office/powerpoint/2010/main" val="374332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EBB7A-C533-2D9E-3BD9-4BB71A595A25}"/>
              </a:ext>
            </a:extLst>
          </p:cNvPr>
          <p:cNvSpPr txBox="1">
            <a:spLocks/>
          </p:cNvSpPr>
          <p:nvPr/>
        </p:nvSpPr>
        <p:spPr>
          <a:xfrm>
            <a:off x="1097280" y="286603"/>
            <a:ext cx="10058400" cy="14507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MY" dirty="0"/>
              <a:t>Application of real-time methods</a:t>
            </a:r>
          </a:p>
        </p:txBody>
      </p:sp>
      <p:sp>
        <p:nvSpPr>
          <p:cNvPr id="5" name="TextBox 4">
            <a:extLst>
              <a:ext uri="{FF2B5EF4-FFF2-40B4-BE49-F238E27FC236}">
                <a16:creationId xmlns:a16="http://schemas.microsoft.com/office/drawing/2014/main" id="{B9658B37-C034-35BF-46B9-AB0980E99361}"/>
              </a:ext>
            </a:extLst>
          </p:cNvPr>
          <p:cNvSpPr txBox="1"/>
          <p:nvPr/>
        </p:nvSpPr>
        <p:spPr>
          <a:xfrm>
            <a:off x="9137544" y="1069619"/>
            <a:ext cx="2625328" cy="369332"/>
          </a:xfrm>
          <a:prstGeom prst="rect">
            <a:avLst/>
          </a:prstGeom>
          <a:noFill/>
        </p:spPr>
        <p:txBody>
          <a:bodyPr wrap="square">
            <a:spAutoFit/>
          </a:bodyPr>
          <a:lstStyle/>
          <a:p>
            <a:r>
              <a:rPr lang="en-MY" dirty="0"/>
              <a:t>Nonlinear properties</a:t>
            </a:r>
          </a:p>
        </p:txBody>
      </p:sp>
      <p:sp>
        <p:nvSpPr>
          <p:cNvPr id="9" name="TextBox 8">
            <a:extLst>
              <a:ext uri="{FF2B5EF4-FFF2-40B4-BE49-F238E27FC236}">
                <a16:creationId xmlns:a16="http://schemas.microsoft.com/office/drawing/2014/main" id="{C40EF99A-1665-A844-0984-23188DFEE9E1}"/>
              </a:ext>
            </a:extLst>
          </p:cNvPr>
          <p:cNvSpPr txBox="1"/>
          <p:nvPr/>
        </p:nvSpPr>
        <p:spPr>
          <a:xfrm>
            <a:off x="4590216" y="1168048"/>
            <a:ext cx="3554015" cy="369332"/>
          </a:xfrm>
          <a:prstGeom prst="rect">
            <a:avLst/>
          </a:prstGeom>
          <a:noFill/>
        </p:spPr>
        <p:txBody>
          <a:bodyPr wrap="square">
            <a:spAutoFit/>
          </a:bodyPr>
          <a:lstStyle/>
          <a:p>
            <a:r>
              <a:rPr lang="en-MY" dirty="0"/>
              <a:t>X-ray Absorption Spectroscopy</a:t>
            </a:r>
          </a:p>
        </p:txBody>
      </p:sp>
      <p:sp>
        <p:nvSpPr>
          <p:cNvPr id="11" name="TextBox 10">
            <a:extLst>
              <a:ext uri="{FF2B5EF4-FFF2-40B4-BE49-F238E27FC236}">
                <a16:creationId xmlns:a16="http://schemas.microsoft.com/office/drawing/2014/main" id="{71062E76-4BF0-3070-0D4E-0B710C3A9BDD}"/>
              </a:ext>
            </a:extLst>
          </p:cNvPr>
          <p:cNvSpPr txBox="1"/>
          <p:nvPr/>
        </p:nvSpPr>
        <p:spPr>
          <a:xfrm>
            <a:off x="1543793" y="1069619"/>
            <a:ext cx="2825352" cy="369332"/>
          </a:xfrm>
          <a:prstGeom prst="rect">
            <a:avLst/>
          </a:prstGeom>
          <a:noFill/>
        </p:spPr>
        <p:txBody>
          <a:bodyPr wrap="square">
            <a:spAutoFit/>
          </a:bodyPr>
          <a:lstStyle/>
          <a:p>
            <a:r>
              <a:rPr lang="en-MY" dirty="0"/>
              <a:t> UV / Vis Spectroscopy</a:t>
            </a:r>
          </a:p>
        </p:txBody>
      </p:sp>
      <p:pic>
        <p:nvPicPr>
          <p:cNvPr id="13" name="Picture 12">
            <a:extLst>
              <a:ext uri="{FF2B5EF4-FFF2-40B4-BE49-F238E27FC236}">
                <a16:creationId xmlns:a16="http://schemas.microsoft.com/office/drawing/2014/main" id="{883BC2AA-6273-65D1-92A1-4BCE25783E4E}"/>
              </a:ext>
            </a:extLst>
          </p:cNvPr>
          <p:cNvPicPr>
            <a:picLocks noChangeAspect="1"/>
          </p:cNvPicPr>
          <p:nvPr/>
        </p:nvPicPr>
        <p:blipFill>
          <a:blip r:embed="rId3"/>
          <a:stretch>
            <a:fillRect/>
          </a:stretch>
        </p:blipFill>
        <p:spPr>
          <a:xfrm>
            <a:off x="513313" y="2116617"/>
            <a:ext cx="3718882" cy="3063505"/>
          </a:xfrm>
          <a:prstGeom prst="rect">
            <a:avLst/>
          </a:prstGeom>
        </p:spPr>
      </p:pic>
      <p:pic>
        <p:nvPicPr>
          <p:cNvPr id="15" name="Picture 14">
            <a:extLst>
              <a:ext uri="{FF2B5EF4-FFF2-40B4-BE49-F238E27FC236}">
                <a16:creationId xmlns:a16="http://schemas.microsoft.com/office/drawing/2014/main" id="{5F51BBA7-EC04-2B7F-6165-51E2382A2398}"/>
              </a:ext>
            </a:extLst>
          </p:cNvPr>
          <p:cNvPicPr>
            <a:picLocks noChangeAspect="1"/>
          </p:cNvPicPr>
          <p:nvPr/>
        </p:nvPicPr>
        <p:blipFill>
          <a:blip r:embed="rId4"/>
          <a:stretch>
            <a:fillRect/>
          </a:stretch>
        </p:blipFill>
        <p:spPr>
          <a:xfrm>
            <a:off x="949721" y="1478034"/>
            <a:ext cx="3429297" cy="769687"/>
          </a:xfrm>
          <a:prstGeom prst="rect">
            <a:avLst/>
          </a:prstGeom>
        </p:spPr>
      </p:pic>
      <p:sp>
        <p:nvSpPr>
          <p:cNvPr id="16" name="TextBox 15">
            <a:extLst>
              <a:ext uri="{FF2B5EF4-FFF2-40B4-BE49-F238E27FC236}">
                <a16:creationId xmlns:a16="http://schemas.microsoft.com/office/drawing/2014/main" id="{D574C0C5-F1AB-3168-EC45-6D7CE38852DF}"/>
              </a:ext>
            </a:extLst>
          </p:cNvPr>
          <p:cNvSpPr txBox="1"/>
          <p:nvPr/>
        </p:nvSpPr>
        <p:spPr>
          <a:xfrm>
            <a:off x="513313" y="5049018"/>
            <a:ext cx="3550687" cy="1077218"/>
          </a:xfrm>
          <a:prstGeom prst="rect">
            <a:avLst/>
          </a:prstGeom>
          <a:noFill/>
        </p:spPr>
        <p:txBody>
          <a:bodyPr wrap="square">
            <a:spAutoFit/>
          </a:bodyPr>
          <a:lstStyle/>
          <a:p>
            <a:pPr marL="285750" indent="-285750" algn="just">
              <a:buFont typeface="Arial" panose="020B0604020202020204" pitchFamily="34" charset="0"/>
              <a:buChar char="•"/>
            </a:pPr>
            <a:r>
              <a:rPr lang="en-MY" sz="1600" dirty="0"/>
              <a:t>Simulate linear UV-vis absorption spectrum</a:t>
            </a:r>
          </a:p>
          <a:p>
            <a:pPr marL="285750" indent="-285750" algn="just">
              <a:buFont typeface="Arial" panose="020B0604020202020204" pitchFamily="34" charset="0"/>
              <a:buChar char="•"/>
            </a:pPr>
            <a:r>
              <a:rPr lang="en-US" sz="1600" dirty="0"/>
              <a:t>much wider spectral range. </a:t>
            </a:r>
          </a:p>
          <a:p>
            <a:pPr marL="285750" indent="-285750" algn="just">
              <a:buFont typeface="Arial" panose="020B0604020202020204" pitchFamily="34" charset="0"/>
              <a:buChar char="•"/>
            </a:pPr>
            <a:r>
              <a:rPr lang="en-US" sz="1600" dirty="0"/>
              <a:t>Long simulation</a:t>
            </a:r>
            <a:endParaRPr lang="en-MY" sz="1600" dirty="0"/>
          </a:p>
        </p:txBody>
      </p:sp>
      <p:pic>
        <p:nvPicPr>
          <p:cNvPr id="18" name="Picture 17">
            <a:extLst>
              <a:ext uri="{FF2B5EF4-FFF2-40B4-BE49-F238E27FC236}">
                <a16:creationId xmlns:a16="http://schemas.microsoft.com/office/drawing/2014/main" id="{5731F7C6-8511-D375-7C35-E83F27BC32AA}"/>
              </a:ext>
            </a:extLst>
          </p:cNvPr>
          <p:cNvPicPr>
            <a:picLocks noChangeAspect="1"/>
          </p:cNvPicPr>
          <p:nvPr/>
        </p:nvPicPr>
        <p:blipFill>
          <a:blip r:embed="rId5"/>
          <a:stretch>
            <a:fillRect/>
          </a:stretch>
        </p:blipFill>
        <p:spPr>
          <a:xfrm>
            <a:off x="4531418" y="1767212"/>
            <a:ext cx="3505504" cy="3101609"/>
          </a:xfrm>
          <a:prstGeom prst="rect">
            <a:avLst/>
          </a:prstGeom>
        </p:spPr>
      </p:pic>
      <p:sp>
        <p:nvSpPr>
          <p:cNvPr id="20" name="TextBox 19">
            <a:extLst>
              <a:ext uri="{FF2B5EF4-FFF2-40B4-BE49-F238E27FC236}">
                <a16:creationId xmlns:a16="http://schemas.microsoft.com/office/drawing/2014/main" id="{8A28873D-23B7-3495-3905-7484BDE4E715}"/>
              </a:ext>
            </a:extLst>
          </p:cNvPr>
          <p:cNvSpPr txBox="1"/>
          <p:nvPr/>
        </p:nvSpPr>
        <p:spPr>
          <a:xfrm>
            <a:off x="4343797" y="6386731"/>
            <a:ext cx="4046855" cy="461665"/>
          </a:xfrm>
          <a:prstGeom prst="rect">
            <a:avLst/>
          </a:prstGeom>
          <a:noFill/>
        </p:spPr>
        <p:txBody>
          <a:bodyPr wrap="square">
            <a:spAutoFit/>
          </a:bodyPr>
          <a:lstStyle/>
          <a:p>
            <a:r>
              <a:rPr lang="en-US" sz="1200" dirty="0"/>
              <a:t>Joseph M. Kasper, Journal of Chemical Theory and Computation 2018 14 (4), 1998-2006</a:t>
            </a:r>
            <a:endParaRPr lang="en-MY" sz="1200" dirty="0"/>
          </a:p>
        </p:txBody>
      </p:sp>
      <p:sp>
        <p:nvSpPr>
          <p:cNvPr id="22" name="TextBox 21">
            <a:extLst>
              <a:ext uri="{FF2B5EF4-FFF2-40B4-BE49-F238E27FC236}">
                <a16:creationId xmlns:a16="http://schemas.microsoft.com/office/drawing/2014/main" id="{AFB2E1FC-1694-A0D7-BE4E-3C1E70EA8FE0}"/>
              </a:ext>
            </a:extLst>
          </p:cNvPr>
          <p:cNvSpPr txBox="1"/>
          <p:nvPr/>
        </p:nvSpPr>
        <p:spPr>
          <a:xfrm>
            <a:off x="140097" y="6386731"/>
            <a:ext cx="4068048" cy="461665"/>
          </a:xfrm>
          <a:prstGeom prst="rect">
            <a:avLst/>
          </a:prstGeom>
          <a:noFill/>
        </p:spPr>
        <p:txBody>
          <a:bodyPr wrap="square">
            <a:spAutoFit/>
          </a:bodyPr>
          <a:lstStyle/>
          <a:p>
            <a:r>
              <a:rPr lang="en-US" sz="1200" dirty="0"/>
              <a:t>Samat </a:t>
            </a:r>
            <a:r>
              <a:rPr lang="en-US" sz="1200" dirty="0" err="1"/>
              <a:t>Tussupbayeva</a:t>
            </a:r>
            <a:r>
              <a:rPr lang="en-US" sz="1200" dirty="0"/>
              <a:t>, Journal of Chemical Theory and Computation 2015 11 (3), 1102-1109</a:t>
            </a:r>
            <a:endParaRPr lang="en-MY" sz="1200" dirty="0"/>
          </a:p>
        </p:txBody>
      </p:sp>
      <p:sp>
        <p:nvSpPr>
          <p:cNvPr id="23" name="TextBox 22">
            <a:extLst>
              <a:ext uri="{FF2B5EF4-FFF2-40B4-BE49-F238E27FC236}">
                <a16:creationId xmlns:a16="http://schemas.microsoft.com/office/drawing/2014/main" id="{5356CEB4-1E7E-98C8-7AA3-801F4C3CF3A1}"/>
              </a:ext>
            </a:extLst>
          </p:cNvPr>
          <p:cNvSpPr txBox="1"/>
          <p:nvPr/>
        </p:nvSpPr>
        <p:spPr>
          <a:xfrm>
            <a:off x="4486235" y="4836484"/>
            <a:ext cx="3550687" cy="1323439"/>
          </a:xfrm>
          <a:prstGeom prst="rect">
            <a:avLst/>
          </a:prstGeom>
          <a:noFill/>
        </p:spPr>
        <p:txBody>
          <a:bodyPr wrap="square">
            <a:spAutoFit/>
          </a:bodyPr>
          <a:lstStyle/>
          <a:p>
            <a:pPr marL="285750" indent="-285750" algn="just">
              <a:buFont typeface="Arial" panose="020B0604020202020204" pitchFamily="34" charset="0"/>
              <a:buChar char="•"/>
            </a:pPr>
            <a:r>
              <a:rPr lang="en-MY" sz="1600" dirty="0"/>
              <a:t>Two-component relativistic RT-TDDFT modelled L</a:t>
            </a:r>
            <a:r>
              <a:rPr lang="en-MY" sz="1600" baseline="-25000" dirty="0"/>
              <a:t>2,3</a:t>
            </a:r>
            <a:r>
              <a:rPr lang="en-MY" sz="1600" dirty="0"/>
              <a:t> absorption edges for SiCl</a:t>
            </a:r>
            <a:r>
              <a:rPr lang="en-MY" sz="1600" baseline="-25000" dirty="0"/>
              <a:t>4</a:t>
            </a:r>
            <a:r>
              <a:rPr lang="en-MY" sz="1600" dirty="0"/>
              <a:t> </a:t>
            </a:r>
          </a:p>
          <a:p>
            <a:pPr marL="285750" indent="-285750" algn="just">
              <a:buFont typeface="Arial" panose="020B0604020202020204" pitchFamily="34" charset="0"/>
              <a:buChar char="•"/>
            </a:pPr>
            <a:endParaRPr lang="en-MY" sz="1600" dirty="0"/>
          </a:p>
          <a:p>
            <a:pPr marL="285750" indent="-285750" algn="just">
              <a:buFont typeface="Arial" panose="020B0604020202020204" pitchFamily="34" charset="0"/>
              <a:buChar char="•"/>
            </a:pPr>
            <a:endParaRPr lang="en-MY" sz="1600" dirty="0"/>
          </a:p>
        </p:txBody>
      </p:sp>
      <p:pic>
        <p:nvPicPr>
          <p:cNvPr id="25" name="Picture 24">
            <a:extLst>
              <a:ext uri="{FF2B5EF4-FFF2-40B4-BE49-F238E27FC236}">
                <a16:creationId xmlns:a16="http://schemas.microsoft.com/office/drawing/2014/main" id="{E0E742C8-8F1C-7A38-9366-5C4BF91468ED}"/>
              </a:ext>
            </a:extLst>
          </p:cNvPr>
          <p:cNvPicPr>
            <a:picLocks noChangeAspect="1"/>
          </p:cNvPicPr>
          <p:nvPr/>
        </p:nvPicPr>
        <p:blipFill>
          <a:blip r:embed="rId6"/>
          <a:stretch>
            <a:fillRect/>
          </a:stretch>
        </p:blipFill>
        <p:spPr>
          <a:xfrm>
            <a:off x="8227533" y="1757406"/>
            <a:ext cx="3837467" cy="2736911"/>
          </a:xfrm>
          <a:prstGeom prst="rect">
            <a:avLst/>
          </a:prstGeom>
        </p:spPr>
      </p:pic>
      <p:sp>
        <p:nvSpPr>
          <p:cNvPr id="26" name="TextBox 25">
            <a:extLst>
              <a:ext uri="{FF2B5EF4-FFF2-40B4-BE49-F238E27FC236}">
                <a16:creationId xmlns:a16="http://schemas.microsoft.com/office/drawing/2014/main" id="{63FEDFAA-143C-F23A-5083-FCA46DF5258F}"/>
              </a:ext>
            </a:extLst>
          </p:cNvPr>
          <p:cNvSpPr txBox="1"/>
          <p:nvPr/>
        </p:nvSpPr>
        <p:spPr>
          <a:xfrm>
            <a:off x="8366431" y="4700561"/>
            <a:ext cx="3550687" cy="2062103"/>
          </a:xfrm>
          <a:prstGeom prst="rect">
            <a:avLst/>
          </a:prstGeom>
          <a:noFill/>
        </p:spPr>
        <p:txBody>
          <a:bodyPr wrap="square">
            <a:spAutoFit/>
          </a:bodyPr>
          <a:lstStyle/>
          <a:p>
            <a:pPr marL="285750" indent="-285750" algn="just">
              <a:buFont typeface="Arial" panose="020B0604020202020204" pitchFamily="34" charset="0"/>
              <a:buChar char="•"/>
            </a:pPr>
            <a:r>
              <a:rPr lang="en-MY" sz="1600" dirty="0"/>
              <a:t>Time-evolution 1</a:t>
            </a:r>
            <a:r>
              <a:rPr lang="en-MY" sz="1600" baseline="30000" dirty="0"/>
              <a:t>st</a:t>
            </a:r>
            <a:r>
              <a:rPr lang="en-MY" sz="1600" dirty="0"/>
              <a:t>, 2</a:t>
            </a:r>
            <a:r>
              <a:rPr lang="en-MY" sz="1600" baseline="30000" dirty="0"/>
              <a:t>nd</a:t>
            </a:r>
            <a:r>
              <a:rPr lang="en-MY" sz="1600" dirty="0"/>
              <a:t>, 3</a:t>
            </a:r>
            <a:r>
              <a:rPr lang="en-MY" sz="1600" baseline="30000" dirty="0"/>
              <a:t>rd-</a:t>
            </a:r>
            <a:r>
              <a:rPr lang="en-MY" sz="1600" dirty="0"/>
              <a:t>order responses </a:t>
            </a:r>
            <a:r>
              <a:rPr lang="en-MY" sz="1600" dirty="0" err="1"/>
              <a:t>BeH</a:t>
            </a:r>
            <a:r>
              <a:rPr lang="en-MY" sz="1600" dirty="0"/>
              <a:t> modelled with TD-CIS 6-31+G* basis sets</a:t>
            </a:r>
          </a:p>
          <a:p>
            <a:pPr marL="285750" indent="-285750" algn="just">
              <a:buFont typeface="Arial" panose="020B0604020202020204" pitchFamily="34" charset="0"/>
              <a:buChar char="•"/>
            </a:pPr>
            <a:r>
              <a:rPr lang="en-MY" sz="1600" dirty="0"/>
              <a:t>Dipole responses agree with real-time signals and response theory</a:t>
            </a:r>
          </a:p>
          <a:p>
            <a:pPr marL="285750" indent="-285750" algn="just">
              <a:buFont typeface="Arial" panose="020B0604020202020204" pitchFamily="34" charset="0"/>
              <a:buChar char="•"/>
            </a:pPr>
            <a:endParaRPr lang="en-MY" sz="1600" dirty="0"/>
          </a:p>
          <a:p>
            <a:pPr marL="285750" indent="-285750" algn="just">
              <a:buFont typeface="Arial" panose="020B0604020202020204" pitchFamily="34" charset="0"/>
              <a:buChar char="•"/>
            </a:pPr>
            <a:endParaRPr lang="en-MY" sz="1600" dirty="0"/>
          </a:p>
          <a:p>
            <a:pPr marL="285750" indent="-285750" algn="just">
              <a:buFont typeface="Arial" panose="020B0604020202020204" pitchFamily="34" charset="0"/>
              <a:buChar char="•"/>
            </a:pPr>
            <a:endParaRPr lang="en-MY" sz="1600" dirty="0"/>
          </a:p>
        </p:txBody>
      </p:sp>
      <p:sp>
        <p:nvSpPr>
          <p:cNvPr id="28" name="TextBox 27">
            <a:extLst>
              <a:ext uri="{FF2B5EF4-FFF2-40B4-BE49-F238E27FC236}">
                <a16:creationId xmlns:a16="http://schemas.microsoft.com/office/drawing/2014/main" id="{34D393BF-3C9D-D61D-F241-499F11BEB6D9}"/>
              </a:ext>
            </a:extLst>
          </p:cNvPr>
          <p:cNvSpPr txBox="1"/>
          <p:nvPr/>
        </p:nvSpPr>
        <p:spPr>
          <a:xfrm>
            <a:off x="8085147" y="2055815"/>
            <a:ext cx="501996" cy="276999"/>
          </a:xfrm>
          <a:prstGeom prst="rect">
            <a:avLst/>
          </a:prstGeom>
          <a:noFill/>
        </p:spPr>
        <p:txBody>
          <a:bodyPr wrap="square">
            <a:spAutoFit/>
          </a:bodyPr>
          <a:lstStyle/>
          <a:p>
            <a:pPr algn="just"/>
            <a:r>
              <a:rPr lang="en-MY" sz="1200" dirty="0"/>
              <a:t>(1)</a:t>
            </a:r>
          </a:p>
        </p:txBody>
      </p:sp>
      <p:sp>
        <p:nvSpPr>
          <p:cNvPr id="29" name="TextBox 28">
            <a:extLst>
              <a:ext uri="{FF2B5EF4-FFF2-40B4-BE49-F238E27FC236}">
                <a16:creationId xmlns:a16="http://schemas.microsoft.com/office/drawing/2014/main" id="{9A15CA3F-4ED4-64D4-4A7F-067B9BE3380B}"/>
              </a:ext>
            </a:extLst>
          </p:cNvPr>
          <p:cNvSpPr txBox="1"/>
          <p:nvPr/>
        </p:nvSpPr>
        <p:spPr>
          <a:xfrm>
            <a:off x="8036922" y="2835971"/>
            <a:ext cx="501996" cy="276999"/>
          </a:xfrm>
          <a:prstGeom prst="rect">
            <a:avLst/>
          </a:prstGeom>
          <a:noFill/>
        </p:spPr>
        <p:txBody>
          <a:bodyPr wrap="square">
            <a:spAutoFit/>
          </a:bodyPr>
          <a:lstStyle/>
          <a:p>
            <a:pPr algn="just"/>
            <a:r>
              <a:rPr lang="en-MY" sz="1200" dirty="0"/>
              <a:t>(2)</a:t>
            </a:r>
          </a:p>
        </p:txBody>
      </p:sp>
      <p:sp>
        <p:nvSpPr>
          <p:cNvPr id="30" name="TextBox 29">
            <a:extLst>
              <a:ext uri="{FF2B5EF4-FFF2-40B4-BE49-F238E27FC236}">
                <a16:creationId xmlns:a16="http://schemas.microsoft.com/office/drawing/2014/main" id="{77BF94AE-067D-7603-3231-6494B7544528}"/>
              </a:ext>
            </a:extLst>
          </p:cNvPr>
          <p:cNvSpPr txBox="1"/>
          <p:nvPr/>
        </p:nvSpPr>
        <p:spPr>
          <a:xfrm>
            <a:off x="8053694" y="3629774"/>
            <a:ext cx="501996" cy="276999"/>
          </a:xfrm>
          <a:prstGeom prst="rect">
            <a:avLst/>
          </a:prstGeom>
          <a:noFill/>
        </p:spPr>
        <p:txBody>
          <a:bodyPr wrap="square">
            <a:spAutoFit/>
          </a:bodyPr>
          <a:lstStyle/>
          <a:p>
            <a:pPr algn="just"/>
            <a:r>
              <a:rPr lang="en-MY" sz="1200" dirty="0"/>
              <a:t>(3)</a:t>
            </a:r>
          </a:p>
        </p:txBody>
      </p:sp>
      <p:sp>
        <p:nvSpPr>
          <p:cNvPr id="33" name="TextBox 32">
            <a:extLst>
              <a:ext uri="{FF2B5EF4-FFF2-40B4-BE49-F238E27FC236}">
                <a16:creationId xmlns:a16="http://schemas.microsoft.com/office/drawing/2014/main" id="{375ACDB8-CF26-07B1-3308-2C48EC472275}"/>
              </a:ext>
            </a:extLst>
          </p:cNvPr>
          <p:cNvSpPr txBox="1"/>
          <p:nvPr/>
        </p:nvSpPr>
        <p:spPr>
          <a:xfrm>
            <a:off x="8085147" y="6386731"/>
            <a:ext cx="4206249" cy="430887"/>
          </a:xfrm>
          <a:prstGeom prst="rect">
            <a:avLst/>
          </a:prstGeom>
          <a:noFill/>
        </p:spPr>
        <p:txBody>
          <a:bodyPr wrap="square">
            <a:spAutoFit/>
          </a:bodyPr>
          <a:lstStyle/>
          <a:p>
            <a:r>
              <a:rPr lang="en-MY" sz="1100" dirty="0"/>
              <a:t>Patrick J. Lestrange, Mark R. Hoffmann, </a:t>
            </a:r>
            <a:r>
              <a:rPr lang="en-MY" sz="1100" dirty="0" err="1"/>
              <a:t>Xiaosong</a:t>
            </a:r>
            <a:r>
              <a:rPr lang="en-MY" sz="1100" dirty="0"/>
              <a:t> Li,</a:t>
            </a:r>
            <a:r>
              <a:rPr lang="en-US" sz="1100" dirty="0"/>
              <a:t> Advances in Quantum </a:t>
            </a:r>
            <a:r>
              <a:rPr lang="en-US" sz="1100" dirty="0" err="1"/>
              <a:t>Chemistry,Academic</a:t>
            </a:r>
            <a:r>
              <a:rPr lang="en-US" sz="1100" dirty="0"/>
              <a:t> </a:t>
            </a:r>
            <a:r>
              <a:rPr lang="en-US" sz="1100" dirty="0" err="1"/>
              <a:t>Press,Volume</a:t>
            </a:r>
            <a:r>
              <a:rPr lang="en-US" sz="1100" dirty="0"/>
              <a:t> 76,2018</a:t>
            </a:r>
            <a:endParaRPr lang="en-MY" sz="1100" dirty="0"/>
          </a:p>
        </p:txBody>
      </p:sp>
    </p:spTree>
    <p:extLst>
      <p:ext uri="{BB962C8B-B14F-4D97-AF65-F5344CB8AC3E}">
        <p14:creationId xmlns:p14="http://schemas.microsoft.com/office/powerpoint/2010/main" val="2859798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FD767-CA3B-8235-859E-AB3AE22629CE}"/>
              </a:ext>
            </a:extLst>
          </p:cNvPr>
          <p:cNvSpPr txBox="1">
            <a:spLocks/>
          </p:cNvSpPr>
          <p:nvPr/>
        </p:nvSpPr>
        <p:spPr>
          <a:xfrm>
            <a:off x="715975" y="254978"/>
            <a:ext cx="5718312" cy="676258"/>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MY" dirty="0"/>
              <a:t>Problem statement</a:t>
            </a:r>
          </a:p>
        </p:txBody>
      </p:sp>
      <p:sp>
        <p:nvSpPr>
          <p:cNvPr id="20" name="Content Placeholder 2">
            <a:extLst>
              <a:ext uri="{FF2B5EF4-FFF2-40B4-BE49-F238E27FC236}">
                <a16:creationId xmlns:a16="http://schemas.microsoft.com/office/drawing/2014/main" id="{44BEA33A-855C-7922-3E7A-FC380D4C5C89}"/>
              </a:ext>
            </a:extLst>
          </p:cNvPr>
          <p:cNvSpPr txBox="1">
            <a:spLocks/>
          </p:cNvSpPr>
          <p:nvPr/>
        </p:nvSpPr>
        <p:spPr>
          <a:xfrm>
            <a:off x="760351" y="2560884"/>
            <a:ext cx="3677123" cy="764031"/>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MY" sz="2800" dirty="0"/>
              <a:t>RT simulation + ML</a:t>
            </a:r>
          </a:p>
        </p:txBody>
      </p:sp>
      <p:pic>
        <p:nvPicPr>
          <p:cNvPr id="21" name="Picture 20">
            <a:extLst>
              <a:ext uri="{FF2B5EF4-FFF2-40B4-BE49-F238E27FC236}">
                <a16:creationId xmlns:a16="http://schemas.microsoft.com/office/drawing/2014/main" id="{683BB166-FFC2-54EC-63F2-59BC46D3CA83}"/>
              </a:ext>
            </a:extLst>
          </p:cNvPr>
          <p:cNvPicPr>
            <a:picLocks noChangeAspect="1"/>
          </p:cNvPicPr>
          <p:nvPr/>
        </p:nvPicPr>
        <p:blipFill>
          <a:blip r:embed="rId3"/>
          <a:stretch>
            <a:fillRect/>
          </a:stretch>
        </p:blipFill>
        <p:spPr>
          <a:xfrm>
            <a:off x="6655819" y="2538461"/>
            <a:ext cx="4972648" cy="3516483"/>
          </a:xfrm>
          <a:prstGeom prst="rect">
            <a:avLst/>
          </a:prstGeom>
        </p:spPr>
      </p:pic>
      <p:pic>
        <p:nvPicPr>
          <p:cNvPr id="22" name="Content Placeholder 3">
            <a:extLst>
              <a:ext uri="{FF2B5EF4-FFF2-40B4-BE49-F238E27FC236}">
                <a16:creationId xmlns:a16="http://schemas.microsoft.com/office/drawing/2014/main" id="{87DF1BAF-42E3-F5AF-9EB9-E3A27C7C5E36}"/>
              </a:ext>
            </a:extLst>
          </p:cNvPr>
          <p:cNvPicPr>
            <a:picLocks noChangeAspect="1"/>
          </p:cNvPicPr>
          <p:nvPr/>
        </p:nvPicPr>
        <p:blipFill>
          <a:blip r:embed="rId4"/>
          <a:srcRect b="23803"/>
          <a:stretch/>
        </p:blipFill>
        <p:spPr>
          <a:xfrm>
            <a:off x="6917872" y="286603"/>
            <a:ext cx="5114176" cy="2356466"/>
          </a:xfrm>
          <a:prstGeom prst="rect">
            <a:avLst/>
          </a:prstGeom>
        </p:spPr>
      </p:pic>
      <p:sp>
        <p:nvSpPr>
          <p:cNvPr id="3" name="Arrow: Down 2">
            <a:extLst>
              <a:ext uri="{FF2B5EF4-FFF2-40B4-BE49-F238E27FC236}">
                <a16:creationId xmlns:a16="http://schemas.microsoft.com/office/drawing/2014/main" id="{5131C432-63EE-BB54-080A-C154605692CA}"/>
              </a:ext>
            </a:extLst>
          </p:cNvPr>
          <p:cNvSpPr/>
          <p:nvPr/>
        </p:nvSpPr>
        <p:spPr>
          <a:xfrm>
            <a:off x="7885043" y="552950"/>
            <a:ext cx="384314" cy="67586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TextBox 4">
            <a:extLst>
              <a:ext uri="{FF2B5EF4-FFF2-40B4-BE49-F238E27FC236}">
                <a16:creationId xmlns:a16="http://schemas.microsoft.com/office/drawing/2014/main" id="{D9ED20E8-6635-4964-BC36-2A2322A164D9}"/>
              </a:ext>
            </a:extLst>
          </p:cNvPr>
          <p:cNvSpPr txBox="1"/>
          <p:nvPr/>
        </p:nvSpPr>
        <p:spPr>
          <a:xfrm>
            <a:off x="858318" y="4862230"/>
            <a:ext cx="1655596" cy="400110"/>
          </a:xfrm>
          <a:prstGeom prst="rect">
            <a:avLst/>
          </a:prstGeom>
          <a:noFill/>
        </p:spPr>
        <p:txBody>
          <a:bodyPr wrap="square">
            <a:spAutoFit/>
          </a:bodyPr>
          <a:lstStyle/>
          <a:p>
            <a:r>
              <a:rPr lang="en-MY" sz="2000" dirty="0"/>
              <a:t>Fock matrix </a:t>
            </a:r>
          </a:p>
        </p:txBody>
      </p:sp>
      <p:sp>
        <p:nvSpPr>
          <p:cNvPr id="7" name="TextBox 6">
            <a:extLst>
              <a:ext uri="{FF2B5EF4-FFF2-40B4-BE49-F238E27FC236}">
                <a16:creationId xmlns:a16="http://schemas.microsoft.com/office/drawing/2014/main" id="{4BFB0EFE-898C-541C-70E4-D47D1F2D6582}"/>
              </a:ext>
            </a:extLst>
          </p:cNvPr>
          <p:cNvSpPr txBox="1"/>
          <p:nvPr/>
        </p:nvSpPr>
        <p:spPr>
          <a:xfrm>
            <a:off x="3343349" y="4862230"/>
            <a:ext cx="1921565" cy="400110"/>
          </a:xfrm>
          <a:prstGeom prst="rect">
            <a:avLst/>
          </a:prstGeom>
          <a:noFill/>
        </p:spPr>
        <p:txBody>
          <a:bodyPr wrap="square">
            <a:spAutoFit/>
          </a:bodyPr>
          <a:lstStyle/>
          <a:p>
            <a:r>
              <a:rPr lang="en-MY" sz="2000" dirty="0"/>
              <a:t>Density matrix</a:t>
            </a:r>
          </a:p>
        </p:txBody>
      </p:sp>
      <p:cxnSp>
        <p:nvCxnSpPr>
          <p:cNvPr id="9" name="Straight Arrow Connector 8">
            <a:extLst>
              <a:ext uri="{FF2B5EF4-FFF2-40B4-BE49-F238E27FC236}">
                <a16:creationId xmlns:a16="http://schemas.microsoft.com/office/drawing/2014/main" id="{03006DC8-20DF-10B2-7392-523BF4CBB208}"/>
              </a:ext>
            </a:extLst>
          </p:cNvPr>
          <p:cNvCxnSpPr>
            <a:stCxn id="5" idx="3"/>
          </p:cNvCxnSpPr>
          <p:nvPr/>
        </p:nvCxnSpPr>
        <p:spPr>
          <a:xfrm flipV="1">
            <a:off x="2513914" y="5046896"/>
            <a:ext cx="615616" cy="1538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5BE6876-01A7-7847-A9A6-8A535B0555CA}"/>
              </a:ext>
            </a:extLst>
          </p:cNvPr>
          <p:cNvSpPr txBox="1"/>
          <p:nvPr/>
        </p:nvSpPr>
        <p:spPr>
          <a:xfrm>
            <a:off x="2642802" y="4585231"/>
            <a:ext cx="593638" cy="400110"/>
          </a:xfrm>
          <a:prstGeom prst="rect">
            <a:avLst/>
          </a:prstGeom>
          <a:noFill/>
        </p:spPr>
        <p:txBody>
          <a:bodyPr wrap="square">
            <a:spAutoFit/>
          </a:bodyPr>
          <a:lstStyle/>
          <a:p>
            <a:r>
              <a:rPr lang="en-MY" sz="2000" dirty="0"/>
              <a:t>?</a:t>
            </a:r>
          </a:p>
        </p:txBody>
      </p:sp>
      <p:sp>
        <p:nvSpPr>
          <p:cNvPr id="12" name="TextBox 11">
            <a:extLst>
              <a:ext uri="{FF2B5EF4-FFF2-40B4-BE49-F238E27FC236}">
                <a16:creationId xmlns:a16="http://schemas.microsoft.com/office/drawing/2014/main" id="{7C0CAEB0-1CC6-9732-CDB6-8C5A291D32ED}"/>
              </a:ext>
            </a:extLst>
          </p:cNvPr>
          <p:cNvSpPr txBox="1"/>
          <p:nvPr/>
        </p:nvSpPr>
        <p:spPr>
          <a:xfrm>
            <a:off x="840903" y="3755018"/>
            <a:ext cx="1378226" cy="400110"/>
          </a:xfrm>
          <a:prstGeom prst="rect">
            <a:avLst/>
          </a:prstGeom>
          <a:noFill/>
        </p:spPr>
        <p:txBody>
          <a:bodyPr wrap="square">
            <a:spAutoFit/>
          </a:bodyPr>
          <a:lstStyle/>
          <a:p>
            <a:r>
              <a:rPr lang="en-MY" sz="2000" dirty="0"/>
              <a:t>RT-TDHF</a:t>
            </a:r>
          </a:p>
        </p:txBody>
      </p:sp>
      <p:pic>
        <p:nvPicPr>
          <p:cNvPr id="13" name="Picture 12">
            <a:extLst>
              <a:ext uri="{FF2B5EF4-FFF2-40B4-BE49-F238E27FC236}">
                <a16:creationId xmlns:a16="http://schemas.microsoft.com/office/drawing/2014/main" id="{622261F0-74A0-3DD1-3E1A-686DF79FC970}"/>
              </a:ext>
            </a:extLst>
          </p:cNvPr>
          <p:cNvPicPr>
            <a:picLocks noChangeAspect="1"/>
          </p:cNvPicPr>
          <p:nvPr/>
        </p:nvPicPr>
        <p:blipFill>
          <a:blip r:embed="rId5"/>
          <a:stretch>
            <a:fillRect/>
          </a:stretch>
        </p:blipFill>
        <p:spPr>
          <a:xfrm>
            <a:off x="3260188" y="1124477"/>
            <a:ext cx="512347" cy="512347"/>
          </a:xfrm>
          <a:prstGeom prst="rect">
            <a:avLst/>
          </a:prstGeom>
        </p:spPr>
      </p:pic>
      <p:sp>
        <p:nvSpPr>
          <p:cNvPr id="15" name="TextBox 14">
            <a:extLst>
              <a:ext uri="{FF2B5EF4-FFF2-40B4-BE49-F238E27FC236}">
                <a16:creationId xmlns:a16="http://schemas.microsoft.com/office/drawing/2014/main" id="{69F7862E-F8EF-3F22-D1CE-6CF08532AB2D}"/>
              </a:ext>
            </a:extLst>
          </p:cNvPr>
          <p:cNvSpPr txBox="1"/>
          <p:nvPr/>
        </p:nvSpPr>
        <p:spPr>
          <a:xfrm>
            <a:off x="836373" y="1185685"/>
            <a:ext cx="1762539" cy="400110"/>
          </a:xfrm>
          <a:prstGeom prst="rect">
            <a:avLst/>
          </a:prstGeom>
          <a:noFill/>
        </p:spPr>
        <p:txBody>
          <a:bodyPr wrap="square">
            <a:spAutoFit/>
          </a:bodyPr>
          <a:lstStyle/>
          <a:p>
            <a:r>
              <a:rPr lang="en-MY" sz="2000" dirty="0"/>
              <a:t>RT simulation </a:t>
            </a:r>
          </a:p>
        </p:txBody>
      </p:sp>
      <p:sp>
        <p:nvSpPr>
          <p:cNvPr id="17" name="TextBox 16">
            <a:extLst>
              <a:ext uri="{FF2B5EF4-FFF2-40B4-BE49-F238E27FC236}">
                <a16:creationId xmlns:a16="http://schemas.microsoft.com/office/drawing/2014/main" id="{B2E96A53-10C3-CBEF-CDDF-BA92CCE0D0A9}"/>
              </a:ext>
            </a:extLst>
          </p:cNvPr>
          <p:cNvSpPr txBox="1"/>
          <p:nvPr/>
        </p:nvSpPr>
        <p:spPr>
          <a:xfrm>
            <a:off x="836373" y="1830065"/>
            <a:ext cx="2240838" cy="400110"/>
          </a:xfrm>
          <a:prstGeom prst="rect">
            <a:avLst/>
          </a:prstGeom>
          <a:noFill/>
        </p:spPr>
        <p:txBody>
          <a:bodyPr wrap="square">
            <a:spAutoFit/>
          </a:bodyPr>
          <a:lstStyle/>
          <a:p>
            <a:r>
              <a:rPr lang="en-MY" sz="2000" dirty="0"/>
              <a:t>Machine learning</a:t>
            </a:r>
          </a:p>
        </p:txBody>
      </p:sp>
      <p:pic>
        <p:nvPicPr>
          <p:cNvPr id="18" name="Picture 17">
            <a:extLst>
              <a:ext uri="{FF2B5EF4-FFF2-40B4-BE49-F238E27FC236}">
                <a16:creationId xmlns:a16="http://schemas.microsoft.com/office/drawing/2014/main" id="{5FAE7292-095D-D3C3-33F7-703FF10E4927}"/>
              </a:ext>
            </a:extLst>
          </p:cNvPr>
          <p:cNvPicPr>
            <a:picLocks noChangeAspect="1"/>
          </p:cNvPicPr>
          <p:nvPr/>
        </p:nvPicPr>
        <p:blipFill>
          <a:blip r:embed="rId5"/>
          <a:stretch>
            <a:fillRect/>
          </a:stretch>
        </p:blipFill>
        <p:spPr>
          <a:xfrm>
            <a:off x="3260189" y="1767368"/>
            <a:ext cx="512347" cy="512347"/>
          </a:xfrm>
          <a:prstGeom prst="rect">
            <a:avLst/>
          </a:prstGeom>
        </p:spPr>
      </p:pic>
      <p:grpSp>
        <p:nvGrpSpPr>
          <p:cNvPr id="26" name="Group 25">
            <a:extLst>
              <a:ext uri="{FF2B5EF4-FFF2-40B4-BE49-F238E27FC236}">
                <a16:creationId xmlns:a16="http://schemas.microsoft.com/office/drawing/2014/main" id="{BB7BAA4E-027E-C8F0-0D88-090AB741648B}"/>
              </a:ext>
            </a:extLst>
          </p:cNvPr>
          <p:cNvGrpSpPr/>
          <p:nvPr/>
        </p:nvGrpSpPr>
        <p:grpSpPr>
          <a:xfrm>
            <a:off x="4248945" y="2527415"/>
            <a:ext cx="548341" cy="560341"/>
            <a:chOff x="3736501" y="3954043"/>
            <a:chExt cx="759171" cy="714868"/>
          </a:xfrm>
        </p:grpSpPr>
        <p:sp>
          <p:nvSpPr>
            <p:cNvPr id="25" name="Rectangle: Rounded Corners 24">
              <a:extLst>
                <a:ext uri="{FF2B5EF4-FFF2-40B4-BE49-F238E27FC236}">
                  <a16:creationId xmlns:a16="http://schemas.microsoft.com/office/drawing/2014/main" id="{1595E219-B037-F4A6-C275-A9DCDF76EBA9}"/>
                </a:ext>
              </a:extLst>
            </p:cNvPr>
            <p:cNvSpPr/>
            <p:nvPr/>
          </p:nvSpPr>
          <p:spPr>
            <a:xfrm>
              <a:off x="3736501" y="3954043"/>
              <a:ext cx="759171" cy="703324"/>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24" name="Picture 23">
              <a:extLst>
                <a:ext uri="{FF2B5EF4-FFF2-40B4-BE49-F238E27FC236}">
                  <a16:creationId xmlns:a16="http://schemas.microsoft.com/office/drawing/2014/main" id="{0E1D4FB2-27FA-2F7F-C8FC-2BFD4DBE0BD6}"/>
                </a:ext>
              </a:extLst>
            </p:cNvPr>
            <p:cNvPicPr>
              <a:picLocks noChangeAspect="1"/>
            </p:cNvPicPr>
            <p:nvPr/>
          </p:nvPicPr>
          <p:blipFill>
            <a:blip r:embed="rId6"/>
            <a:stretch>
              <a:fillRect/>
            </a:stretch>
          </p:blipFill>
          <p:spPr>
            <a:xfrm>
              <a:off x="3777957" y="3992653"/>
              <a:ext cx="676258" cy="676258"/>
            </a:xfrm>
            <a:prstGeom prst="rect">
              <a:avLst/>
            </a:prstGeom>
          </p:spPr>
        </p:pic>
      </p:grpSp>
      <p:cxnSp>
        <p:nvCxnSpPr>
          <p:cNvPr id="28" name="Straight Arrow Connector 27">
            <a:extLst>
              <a:ext uri="{FF2B5EF4-FFF2-40B4-BE49-F238E27FC236}">
                <a16:creationId xmlns:a16="http://schemas.microsoft.com/office/drawing/2014/main" id="{98E48878-C22C-688C-3B25-11E51695276D}"/>
              </a:ext>
            </a:extLst>
          </p:cNvPr>
          <p:cNvCxnSpPr/>
          <p:nvPr/>
        </p:nvCxnSpPr>
        <p:spPr>
          <a:xfrm>
            <a:off x="1285461" y="3180522"/>
            <a:ext cx="0" cy="574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D166C2C-D2D1-3AD4-78B0-D0935DA43D2F}"/>
              </a:ext>
            </a:extLst>
          </p:cNvPr>
          <p:cNvSpPr txBox="1"/>
          <p:nvPr/>
        </p:nvSpPr>
        <p:spPr>
          <a:xfrm>
            <a:off x="3077211" y="3762549"/>
            <a:ext cx="1672857" cy="400110"/>
          </a:xfrm>
          <a:prstGeom prst="rect">
            <a:avLst/>
          </a:prstGeom>
          <a:noFill/>
        </p:spPr>
        <p:txBody>
          <a:bodyPr wrap="square">
            <a:spAutoFit/>
          </a:bodyPr>
          <a:lstStyle/>
          <a:p>
            <a:r>
              <a:rPr lang="en-MY" sz="2000" dirty="0"/>
              <a:t>Supervised</a:t>
            </a:r>
          </a:p>
        </p:txBody>
      </p:sp>
      <p:cxnSp>
        <p:nvCxnSpPr>
          <p:cNvPr id="6" name="Straight Arrow Connector 5">
            <a:extLst>
              <a:ext uri="{FF2B5EF4-FFF2-40B4-BE49-F238E27FC236}">
                <a16:creationId xmlns:a16="http://schemas.microsoft.com/office/drawing/2014/main" id="{CF334968-F2D2-2ADA-FC7D-87E6FA3C24C0}"/>
              </a:ext>
            </a:extLst>
          </p:cNvPr>
          <p:cNvCxnSpPr/>
          <p:nvPr/>
        </p:nvCxnSpPr>
        <p:spPr>
          <a:xfrm>
            <a:off x="3726085" y="3042479"/>
            <a:ext cx="0" cy="5744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9991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D9451-0558-E25C-DFBB-E44C232B0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C359F-42DE-875C-FBE6-D4B8CDA977F9}"/>
              </a:ext>
            </a:extLst>
          </p:cNvPr>
          <p:cNvSpPr txBox="1">
            <a:spLocks/>
          </p:cNvSpPr>
          <p:nvPr/>
        </p:nvSpPr>
        <p:spPr>
          <a:xfrm>
            <a:off x="543433" y="123689"/>
            <a:ext cx="5552567" cy="869539"/>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MY" dirty="0"/>
              <a:t>Current studies</a:t>
            </a:r>
          </a:p>
        </p:txBody>
      </p:sp>
      <p:sp>
        <p:nvSpPr>
          <p:cNvPr id="4" name="TextBox 3">
            <a:extLst>
              <a:ext uri="{FF2B5EF4-FFF2-40B4-BE49-F238E27FC236}">
                <a16:creationId xmlns:a16="http://schemas.microsoft.com/office/drawing/2014/main" id="{B94F35C0-5CFE-B3E4-ABC0-F8C84F6D4A9C}"/>
              </a:ext>
            </a:extLst>
          </p:cNvPr>
          <p:cNvSpPr txBox="1"/>
          <p:nvPr/>
        </p:nvSpPr>
        <p:spPr>
          <a:xfrm>
            <a:off x="586710" y="1036514"/>
            <a:ext cx="6096000" cy="1200329"/>
          </a:xfrm>
          <a:prstGeom prst="rect">
            <a:avLst/>
          </a:prstGeom>
          <a:noFill/>
        </p:spPr>
        <p:txBody>
          <a:bodyPr wrap="square">
            <a:spAutoFit/>
          </a:bodyPr>
          <a:lstStyle/>
          <a:p>
            <a:pPr marL="285750" indent="-285750">
              <a:buFont typeface="Arial" panose="020B0604020202020204" pitchFamily="34" charset="0"/>
              <a:buChar char="•"/>
            </a:pPr>
            <a:r>
              <a:rPr lang="en-MY" dirty="0"/>
              <a:t>Computational method to lean molecular Hamiltonian matrix (H</a:t>
            </a:r>
            <a:r>
              <a:rPr lang="en-MY" baseline="-25000" dirty="0"/>
              <a:t>2, </a:t>
            </a:r>
            <a:r>
              <a:rPr lang="en-MY" dirty="0" err="1"/>
              <a:t>HeH</a:t>
            </a:r>
            <a:r>
              <a:rPr lang="en-MY" dirty="0"/>
              <a:t>+, </a:t>
            </a:r>
            <a:r>
              <a:rPr lang="en-MY" dirty="0" err="1"/>
              <a:t>LiH</a:t>
            </a:r>
            <a:r>
              <a:rPr lang="en-MY" dirty="0"/>
              <a:t>)</a:t>
            </a:r>
          </a:p>
          <a:p>
            <a:pPr marL="285750" indent="-285750">
              <a:buFont typeface="Arial" panose="020B0604020202020204" pitchFamily="34" charset="0"/>
              <a:buChar char="•"/>
            </a:pPr>
            <a:r>
              <a:rPr lang="en-MY" dirty="0"/>
              <a:t>Accurate results – 1000 time steps beyond</a:t>
            </a:r>
          </a:p>
          <a:p>
            <a:pPr marL="285750" indent="-285750">
              <a:buFont typeface="Arial" panose="020B0604020202020204" pitchFamily="34" charset="0"/>
              <a:buChar char="•"/>
            </a:pPr>
            <a:endParaRPr lang="en-MY" dirty="0"/>
          </a:p>
        </p:txBody>
      </p:sp>
      <p:pic>
        <p:nvPicPr>
          <p:cNvPr id="5" name="Picture 4">
            <a:extLst>
              <a:ext uri="{FF2B5EF4-FFF2-40B4-BE49-F238E27FC236}">
                <a16:creationId xmlns:a16="http://schemas.microsoft.com/office/drawing/2014/main" id="{831C4B09-9343-4DE3-F5FB-C9E834379770}"/>
              </a:ext>
            </a:extLst>
          </p:cNvPr>
          <p:cNvPicPr>
            <a:picLocks noChangeAspect="1"/>
          </p:cNvPicPr>
          <p:nvPr/>
        </p:nvPicPr>
        <p:blipFill>
          <a:blip r:embed="rId4"/>
          <a:stretch>
            <a:fillRect/>
          </a:stretch>
        </p:blipFill>
        <p:spPr>
          <a:xfrm>
            <a:off x="677176" y="3253943"/>
            <a:ext cx="7517604" cy="2551465"/>
          </a:xfrm>
          <a:prstGeom prst="rect">
            <a:avLst/>
          </a:prstGeom>
        </p:spPr>
      </p:pic>
      <p:sp>
        <p:nvSpPr>
          <p:cNvPr id="6" name="TextBox 5">
            <a:extLst>
              <a:ext uri="{FF2B5EF4-FFF2-40B4-BE49-F238E27FC236}">
                <a16:creationId xmlns:a16="http://schemas.microsoft.com/office/drawing/2014/main" id="{91D7CCB7-90F8-F470-D944-5D08E6D287A6}"/>
              </a:ext>
            </a:extLst>
          </p:cNvPr>
          <p:cNvSpPr txBox="1"/>
          <p:nvPr/>
        </p:nvSpPr>
        <p:spPr>
          <a:xfrm>
            <a:off x="1530591" y="6396335"/>
            <a:ext cx="4310816" cy="461665"/>
          </a:xfrm>
          <a:prstGeom prst="rect">
            <a:avLst/>
          </a:prstGeom>
          <a:noFill/>
        </p:spPr>
        <p:txBody>
          <a:bodyPr wrap="square">
            <a:spAutoFit/>
          </a:bodyPr>
          <a:lstStyle/>
          <a:p>
            <a:r>
              <a:rPr lang="en-US" sz="1200" b="0" i="1" dirty="0">
                <a:solidFill>
                  <a:srgbClr val="222222"/>
                </a:solidFill>
                <a:effectLst/>
                <a:latin typeface="Merriweather Sans" pitchFamily="2" charset="0"/>
              </a:rPr>
              <a:t>Bhat, H.S. - Machine learning a molecular Hamiltonian for predicting electron dynamics. </a:t>
            </a:r>
            <a:endParaRPr lang="en-MY" sz="1200" i="1" dirty="0"/>
          </a:p>
        </p:txBody>
      </p:sp>
      <p:sp>
        <p:nvSpPr>
          <p:cNvPr id="7" name="TextBox 6">
            <a:extLst>
              <a:ext uri="{FF2B5EF4-FFF2-40B4-BE49-F238E27FC236}">
                <a16:creationId xmlns:a16="http://schemas.microsoft.com/office/drawing/2014/main" id="{28FCC28A-5A25-B091-A628-64B6791A8596}"/>
              </a:ext>
            </a:extLst>
          </p:cNvPr>
          <p:cNvSpPr txBox="1"/>
          <p:nvPr/>
        </p:nvSpPr>
        <p:spPr>
          <a:xfrm>
            <a:off x="2933140" y="5821486"/>
            <a:ext cx="3162860" cy="369332"/>
          </a:xfrm>
          <a:prstGeom prst="rect">
            <a:avLst/>
          </a:prstGeom>
          <a:noFill/>
        </p:spPr>
        <p:txBody>
          <a:bodyPr wrap="square">
            <a:spAutoFit/>
          </a:bodyPr>
          <a:lstStyle/>
          <a:p>
            <a:r>
              <a:rPr lang="en-US" dirty="0" err="1"/>
              <a:t>LiH</a:t>
            </a:r>
            <a:r>
              <a:rPr lang="en-US" dirty="0"/>
              <a:t> propagation with no field</a:t>
            </a:r>
            <a:endParaRPr lang="en-MY" dirty="0"/>
          </a:p>
        </p:txBody>
      </p:sp>
      <p:sp>
        <p:nvSpPr>
          <p:cNvPr id="9" name="TextBox 8">
            <a:extLst>
              <a:ext uri="{FF2B5EF4-FFF2-40B4-BE49-F238E27FC236}">
                <a16:creationId xmlns:a16="http://schemas.microsoft.com/office/drawing/2014/main" id="{525B1386-23DB-2BC7-3FD1-9545EDEF118E}"/>
              </a:ext>
            </a:extLst>
          </p:cNvPr>
          <p:cNvSpPr txBox="1"/>
          <p:nvPr/>
        </p:nvSpPr>
        <p:spPr>
          <a:xfrm>
            <a:off x="8729540" y="4343133"/>
            <a:ext cx="3278209" cy="1663019"/>
          </a:xfrm>
          <a:prstGeom prst="rect">
            <a:avLst/>
          </a:prstGeom>
          <a:noFill/>
        </p:spPr>
        <p:txBody>
          <a:bodyPr wrap="square">
            <a:spAutoFit/>
          </a:bodyPr>
          <a:lstStyle/>
          <a:p>
            <a:r>
              <a:rPr lang="en-US" dirty="0"/>
              <a:t>Drawback:</a:t>
            </a:r>
          </a:p>
          <a:p>
            <a:pPr marL="285750" indent="-285750">
              <a:lnSpc>
                <a:spcPct val="115000"/>
              </a:lnSpc>
              <a:spcAft>
                <a:spcPts val="800"/>
              </a:spcAft>
              <a:buFont typeface="Arial" panose="020B0604020202020204" pitchFamily="34" charset="0"/>
              <a:buChar char="•"/>
            </a:pPr>
            <a:r>
              <a:rPr lang="en-US" dirty="0"/>
              <a:t>Parameter    scaling as basis size </a:t>
            </a:r>
            <a:r>
              <a:rPr lang="en-MY" sz="1800" kern="100" dirty="0">
                <a:effectLst/>
                <a:latin typeface="Times New Roman" panose="02020603050405020304" pitchFamily="18" charset="0"/>
                <a:ea typeface="DengXian" panose="02010600030101010101" pitchFamily="2" charset="-122"/>
              </a:rPr>
              <a:t>K</a:t>
            </a:r>
            <a:r>
              <a:rPr lang="en-MY" sz="1800" kern="100" baseline="30000" dirty="0">
                <a:effectLst/>
                <a:latin typeface="Times New Roman" panose="02020603050405020304" pitchFamily="18" charset="0"/>
                <a:ea typeface="DengXian" panose="02010600030101010101" pitchFamily="2" charset="-122"/>
              </a:rPr>
              <a:t>4</a:t>
            </a:r>
            <a:endParaRPr lang="en-MY" sz="1800" kern="100" dirty="0">
              <a:effectLst/>
              <a:latin typeface="Times New Roman" panose="02020603050405020304" pitchFamily="18" charset="0"/>
              <a:ea typeface="DengXian" panose="02010600030101010101" pitchFamily="2" charset="-122"/>
            </a:endParaRPr>
          </a:p>
          <a:p>
            <a:pPr marL="285750" indent="-285750">
              <a:buFont typeface="Arial" panose="020B0604020202020204" pitchFamily="34" charset="0"/>
              <a:buChar char="•"/>
            </a:pPr>
            <a:r>
              <a:rPr lang="en-US" dirty="0"/>
              <a:t>Storing 2 electron integrals</a:t>
            </a:r>
          </a:p>
          <a:p>
            <a:r>
              <a:rPr lang="en-US" dirty="0"/>
              <a:t> </a:t>
            </a:r>
            <a:endParaRPr lang="en-MY" dirty="0"/>
          </a:p>
        </p:txBody>
      </p:sp>
      <p:pic>
        <p:nvPicPr>
          <p:cNvPr id="10" name="Picture 9" descr="\documentclass{article}&#10;\usepackage{amsmath}&#10;\pagestyle{empty}&#10;\begin{document}&#10;&#10;$\beta$&#10;&#10;&#10;\end{document}" title="IguanaTex Picture Display">
            <a:extLst>
              <a:ext uri="{FF2B5EF4-FFF2-40B4-BE49-F238E27FC236}">
                <a16:creationId xmlns:a16="http://schemas.microsoft.com/office/drawing/2014/main" id="{DE6A0938-43B5-7126-4BCB-53AB9CB21D40}"/>
              </a:ext>
            </a:extLst>
          </p:cNvPr>
          <p:cNvPicPr>
            <a:picLocks noChangeAspect="1"/>
          </p:cNvPicPr>
          <p:nvPr>
            <p:custDataLst>
              <p:tags r:id="rId1"/>
            </p:custDataLst>
          </p:nvPr>
        </p:nvPicPr>
        <p:blipFill>
          <a:blip r:embed="rId5">
            <a:extLst>
              <a:ext uri="{28A0092B-C50C-407E-A947-70E740481C1C}">
                <a14:useLocalDpi xmlns:a14="http://schemas.microsoft.com/office/drawing/2010/main" val="0"/>
              </a:ext>
            </a:extLst>
          </a:blip>
          <a:stretch>
            <a:fillRect/>
          </a:stretch>
        </p:blipFill>
        <p:spPr>
          <a:xfrm>
            <a:off x="10166332" y="4616259"/>
            <a:ext cx="140190" cy="228571"/>
          </a:xfrm>
          <a:prstGeom prst="rect">
            <a:avLst/>
          </a:prstGeom>
        </p:spPr>
      </p:pic>
      <p:pic>
        <p:nvPicPr>
          <p:cNvPr id="11" name="Picture 10">
            <a:extLst>
              <a:ext uri="{FF2B5EF4-FFF2-40B4-BE49-F238E27FC236}">
                <a16:creationId xmlns:a16="http://schemas.microsoft.com/office/drawing/2014/main" id="{CF28E38E-DB53-A562-95B3-BE653917389A}"/>
              </a:ext>
            </a:extLst>
          </p:cNvPr>
          <p:cNvPicPr>
            <a:picLocks noChangeAspect="1"/>
          </p:cNvPicPr>
          <p:nvPr/>
        </p:nvPicPr>
        <p:blipFill>
          <a:blip r:embed="rId6"/>
          <a:srcRect r="6997"/>
          <a:stretch/>
        </p:blipFill>
        <p:spPr>
          <a:xfrm>
            <a:off x="6991042" y="1122732"/>
            <a:ext cx="2191734" cy="1454483"/>
          </a:xfrm>
          <a:prstGeom prst="rect">
            <a:avLst/>
          </a:prstGeom>
          <a:ln>
            <a:solidFill>
              <a:schemeClr val="accent1"/>
            </a:solidFill>
          </a:ln>
        </p:spPr>
      </p:pic>
      <p:sp>
        <p:nvSpPr>
          <p:cNvPr id="12" name="Oval 11">
            <a:extLst>
              <a:ext uri="{FF2B5EF4-FFF2-40B4-BE49-F238E27FC236}">
                <a16:creationId xmlns:a16="http://schemas.microsoft.com/office/drawing/2014/main" id="{7877CA9E-6FA6-9261-8DFE-2648C5524DC6}"/>
              </a:ext>
            </a:extLst>
          </p:cNvPr>
          <p:cNvSpPr/>
          <p:nvPr/>
        </p:nvSpPr>
        <p:spPr>
          <a:xfrm>
            <a:off x="6403213" y="3554888"/>
            <a:ext cx="1175657" cy="1175657"/>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13" name="Straight Connector 12">
            <a:extLst>
              <a:ext uri="{FF2B5EF4-FFF2-40B4-BE49-F238E27FC236}">
                <a16:creationId xmlns:a16="http://schemas.microsoft.com/office/drawing/2014/main" id="{AB8E5763-73CE-8620-7835-B41A2504A685}"/>
              </a:ext>
            </a:extLst>
          </p:cNvPr>
          <p:cNvCxnSpPr>
            <a:stCxn id="12" idx="7"/>
            <a:endCxn id="11" idx="2"/>
          </p:cNvCxnSpPr>
          <p:nvPr/>
        </p:nvCxnSpPr>
        <p:spPr>
          <a:xfrm flipV="1">
            <a:off x="7406699" y="2577215"/>
            <a:ext cx="680210" cy="1149844"/>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6A750D7-7B70-95B0-4681-FB4C860136F6}"/>
              </a:ext>
            </a:extLst>
          </p:cNvPr>
          <p:cNvSpPr txBox="1"/>
          <p:nvPr/>
        </p:nvSpPr>
        <p:spPr>
          <a:xfrm>
            <a:off x="8613161" y="2723378"/>
            <a:ext cx="3278209" cy="923330"/>
          </a:xfrm>
          <a:prstGeom prst="rect">
            <a:avLst/>
          </a:prstGeom>
          <a:noFill/>
        </p:spPr>
        <p:txBody>
          <a:bodyPr wrap="square">
            <a:spAutoFit/>
          </a:bodyPr>
          <a:lstStyle/>
          <a:p>
            <a:r>
              <a:rPr lang="en-US" dirty="0"/>
              <a:t>Question:</a:t>
            </a:r>
          </a:p>
          <a:p>
            <a:r>
              <a:rPr lang="en-US" dirty="0"/>
              <a:t>Predicted Fock matrix? </a:t>
            </a:r>
          </a:p>
          <a:p>
            <a:r>
              <a:rPr lang="en-US" dirty="0"/>
              <a:t>ML methods? </a:t>
            </a:r>
          </a:p>
        </p:txBody>
      </p:sp>
    </p:spTree>
    <p:extLst>
      <p:ext uri="{BB962C8B-B14F-4D97-AF65-F5344CB8AC3E}">
        <p14:creationId xmlns:p14="http://schemas.microsoft.com/office/powerpoint/2010/main" val="1498003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C4F36-90D0-F2CE-4481-65A096E243B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BC4D91C-CE3D-B214-9FAD-55AE77DED0E9}"/>
              </a:ext>
            </a:extLst>
          </p:cNvPr>
          <p:cNvSpPr/>
          <p:nvPr/>
        </p:nvSpPr>
        <p:spPr>
          <a:xfrm>
            <a:off x="779296" y="1113664"/>
            <a:ext cx="3813881" cy="1773245"/>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itle 1">
            <a:extLst>
              <a:ext uri="{FF2B5EF4-FFF2-40B4-BE49-F238E27FC236}">
                <a16:creationId xmlns:a16="http://schemas.microsoft.com/office/drawing/2014/main" id="{A28ABE66-2840-11C7-4A6D-424D5C48D6E8}"/>
              </a:ext>
            </a:extLst>
          </p:cNvPr>
          <p:cNvSpPr txBox="1">
            <a:spLocks/>
          </p:cNvSpPr>
          <p:nvPr/>
        </p:nvSpPr>
        <p:spPr>
          <a:xfrm>
            <a:off x="304638" y="239253"/>
            <a:ext cx="7388934" cy="794510"/>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MY" dirty="0"/>
              <a:t>Purpose of the study</a:t>
            </a:r>
          </a:p>
        </p:txBody>
      </p:sp>
      <p:sp>
        <p:nvSpPr>
          <p:cNvPr id="4" name="TextBox 3">
            <a:extLst>
              <a:ext uri="{FF2B5EF4-FFF2-40B4-BE49-F238E27FC236}">
                <a16:creationId xmlns:a16="http://schemas.microsoft.com/office/drawing/2014/main" id="{EB4B7D26-09C9-B684-FEFE-0A9CFE6B1903}"/>
              </a:ext>
            </a:extLst>
          </p:cNvPr>
          <p:cNvSpPr txBox="1"/>
          <p:nvPr/>
        </p:nvSpPr>
        <p:spPr>
          <a:xfrm>
            <a:off x="876594" y="1052120"/>
            <a:ext cx="3619283" cy="1754326"/>
          </a:xfrm>
          <a:prstGeom prst="rect">
            <a:avLst/>
          </a:prstGeom>
          <a:noFill/>
        </p:spPr>
        <p:txBody>
          <a:bodyPr wrap="square">
            <a:spAutoFit/>
          </a:bodyPr>
          <a:lstStyle/>
          <a:p>
            <a:pPr marL="285750" indent="-285750">
              <a:buFont typeface="Arial" panose="020B0604020202020204" pitchFamily="34" charset="0"/>
              <a:buChar char="•"/>
            </a:pPr>
            <a:endParaRPr lang="en-MY" dirty="0"/>
          </a:p>
          <a:p>
            <a:pPr marL="285750" indent="-285750">
              <a:buFont typeface="Arial" panose="020B0604020202020204" pitchFamily="34" charset="0"/>
              <a:buChar char="•"/>
            </a:pPr>
            <a:r>
              <a:rPr lang="en-US" dirty="0"/>
              <a:t>Reproduce current studies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Apply to larger molecules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Reduce cost  </a:t>
            </a:r>
            <a:endParaRPr lang="en-MY" dirty="0"/>
          </a:p>
        </p:txBody>
      </p:sp>
      <p:pic>
        <p:nvPicPr>
          <p:cNvPr id="5" name="Picture 4">
            <a:extLst>
              <a:ext uri="{FF2B5EF4-FFF2-40B4-BE49-F238E27FC236}">
                <a16:creationId xmlns:a16="http://schemas.microsoft.com/office/drawing/2014/main" id="{7C2F6E73-5765-A6F9-E6E5-A592E8CB3BA2}"/>
              </a:ext>
            </a:extLst>
          </p:cNvPr>
          <p:cNvPicPr>
            <a:picLocks noChangeAspect="1"/>
          </p:cNvPicPr>
          <p:nvPr/>
        </p:nvPicPr>
        <p:blipFill>
          <a:blip r:embed="rId6"/>
          <a:stretch>
            <a:fillRect/>
          </a:stretch>
        </p:blipFill>
        <p:spPr>
          <a:xfrm>
            <a:off x="5464173" y="1210767"/>
            <a:ext cx="6022839" cy="1450757"/>
          </a:xfrm>
          <a:prstGeom prst="rect">
            <a:avLst/>
          </a:prstGeom>
        </p:spPr>
      </p:pic>
      <p:grpSp>
        <p:nvGrpSpPr>
          <p:cNvPr id="21" name="Group 20">
            <a:extLst>
              <a:ext uri="{FF2B5EF4-FFF2-40B4-BE49-F238E27FC236}">
                <a16:creationId xmlns:a16="http://schemas.microsoft.com/office/drawing/2014/main" id="{21555A95-28F5-8CB1-2551-5A32E4A28334}"/>
              </a:ext>
            </a:extLst>
          </p:cNvPr>
          <p:cNvGrpSpPr/>
          <p:nvPr/>
        </p:nvGrpSpPr>
        <p:grpSpPr>
          <a:xfrm>
            <a:off x="6915560" y="2983517"/>
            <a:ext cx="4980796" cy="2822363"/>
            <a:chOff x="797153" y="3403887"/>
            <a:chExt cx="4980796" cy="2822363"/>
          </a:xfrm>
        </p:grpSpPr>
        <p:pic>
          <p:nvPicPr>
            <p:cNvPr id="3" name="Picture 2">
              <a:extLst>
                <a:ext uri="{FF2B5EF4-FFF2-40B4-BE49-F238E27FC236}">
                  <a16:creationId xmlns:a16="http://schemas.microsoft.com/office/drawing/2014/main" id="{08630ECD-E8A8-6D36-F912-DCFBC3499DA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7153" y="3403887"/>
              <a:ext cx="4980796" cy="254363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FD1480C9-9377-CB36-3495-66029303CFB2}"/>
                </a:ext>
              </a:extLst>
            </p:cNvPr>
            <p:cNvSpPr/>
            <p:nvPr/>
          </p:nvSpPr>
          <p:spPr>
            <a:xfrm>
              <a:off x="1329840" y="3454115"/>
              <a:ext cx="2086460" cy="212118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TextBox 6">
              <a:extLst>
                <a:ext uri="{FF2B5EF4-FFF2-40B4-BE49-F238E27FC236}">
                  <a16:creationId xmlns:a16="http://schemas.microsoft.com/office/drawing/2014/main" id="{CE65B24B-ADD9-7A66-B376-FC5DCC598846}"/>
                </a:ext>
              </a:extLst>
            </p:cNvPr>
            <p:cNvSpPr txBox="1"/>
            <p:nvPr/>
          </p:nvSpPr>
          <p:spPr>
            <a:xfrm>
              <a:off x="1698548" y="5856918"/>
              <a:ext cx="1349044" cy="369332"/>
            </a:xfrm>
            <a:prstGeom prst="rect">
              <a:avLst/>
            </a:prstGeom>
            <a:noFill/>
          </p:spPr>
          <p:txBody>
            <a:bodyPr wrap="square">
              <a:spAutoFit/>
            </a:bodyPr>
            <a:lstStyle/>
            <a:p>
              <a:r>
                <a:rPr lang="en-US" dirty="0"/>
                <a:t>ML training</a:t>
              </a:r>
              <a:endParaRPr lang="en-MY" dirty="0"/>
            </a:p>
          </p:txBody>
        </p:sp>
        <p:sp>
          <p:nvSpPr>
            <p:cNvPr id="8" name="Rectangle 7">
              <a:extLst>
                <a:ext uri="{FF2B5EF4-FFF2-40B4-BE49-F238E27FC236}">
                  <a16:creationId xmlns:a16="http://schemas.microsoft.com/office/drawing/2014/main" id="{8FB193A9-EC13-DB55-6454-2747A99468E6}"/>
                </a:ext>
              </a:extLst>
            </p:cNvPr>
            <p:cNvSpPr/>
            <p:nvPr/>
          </p:nvSpPr>
          <p:spPr>
            <a:xfrm>
              <a:off x="3518125" y="3454114"/>
              <a:ext cx="2086460" cy="2121186"/>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9" name="TextBox 8">
              <a:extLst>
                <a:ext uri="{FF2B5EF4-FFF2-40B4-BE49-F238E27FC236}">
                  <a16:creationId xmlns:a16="http://schemas.microsoft.com/office/drawing/2014/main" id="{ECF328C3-14E9-4C54-D747-A58849183C8E}"/>
                </a:ext>
              </a:extLst>
            </p:cNvPr>
            <p:cNvSpPr txBox="1"/>
            <p:nvPr/>
          </p:nvSpPr>
          <p:spPr>
            <a:xfrm>
              <a:off x="3948987" y="5856918"/>
              <a:ext cx="1793952" cy="369332"/>
            </a:xfrm>
            <a:prstGeom prst="rect">
              <a:avLst/>
            </a:prstGeom>
            <a:noFill/>
          </p:spPr>
          <p:txBody>
            <a:bodyPr wrap="square">
              <a:spAutoFit/>
            </a:bodyPr>
            <a:lstStyle/>
            <a:p>
              <a:r>
                <a:rPr lang="en-US" dirty="0"/>
                <a:t>Prediction</a:t>
              </a:r>
              <a:endParaRPr lang="en-MY" dirty="0"/>
            </a:p>
          </p:txBody>
        </p:sp>
      </p:grpSp>
      <p:sp>
        <p:nvSpPr>
          <p:cNvPr id="22" name="TextBox 21">
            <a:extLst>
              <a:ext uri="{FF2B5EF4-FFF2-40B4-BE49-F238E27FC236}">
                <a16:creationId xmlns:a16="http://schemas.microsoft.com/office/drawing/2014/main" id="{A1C4FD86-E612-F8F4-7FA3-99CCC165EFCB}"/>
              </a:ext>
            </a:extLst>
          </p:cNvPr>
          <p:cNvSpPr txBox="1"/>
          <p:nvPr/>
        </p:nvSpPr>
        <p:spPr>
          <a:xfrm>
            <a:off x="2589054" y="4974883"/>
            <a:ext cx="2912383" cy="830997"/>
          </a:xfrm>
          <a:prstGeom prst="rect">
            <a:avLst/>
          </a:prstGeom>
          <a:noFill/>
        </p:spPr>
        <p:txBody>
          <a:bodyPr wrap="square">
            <a:spAutoFit/>
          </a:bodyPr>
          <a:lstStyle/>
          <a:p>
            <a:r>
              <a:rPr lang="en-MY" sz="2400" dirty="0"/>
              <a:t>Use machine learning techniques</a:t>
            </a:r>
          </a:p>
        </p:txBody>
      </p:sp>
      <p:sp>
        <p:nvSpPr>
          <p:cNvPr id="23" name="Arrow: Down 22">
            <a:extLst>
              <a:ext uri="{FF2B5EF4-FFF2-40B4-BE49-F238E27FC236}">
                <a16:creationId xmlns:a16="http://schemas.microsoft.com/office/drawing/2014/main" id="{85A4E10C-6131-15ED-8B82-7173B98E097C}"/>
              </a:ext>
            </a:extLst>
          </p:cNvPr>
          <p:cNvSpPr/>
          <p:nvPr/>
        </p:nvSpPr>
        <p:spPr>
          <a:xfrm>
            <a:off x="1154437" y="4451287"/>
            <a:ext cx="381000" cy="46166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24" name="Picture 6 2" descr="\documentclass{article}&#10;\usepackage{amsmath}&#10;\pagestyle{empty}&#10;\begin{document}&#10;&#10; \begin{equation}&#10;        \boldsymbol{U}(t + \Delta t, t_0) \approx \text{exp} &#10;        \left[  -iF \left( t + \frac{\Delta t}{2} \right) \Delta t\right]&#10;    \end{equation}&#10;&#10;&#10;&#10;\end{document}" title="IguanaTex Picture Display">
            <a:extLst>
              <a:ext uri="{FF2B5EF4-FFF2-40B4-BE49-F238E27FC236}">
                <a16:creationId xmlns:a16="http://schemas.microsoft.com/office/drawing/2014/main" id="{E868759C-20CB-78DA-179A-80FED75C80A5}"/>
              </a:ext>
            </a:extLst>
          </p:cNvPr>
          <p:cNvPicPr>
            <a:picLocks noChangeAspect="1"/>
          </p:cNvPicPr>
          <p:nvPr>
            <p:custDataLst>
              <p:tags r:id="rId1"/>
            </p:custDataLst>
          </p:nvPr>
        </p:nvPicPr>
        <p:blipFill>
          <a:blip r:embed="rId8">
            <a:extLst>
              <a:ext uri="{28A0092B-C50C-407E-A947-70E740481C1C}">
                <a14:useLocalDpi xmlns:a14="http://schemas.microsoft.com/office/drawing/2010/main" val="0"/>
              </a:ext>
            </a:extLst>
          </a:blip>
          <a:srcRect t="261" r="26631" b="-1"/>
          <a:stretch/>
        </p:blipFill>
        <p:spPr>
          <a:xfrm>
            <a:off x="779296" y="3153526"/>
            <a:ext cx="3813881" cy="553998"/>
          </a:xfrm>
          <a:prstGeom prst="rect">
            <a:avLst/>
          </a:prstGeom>
        </p:spPr>
      </p:pic>
      <p:pic>
        <p:nvPicPr>
          <p:cNvPr id="25" name="Picture 24" descr="\documentclass{article}&#10;\usepackage{amsmath}&#10;\pagestyle{empty}&#10;\begin{document}&#10;&#10;$\boldsymbol{F}(t, \boldsymbol{P}(t))$&#10;&#10;&#10;\end{document}" title="IguanaTex Picture Display">
            <a:extLst>
              <a:ext uri="{FF2B5EF4-FFF2-40B4-BE49-F238E27FC236}">
                <a16:creationId xmlns:a16="http://schemas.microsoft.com/office/drawing/2014/main" id="{F4534D3B-3877-7AA2-DE6A-145E4A72D1DA}"/>
              </a:ext>
            </a:extLst>
          </p:cNvPr>
          <p:cNvPicPr>
            <a:picLocks noChangeAspect="1"/>
          </p:cNvPicPr>
          <p:nvPr>
            <p:custDataLst>
              <p:tags r:id="rId2"/>
            </p:custDataLst>
          </p:nvPr>
        </p:nvPicPr>
        <p:blipFill>
          <a:blip r:embed="rId9">
            <a:extLst>
              <a:ext uri="{28A0092B-C50C-407E-A947-70E740481C1C}">
                <a14:useLocalDpi xmlns:a14="http://schemas.microsoft.com/office/drawing/2010/main" val="0"/>
              </a:ext>
            </a:extLst>
          </a:blip>
          <a:stretch>
            <a:fillRect/>
          </a:stretch>
        </p:blipFill>
        <p:spPr>
          <a:xfrm>
            <a:off x="779296" y="3930194"/>
            <a:ext cx="1092572" cy="254476"/>
          </a:xfrm>
          <a:prstGeom prst="rect">
            <a:avLst/>
          </a:prstGeom>
        </p:spPr>
      </p:pic>
      <p:sp>
        <p:nvSpPr>
          <p:cNvPr id="28" name="Multiplication Sign 27">
            <a:extLst>
              <a:ext uri="{FF2B5EF4-FFF2-40B4-BE49-F238E27FC236}">
                <a16:creationId xmlns:a16="http://schemas.microsoft.com/office/drawing/2014/main" id="{B50F4110-E0E1-AFAA-CA1B-422F382077B3}"/>
              </a:ext>
            </a:extLst>
          </p:cNvPr>
          <p:cNvSpPr/>
          <p:nvPr/>
        </p:nvSpPr>
        <p:spPr>
          <a:xfrm>
            <a:off x="647469" y="3430525"/>
            <a:ext cx="1343378" cy="1228028"/>
          </a:xfrm>
          <a:prstGeom prst="mathMultiply">
            <a:avLst>
              <a:gd name="adj1" fmla="val 3296"/>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29" name="Picture 28" descr="\documentclass{article}&#10;\usepackage{amsmath}&#10;\pagestyle{empty}&#10;\begin{document}&#10;&#10;$\boldsymbol{\tilde{F}}(t, \boldsymbol{\tilde{P}}(t))$&#10;&#10;&#10;\end{document}" title="IguanaTex Picture Display">
            <a:extLst>
              <a:ext uri="{FF2B5EF4-FFF2-40B4-BE49-F238E27FC236}">
                <a16:creationId xmlns:a16="http://schemas.microsoft.com/office/drawing/2014/main" id="{4F8EA128-C95E-5F32-066F-0173C7D69F4F}"/>
              </a:ext>
            </a:extLst>
          </p:cNvPr>
          <p:cNvPicPr>
            <a:picLocks noChangeAspect="1"/>
          </p:cNvPicPr>
          <p:nvPr>
            <p:custDataLst>
              <p:tags r:id="rId3"/>
            </p:custDataLst>
          </p:nvPr>
        </p:nvPicPr>
        <p:blipFill>
          <a:blip r:embed="rId10">
            <a:extLst>
              <a:ext uri="{28A0092B-C50C-407E-A947-70E740481C1C}">
                <a14:useLocalDpi xmlns:a14="http://schemas.microsoft.com/office/drawing/2010/main" val="0"/>
              </a:ext>
            </a:extLst>
          </a:blip>
          <a:stretch>
            <a:fillRect/>
          </a:stretch>
        </p:blipFill>
        <p:spPr>
          <a:xfrm>
            <a:off x="898275" y="5055622"/>
            <a:ext cx="1092572" cy="300190"/>
          </a:xfrm>
          <a:prstGeom prst="rect">
            <a:avLst/>
          </a:prstGeom>
        </p:spPr>
      </p:pic>
      <p:sp>
        <p:nvSpPr>
          <p:cNvPr id="30" name="Arrow: Down 29">
            <a:extLst>
              <a:ext uri="{FF2B5EF4-FFF2-40B4-BE49-F238E27FC236}">
                <a16:creationId xmlns:a16="http://schemas.microsoft.com/office/drawing/2014/main" id="{8ADCEC1D-7C13-84C3-2C99-B7A7CB83DB89}"/>
              </a:ext>
            </a:extLst>
          </p:cNvPr>
          <p:cNvSpPr/>
          <p:nvPr/>
        </p:nvSpPr>
        <p:spPr>
          <a:xfrm rot="16200000">
            <a:off x="2192732" y="5086362"/>
            <a:ext cx="194437" cy="238709"/>
          </a:xfrm>
          <a:prstGeom prst="down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34227881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115B2-0C24-3719-E79F-0CB2E0F2F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C8C235-8B59-4C1F-0CA7-6A755CE933E1}"/>
              </a:ext>
            </a:extLst>
          </p:cNvPr>
          <p:cNvSpPr>
            <a:spLocks noGrp="1"/>
          </p:cNvSpPr>
          <p:nvPr>
            <p:ph type="title" idx="4294967295"/>
          </p:nvPr>
        </p:nvSpPr>
        <p:spPr>
          <a:xfrm>
            <a:off x="804492" y="0"/>
            <a:ext cx="4667250" cy="1044797"/>
          </a:xfrm>
        </p:spPr>
        <p:txBody>
          <a:bodyPr/>
          <a:lstStyle/>
          <a:p>
            <a:r>
              <a:rPr lang="en-MY" dirty="0"/>
              <a:t>Methodology</a:t>
            </a:r>
          </a:p>
        </p:txBody>
      </p:sp>
      <p:sp>
        <p:nvSpPr>
          <p:cNvPr id="3" name="Content Placeholder 2">
            <a:extLst>
              <a:ext uri="{FF2B5EF4-FFF2-40B4-BE49-F238E27FC236}">
                <a16:creationId xmlns:a16="http://schemas.microsoft.com/office/drawing/2014/main" id="{0D56585B-EF9E-33F2-6E30-06990E3457CD}"/>
              </a:ext>
            </a:extLst>
          </p:cNvPr>
          <p:cNvSpPr>
            <a:spLocks noGrp="1"/>
          </p:cNvSpPr>
          <p:nvPr>
            <p:ph idx="4294967295"/>
          </p:nvPr>
        </p:nvSpPr>
        <p:spPr>
          <a:xfrm>
            <a:off x="1068889" y="1549783"/>
            <a:ext cx="6910443" cy="1320800"/>
          </a:xfrm>
        </p:spPr>
        <p:txBody>
          <a:bodyPr/>
          <a:lstStyle/>
          <a:p>
            <a:r>
              <a:rPr lang="en-MY" dirty="0"/>
              <a:t>1. Obtain training data</a:t>
            </a:r>
          </a:p>
          <a:p>
            <a:r>
              <a:rPr lang="en-MY" dirty="0"/>
              <a:t>2. ML techniques </a:t>
            </a:r>
            <a:r>
              <a:rPr lang="en-MY" dirty="0">
                <a:sym typeface="Wingdings" panose="05000000000000000000" pitchFamily="2" charset="2"/>
              </a:rPr>
              <a:t> </a:t>
            </a:r>
            <a:r>
              <a:rPr lang="en-MY" dirty="0"/>
              <a:t>linear regression, neural network</a:t>
            </a:r>
          </a:p>
          <a:p>
            <a:r>
              <a:rPr lang="en-MY" dirty="0"/>
              <a:t>3. Evaluate results</a:t>
            </a:r>
          </a:p>
          <a:p>
            <a:endParaRPr lang="en-MY" dirty="0"/>
          </a:p>
          <a:p>
            <a:endParaRPr lang="en-MY" dirty="0"/>
          </a:p>
        </p:txBody>
      </p:sp>
      <p:sp>
        <p:nvSpPr>
          <p:cNvPr id="10" name="Content Placeholder 2">
            <a:extLst>
              <a:ext uri="{FF2B5EF4-FFF2-40B4-BE49-F238E27FC236}">
                <a16:creationId xmlns:a16="http://schemas.microsoft.com/office/drawing/2014/main" id="{C36F2F10-839B-6914-E077-EFBA11AEE4D8}"/>
              </a:ext>
            </a:extLst>
          </p:cNvPr>
          <p:cNvSpPr txBox="1">
            <a:spLocks/>
          </p:cNvSpPr>
          <p:nvPr/>
        </p:nvSpPr>
        <p:spPr>
          <a:xfrm>
            <a:off x="804492" y="4190945"/>
            <a:ext cx="7439238" cy="1951260"/>
          </a:xfrm>
          <a:prstGeom prst="rect">
            <a:avLst/>
          </a:prstGeom>
        </p:spPr>
        <p:txBody>
          <a:bodyPr vert="horz" lIns="0" tIns="45720" rIns="0" bIns="45720" rtlCol="0">
            <a:normAutofit fontScale="9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MY" dirty="0"/>
              <a:t>Coefficient of determination (R</a:t>
            </a:r>
            <a:r>
              <a:rPr lang="en-MY" baseline="30000" dirty="0"/>
              <a:t>2</a:t>
            </a:r>
            <a:r>
              <a:rPr lang="en-MY" dirty="0"/>
              <a:t>)</a:t>
            </a:r>
          </a:p>
          <a:p>
            <a:endParaRPr lang="en-MY" dirty="0"/>
          </a:p>
          <a:p>
            <a:r>
              <a:rPr lang="en-MY" dirty="0"/>
              <a:t>Mean squared error (MSE) / Root mean square error (RMSE)</a:t>
            </a:r>
          </a:p>
          <a:p>
            <a:endParaRPr lang="en-MY" dirty="0"/>
          </a:p>
          <a:p>
            <a:r>
              <a:rPr lang="en-MY" dirty="0"/>
              <a:t>Mean Absolute Percentage Error (MAPE)</a:t>
            </a:r>
          </a:p>
          <a:p>
            <a:endParaRPr lang="en-MY" dirty="0"/>
          </a:p>
        </p:txBody>
      </p:sp>
      <p:sp>
        <p:nvSpPr>
          <p:cNvPr id="11" name="Content Placeholder 2">
            <a:extLst>
              <a:ext uri="{FF2B5EF4-FFF2-40B4-BE49-F238E27FC236}">
                <a16:creationId xmlns:a16="http://schemas.microsoft.com/office/drawing/2014/main" id="{15B93823-1C14-6F77-DAA8-6CEB7BD5A2F8}"/>
              </a:ext>
            </a:extLst>
          </p:cNvPr>
          <p:cNvSpPr txBox="1">
            <a:spLocks/>
          </p:cNvSpPr>
          <p:nvPr/>
        </p:nvSpPr>
        <p:spPr>
          <a:xfrm>
            <a:off x="804492" y="3750970"/>
            <a:ext cx="2845728" cy="43997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MY" u="sng" dirty="0"/>
              <a:t>Performance metrics</a:t>
            </a:r>
          </a:p>
          <a:p>
            <a:endParaRPr lang="en-MY" u="sng" dirty="0"/>
          </a:p>
        </p:txBody>
      </p:sp>
      <p:pic>
        <p:nvPicPr>
          <p:cNvPr id="13" name="Picture 12">
            <a:extLst>
              <a:ext uri="{FF2B5EF4-FFF2-40B4-BE49-F238E27FC236}">
                <a16:creationId xmlns:a16="http://schemas.microsoft.com/office/drawing/2014/main" id="{7E537F57-2A60-52AC-2462-96B033C3FCB1}"/>
              </a:ext>
            </a:extLst>
          </p:cNvPr>
          <p:cNvPicPr>
            <a:picLocks noChangeAspect="1"/>
          </p:cNvPicPr>
          <p:nvPr/>
        </p:nvPicPr>
        <p:blipFill>
          <a:blip r:embed="rId3"/>
          <a:stretch>
            <a:fillRect/>
          </a:stretch>
        </p:blipFill>
        <p:spPr>
          <a:xfrm>
            <a:off x="7672372" y="4391353"/>
            <a:ext cx="3154844" cy="1180761"/>
          </a:xfrm>
          <a:prstGeom prst="rect">
            <a:avLst/>
          </a:prstGeom>
        </p:spPr>
      </p:pic>
      <p:pic>
        <p:nvPicPr>
          <p:cNvPr id="15" name="Picture 14">
            <a:extLst>
              <a:ext uri="{FF2B5EF4-FFF2-40B4-BE49-F238E27FC236}">
                <a16:creationId xmlns:a16="http://schemas.microsoft.com/office/drawing/2014/main" id="{1BA31671-100A-8FEE-AE66-2182B4870B33}"/>
              </a:ext>
            </a:extLst>
          </p:cNvPr>
          <p:cNvPicPr>
            <a:picLocks noChangeAspect="1"/>
          </p:cNvPicPr>
          <p:nvPr/>
        </p:nvPicPr>
        <p:blipFill>
          <a:blip r:embed="rId4"/>
          <a:stretch>
            <a:fillRect/>
          </a:stretch>
        </p:blipFill>
        <p:spPr>
          <a:xfrm>
            <a:off x="4595123" y="3750970"/>
            <a:ext cx="3989428" cy="911111"/>
          </a:xfrm>
          <a:prstGeom prst="rect">
            <a:avLst/>
          </a:prstGeom>
        </p:spPr>
      </p:pic>
      <p:pic>
        <p:nvPicPr>
          <p:cNvPr id="19" name="Picture 18">
            <a:extLst>
              <a:ext uri="{FF2B5EF4-FFF2-40B4-BE49-F238E27FC236}">
                <a16:creationId xmlns:a16="http://schemas.microsoft.com/office/drawing/2014/main" id="{F7DC5845-9CB2-F94B-D05E-637C6A35D5F5}"/>
              </a:ext>
            </a:extLst>
          </p:cNvPr>
          <p:cNvPicPr>
            <a:picLocks noChangeAspect="1"/>
          </p:cNvPicPr>
          <p:nvPr/>
        </p:nvPicPr>
        <p:blipFill>
          <a:blip r:embed="rId5"/>
          <a:stretch>
            <a:fillRect/>
          </a:stretch>
        </p:blipFill>
        <p:spPr>
          <a:xfrm>
            <a:off x="5574390" y="5391489"/>
            <a:ext cx="3242982" cy="821008"/>
          </a:xfrm>
          <a:prstGeom prst="rect">
            <a:avLst/>
          </a:prstGeom>
        </p:spPr>
      </p:pic>
    </p:spTree>
    <p:extLst>
      <p:ext uri="{BB962C8B-B14F-4D97-AF65-F5344CB8AC3E}">
        <p14:creationId xmlns:p14="http://schemas.microsoft.com/office/powerpoint/2010/main" val="37325481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66218-9168-8EA7-7404-5D5B40499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72F0B7-A1DC-A4D9-21DE-DB285EE2A566}"/>
              </a:ext>
            </a:extLst>
          </p:cNvPr>
          <p:cNvSpPr txBox="1">
            <a:spLocks/>
          </p:cNvSpPr>
          <p:nvPr/>
        </p:nvSpPr>
        <p:spPr>
          <a:xfrm>
            <a:off x="291393" y="167870"/>
            <a:ext cx="10058400" cy="14507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MY" dirty="0"/>
              <a:t>Data collection and analysis</a:t>
            </a:r>
          </a:p>
        </p:txBody>
      </p:sp>
      <p:pic>
        <p:nvPicPr>
          <p:cNvPr id="9" name="Picture 8" descr="A graph with green lines&#10;&#10;AI-generated content may be incorrect.">
            <a:extLst>
              <a:ext uri="{FF2B5EF4-FFF2-40B4-BE49-F238E27FC236}">
                <a16:creationId xmlns:a16="http://schemas.microsoft.com/office/drawing/2014/main" id="{7162EE67-4A1B-70E4-0FB9-EC11048D1B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7119" y="4127437"/>
            <a:ext cx="5047056" cy="2040299"/>
          </a:xfrm>
          <a:prstGeom prst="rect">
            <a:avLst/>
          </a:prstGeom>
        </p:spPr>
      </p:pic>
      <p:pic>
        <p:nvPicPr>
          <p:cNvPr id="11" name="Picture 10" descr="A blue line with numbers&#10;&#10;AI-generated content may be incorrect.">
            <a:extLst>
              <a:ext uri="{FF2B5EF4-FFF2-40B4-BE49-F238E27FC236}">
                <a16:creationId xmlns:a16="http://schemas.microsoft.com/office/drawing/2014/main" id="{CFFAB982-AAC9-737F-92ED-206ED34AB8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7220" y="4063060"/>
            <a:ext cx="5047055" cy="2019941"/>
          </a:xfrm>
          <a:prstGeom prst="rect">
            <a:avLst/>
          </a:prstGeom>
        </p:spPr>
      </p:pic>
      <p:sp>
        <p:nvSpPr>
          <p:cNvPr id="3" name="Content Placeholder 2">
            <a:extLst>
              <a:ext uri="{FF2B5EF4-FFF2-40B4-BE49-F238E27FC236}">
                <a16:creationId xmlns:a16="http://schemas.microsoft.com/office/drawing/2014/main" id="{54EC6F62-E732-2BD4-7183-19E9052B93DF}"/>
              </a:ext>
            </a:extLst>
          </p:cNvPr>
          <p:cNvSpPr txBox="1">
            <a:spLocks/>
          </p:cNvSpPr>
          <p:nvPr/>
        </p:nvSpPr>
        <p:spPr>
          <a:xfrm>
            <a:off x="420866" y="1226348"/>
            <a:ext cx="5047055" cy="116258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MY" dirty="0"/>
              <a:t>Molecules (H</a:t>
            </a:r>
            <a:r>
              <a:rPr lang="en-MY" baseline="-25000" dirty="0"/>
              <a:t>2</a:t>
            </a:r>
            <a:r>
              <a:rPr lang="en-MY" dirty="0"/>
              <a:t>, </a:t>
            </a:r>
            <a:r>
              <a:rPr lang="en-MY" dirty="0" err="1"/>
              <a:t>LiH</a:t>
            </a:r>
            <a:r>
              <a:rPr lang="en-MY" dirty="0"/>
              <a:t>, </a:t>
            </a:r>
            <a:r>
              <a:rPr lang="en-MY" kern="100" dirty="0">
                <a:ea typeface="DengXian" panose="02010600030101010101" pitchFamily="2" charset="-122"/>
              </a:rPr>
              <a:t>H</a:t>
            </a:r>
            <a:r>
              <a:rPr lang="en-MY" kern="100" baseline="-25000" dirty="0">
                <a:ea typeface="DengXian" panose="02010600030101010101" pitchFamily="2" charset="-122"/>
              </a:rPr>
              <a:t>2</a:t>
            </a:r>
            <a:r>
              <a:rPr lang="en-MY" kern="100" dirty="0">
                <a:ea typeface="DengXian" panose="02010600030101010101" pitchFamily="2" charset="-122"/>
              </a:rPr>
              <a:t>O</a:t>
            </a:r>
            <a:r>
              <a:rPr lang="en-MY" dirty="0"/>
              <a:t>)</a:t>
            </a:r>
          </a:p>
          <a:p>
            <a:endParaRPr lang="en-MY" dirty="0">
              <a:solidFill>
                <a:srgbClr val="FF0000"/>
              </a:solidFill>
            </a:endParaRPr>
          </a:p>
        </p:txBody>
      </p:sp>
      <p:pic>
        <p:nvPicPr>
          <p:cNvPr id="4" name="Picture 3">
            <a:extLst>
              <a:ext uri="{FF2B5EF4-FFF2-40B4-BE49-F238E27FC236}">
                <a16:creationId xmlns:a16="http://schemas.microsoft.com/office/drawing/2014/main" id="{40D593CD-7055-DCC3-6B55-5A2564F3039B}"/>
              </a:ext>
            </a:extLst>
          </p:cNvPr>
          <p:cNvPicPr>
            <a:picLocks noChangeAspect="1"/>
          </p:cNvPicPr>
          <p:nvPr/>
        </p:nvPicPr>
        <p:blipFill>
          <a:blip r:embed="rId6"/>
          <a:stretch>
            <a:fillRect/>
          </a:stretch>
        </p:blipFill>
        <p:spPr>
          <a:xfrm>
            <a:off x="8763829" y="51002"/>
            <a:ext cx="3333750" cy="1143000"/>
          </a:xfrm>
          <a:prstGeom prst="rect">
            <a:avLst/>
          </a:prstGeom>
        </p:spPr>
      </p:pic>
      <p:graphicFrame>
        <p:nvGraphicFramePr>
          <p:cNvPr id="6" name="Table 5">
            <a:extLst>
              <a:ext uri="{FF2B5EF4-FFF2-40B4-BE49-F238E27FC236}">
                <a16:creationId xmlns:a16="http://schemas.microsoft.com/office/drawing/2014/main" id="{3F76EB7F-1F66-E2FE-821F-1F0826FA6ABB}"/>
              </a:ext>
            </a:extLst>
          </p:cNvPr>
          <p:cNvGraphicFramePr>
            <a:graphicFrameLocks noGrp="1"/>
          </p:cNvGraphicFramePr>
          <p:nvPr>
            <p:extLst>
              <p:ext uri="{D42A27DB-BD31-4B8C-83A1-F6EECF244321}">
                <p14:modId xmlns:p14="http://schemas.microsoft.com/office/powerpoint/2010/main" val="868622939"/>
              </p:ext>
            </p:extLst>
          </p:nvPr>
        </p:nvGraphicFramePr>
        <p:xfrm>
          <a:off x="8967833" y="1254391"/>
          <a:ext cx="2276355" cy="2210077"/>
        </p:xfrm>
        <a:graphic>
          <a:graphicData uri="http://schemas.openxmlformats.org/drawingml/2006/table">
            <a:tbl>
              <a:tblPr firstRow="1" bandRow="1">
                <a:tableStyleId>{5C22544A-7EE6-4342-B048-85BDC9FD1C3A}</a:tableStyleId>
              </a:tblPr>
              <a:tblGrid>
                <a:gridCol w="569089">
                  <a:extLst>
                    <a:ext uri="{9D8B030D-6E8A-4147-A177-3AD203B41FA5}">
                      <a16:colId xmlns:a16="http://schemas.microsoft.com/office/drawing/2014/main" val="1910920610"/>
                    </a:ext>
                  </a:extLst>
                </a:gridCol>
                <a:gridCol w="569089">
                  <a:extLst>
                    <a:ext uri="{9D8B030D-6E8A-4147-A177-3AD203B41FA5}">
                      <a16:colId xmlns:a16="http://schemas.microsoft.com/office/drawing/2014/main" val="1215105440"/>
                    </a:ext>
                  </a:extLst>
                </a:gridCol>
                <a:gridCol w="533389">
                  <a:extLst>
                    <a:ext uri="{9D8B030D-6E8A-4147-A177-3AD203B41FA5}">
                      <a16:colId xmlns:a16="http://schemas.microsoft.com/office/drawing/2014/main" val="789810215"/>
                    </a:ext>
                  </a:extLst>
                </a:gridCol>
                <a:gridCol w="604788">
                  <a:extLst>
                    <a:ext uri="{9D8B030D-6E8A-4147-A177-3AD203B41FA5}">
                      <a16:colId xmlns:a16="http://schemas.microsoft.com/office/drawing/2014/main" val="3690653509"/>
                    </a:ext>
                  </a:extLst>
                </a:gridCol>
              </a:tblGrid>
              <a:tr h="227576">
                <a:tc>
                  <a:txBody>
                    <a:bodyPr/>
                    <a:lstStyle/>
                    <a:p>
                      <a:endParaRPr lang="en-MY" dirty="0"/>
                    </a:p>
                  </a:txBody>
                  <a:tcPr/>
                </a:tc>
                <a:tc>
                  <a:txBody>
                    <a:bodyPr/>
                    <a:lstStyle/>
                    <a:p>
                      <a:endParaRPr lang="en-MY"/>
                    </a:p>
                  </a:txBody>
                  <a:tcPr/>
                </a:tc>
                <a:tc>
                  <a:txBody>
                    <a:bodyPr/>
                    <a:lstStyle/>
                    <a:p>
                      <a:endParaRPr lang="en-MY"/>
                    </a:p>
                  </a:txBody>
                  <a:tcPr/>
                </a:tc>
                <a:tc>
                  <a:txBody>
                    <a:bodyPr/>
                    <a:lstStyle/>
                    <a:p>
                      <a:endParaRPr lang="en-MY"/>
                    </a:p>
                  </a:txBody>
                  <a:tcPr/>
                </a:tc>
                <a:extLst>
                  <a:ext uri="{0D108BD9-81ED-4DB2-BD59-A6C34878D82A}">
                    <a16:rowId xmlns:a16="http://schemas.microsoft.com/office/drawing/2014/main" val="419673597"/>
                  </a:ext>
                </a:extLst>
              </a:tr>
              <a:tr h="227576">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2024314838"/>
                  </a:ext>
                </a:extLst>
              </a:tr>
              <a:tr h="227576">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1666453122"/>
                  </a:ext>
                </a:extLst>
              </a:tr>
              <a:tr h="227576">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a:p>
                  </a:txBody>
                  <a:tcPr/>
                </a:tc>
                <a:extLst>
                  <a:ext uri="{0D108BD9-81ED-4DB2-BD59-A6C34878D82A}">
                    <a16:rowId xmlns:a16="http://schemas.microsoft.com/office/drawing/2014/main" val="3496486223"/>
                  </a:ext>
                </a:extLst>
              </a:tr>
              <a:tr h="227576">
                <a:tc>
                  <a:txBody>
                    <a:bodyPr/>
                    <a:lstStyle/>
                    <a:p>
                      <a:endParaRPr lang="en-MY"/>
                    </a:p>
                  </a:txBody>
                  <a:tcPr/>
                </a:tc>
                <a:tc>
                  <a:txBody>
                    <a:bodyPr/>
                    <a:lstStyle/>
                    <a:p>
                      <a:endParaRPr lang="en-MY"/>
                    </a:p>
                  </a:txBody>
                  <a:tcPr/>
                </a:tc>
                <a:tc>
                  <a:txBody>
                    <a:bodyPr/>
                    <a:lstStyle/>
                    <a:p>
                      <a:endParaRPr lang="en-MY" dirty="0"/>
                    </a:p>
                  </a:txBody>
                  <a:tcPr/>
                </a:tc>
                <a:tc>
                  <a:txBody>
                    <a:bodyPr/>
                    <a:lstStyle/>
                    <a:p>
                      <a:endParaRPr lang="en-MY"/>
                    </a:p>
                  </a:txBody>
                  <a:tcPr/>
                </a:tc>
                <a:extLst>
                  <a:ext uri="{0D108BD9-81ED-4DB2-BD59-A6C34878D82A}">
                    <a16:rowId xmlns:a16="http://schemas.microsoft.com/office/drawing/2014/main" val="2963782704"/>
                  </a:ext>
                </a:extLst>
              </a:tr>
              <a:tr h="381277">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2110369825"/>
                  </a:ext>
                </a:extLst>
              </a:tr>
            </a:tbl>
          </a:graphicData>
        </a:graphic>
      </p:graphicFrame>
      <p:sp>
        <p:nvSpPr>
          <p:cNvPr id="7" name="TextBox 6">
            <a:extLst>
              <a:ext uri="{FF2B5EF4-FFF2-40B4-BE49-F238E27FC236}">
                <a16:creationId xmlns:a16="http://schemas.microsoft.com/office/drawing/2014/main" id="{BDDC6E56-ABF2-2A41-7019-2EFA0E6D19DC}"/>
              </a:ext>
            </a:extLst>
          </p:cNvPr>
          <p:cNvSpPr txBox="1"/>
          <p:nvPr/>
        </p:nvSpPr>
        <p:spPr>
          <a:xfrm>
            <a:off x="8967833" y="1267427"/>
            <a:ext cx="3174436" cy="338554"/>
          </a:xfrm>
          <a:prstGeom prst="rect">
            <a:avLst/>
          </a:prstGeom>
          <a:noFill/>
        </p:spPr>
        <p:txBody>
          <a:bodyPr wrap="square" rtlCol="0">
            <a:spAutoFit/>
          </a:bodyPr>
          <a:lstStyle/>
          <a:p>
            <a:r>
              <a:rPr lang="en-MY" sz="1600" dirty="0"/>
              <a:t>Density / Fock matrices</a:t>
            </a:r>
          </a:p>
        </p:txBody>
      </p:sp>
      <p:sp>
        <p:nvSpPr>
          <p:cNvPr id="8" name="Oval 7">
            <a:extLst>
              <a:ext uri="{FF2B5EF4-FFF2-40B4-BE49-F238E27FC236}">
                <a16:creationId xmlns:a16="http://schemas.microsoft.com/office/drawing/2014/main" id="{15956024-BFCF-DC2C-1DEB-6C0AE7B6A500}"/>
              </a:ext>
            </a:extLst>
          </p:cNvPr>
          <p:cNvSpPr/>
          <p:nvPr/>
        </p:nvSpPr>
        <p:spPr>
          <a:xfrm>
            <a:off x="8967833" y="1694196"/>
            <a:ext cx="2276356" cy="100119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12" name="Straight Arrow Connector 11">
            <a:extLst>
              <a:ext uri="{FF2B5EF4-FFF2-40B4-BE49-F238E27FC236}">
                <a16:creationId xmlns:a16="http://schemas.microsoft.com/office/drawing/2014/main" id="{EA02F001-4800-0657-7B8D-D01444D96D89}"/>
              </a:ext>
            </a:extLst>
          </p:cNvPr>
          <p:cNvCxnSpPr>
            <a:cxnSpLocks/>
            <a:stCxn id="8" idx="2"/>
          </p:cNvCxnSpPr>
          <p:nvPr/>
        </p:nvCxnSpPr>
        <p:spPr>
          <a:xfrm flipH="1">
            <a:off x="8266176" y="2194793"/>
            <a:ext cx="701657" cy="1314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a16="http://schemas.microsoft.com/office/drawing/2014/main" id="{06139D62-4B57-FA1A-7BED-667BB5AB8C80}"/>
              </a:ext>
            </a:extLst>
          </p:cNvPr>
          <p:cNvSpPr txBox="1">
            <a:spLocks/>
          </p:cNvSpPr>
          <p:nvPr/>
        </p:nvSpPr>
        <p:spPr>
          <a:xfrm>
            <a:off x="7265562" y="3728935"/>
            <a:ext cx="5680895" cy="56271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MY" dirty="0"/>
              <a:t>[ …| Re(1,2).. | Re(1,3).. …| </a:t>
            </a:r>
            <a:r>
              <a:rPr lang="en-MY" dirty="0" err="1"/>
              <a:t>Im</a:t>
            </a:r>
            <a:r>
              <a:rPr lang="en-MY" dirty="0"/>
              <a:t>(1,2)…| … ]</a:t>
            </a:r>
          </a:p>
        </p:txBody>
      </p:sp>
      <p:cxnSp>
        <p:nvCxnSpPr>
          <p:cNvPr id="18" name="Straight Arrow Connector 17">
            <a:extLst>
              <a:ext uri="{FF2B5EF4-FFF2-40B4-BE49-F238E27FC236}">
                <a16:creationId xmlns:a16="http://schemas.microsoft.com/office/drawing/2014/main" id="{4B059E81-A77A-396D-55A2-7628FBEF5B81}"/>
              </a:ext>
            </a:extLst>
          </p:cNvPr>
          <p:cNvCxnSpPr>
            <a:cxnSpLocks/>
          </p:cNvCxnSpPr>
          <p:nvPr/>
        </p:nvCxnSpPr>
        <p:spPr>
          <a:xfrm>
            <a:off x="11462746" y="1559934"/>
            <a:ext cx="0" cy="1820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Content Placeholder 2">
            <a:extLst>
              <a:ext uri="{FF2B5EF4-FFF2-40B4-BE49-F238E27FC236}">
                <a16:creationId xmlns:a16="http://schemas.microsoft.com/office/drawing/2014/main" id="{F15B60C9-CC60-7235-0F45-8AB32F964F34}"/>
              </a:ext>
            </a:extLst>
          </p:cNvPr>
          <p:cNvSpPr txBox="1">
            <a:spLocks/>
          </p:cNvSpPr>
          <p:nvPr/>
        </p:nvSpPr>
        <p:spPr>
          <a:xfrm>
            <a:off x="11459964" y="2293367"/>
            <a:ext cx="766344" cy="116258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MY" i="1" dirty="0"/>
              <a:t>Time step</a:t>
            </a:r>
          </a:p>
        </p:txBody>
      </p:sp>
      <p:pic>
        <p:nvPicPr>
          <p:cNvPr id="26" name="Picture 25">
            <a:extLst>
              <a:ext uri="{FF2B5EF4-FFF2-40B4-BE49-F238E27FC236}">
                <a16:creationId xmlns:a16="http://schemas.microsoft.com/office/drawing/2014/main" id="{CEC967F8-60B4-6664-1A87-4EBF0117577F}"/>
              </a:ext>
            </a:extLst>
          </p:cNvPr>
          <p:cNvPicPr>
            <a:picLocks noChangeAspect="1"/>
          </p:cNvPicPr>
          <p:nvPr/>
        </p:nvPicPr>
        <p:blipFill>
          <a:blip r:embed="rId7"/>
          <a:stretch>
            <a:fillRect/>
          </a:stretch>
        </p:blipFill>
        <p:spPr>
          <a:xfrm>
            <a:off x="4441339" y="930729"/>
            <a:ext cx="3442222" cy="2688270"/>
          </a:xfrm>
          <a:prstGeom prst="rect">
            <a:avLst/>
          </a:prstGeom>
        </p:spPr>
      </p:pic>
      <p:sp>
        <p:nvSpPr>
          <p:cNvPr id="28" name="TextBox 27">
            <a:extLst>
              <a:ext uri="{FF2B5EF4-FFF2-40B4-BE49-F238E27FC236}">
                <a16:creationId xmlns:a16="http://schemas.microsoft.com/office/drawing/2014/main" id="{E74B1CF2-B109-58D5-25BF-9AC7305A99A3}"/>
              </a:ext>
            </a:extLst>
          </p:cNvPr>
          <p:cNvSpPr txBox="1"/>
          <p:nvPr/>
        </p:nvSpPr>
        <p:spPr>
          <a:xfrm>
            <a:off x="4382988" y="3509062"/>
            <a:ext cx="3093720" cy="553998"/>
          </a:xfrm>
          <a:prstGeom prst="rect">
            <a:avLst/>
          </a:prstGeom>
          <a:noFill/>
        </p:spPr>
        <p:txBody>
          <a:bodyPr wrap="square">
            <a:spAutoFit/>
          </a:bodyPr>
          <a:lstStyle/>
          <a:p>
            <a:pPr algn="l">
              <a:buNone/>
            </a:pPr>
            <a:r>
              <a:rPr lang="en-US" sz="1000" b="0" i="0" dirty="0">
                <a:solidFill>
                  <a:srgbClr val="000000"/>
                </a:solidFill>
                <a:effectLst/>
                <a:latin typeface="Roboto" panose="02000000000000000000" pitchFamily="2" charset="0"/>
              </a:rPr>
              <a:t>K. Lopata, B. E. Van Kuiken, M. Khalil, and N. Govind</a:t>
            </a:r>
          </a:p>
          <a:p>
            <a:pPr algn="l">
              <a:buNone/>
            </a:pPr>
            <a:r>
              <a:rPr lang="en-US" sz="1000" b="0" i="1" dirty="0">
                <a:solidFill>
                  <a:srgbClr val="000000"/>
                </a:solidFill>
                <a:effectLst/>
                <a:latin typeface="Roboto" panose="02000000000000000000" pitchFamily="2" charset="0"/>
              </a:rPr>
              <a:t>Journal of Chemical Theory and Computation</a:t>
            </a:r>
            <a:r>
              <a:rPr lang="en-US" sz="1000" b="0" i="0" dirty="0">
                <a:solidFill>
                  <a:srgbClr val="000000"/>
                </a:solidFill>
                <a:effectLst/>
                <a:latin typeface="Roboto" panose="02000000000000000000" pitchFamily="2" charset="0"/>
              </a:rPr>
              <a:t> </a:t>
            </a:r>
            <a:r>
              <a:rPr lang="en-US" sz="1000" b="1" i="0" dirty="0">
                <a:solidFill>
                  <a:srgbClr val="000000"/>
                </a:solidFill>
                <a:effectLst/>
                <a:latin typeface="Roboto" panose="02000000000000000000" pitchFamily="2" charset="0"/>
              </a:rPr>
              <a:t>2012</a:t>
            </a:r>
            <a:r>
              <a:rPr lang="en-US" sz="1000" b="0" i="0" dirty="0">
                <a:solidFill>
                  <a:srgbClr val="000000"/>
                </a:solidFill>
                <a:effectLst/>
                <a:latin typeface="Roboto" panose="02000000000000000000" pitchFamily="2" charset="0"/>
              </a:rPr>
              <a:t> </a:t>
            </a:r>
            <a:r>
              <a:rPr lang="en-US" sz="1000" b="0" i="1" dirty="0">
                <a:solidFill>
                  <a:srgbClr val="000000"/>
                </a:solidFill>
                <a:effectLst/>
                <a:latin typeface="Roboto" panose="02000000000000000000" pitchFamily="2" charset="0"/>
              </a:rPr>
              <a:t>8</a:t>
            </a:r>
            <a:r>
              <a:rPr lang="en-US" sz="1000" b="0" i="0" dirty="0">
                <a:solidFill>
                  <a:srgbClr val="000000"/>
                </a:solidFill>
                <a:effectLst/>
                <a:latin typeface="Roboto" panose="02000000000000000000" pitchFamily="2" charset="0"/>
              </a:rPr>
              <a:t> (9), 3284-3292</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783B6C7A-2AAC-EA72-A803-FA9B3A4524EA}"/>
                  </a:ext>
                </a:extLst>
              </p:cNvPr>
              <p:cNvSpPr txBox="1"/>
              <p:nvPr/>
            </p:nvSpPr>
            <p:spPr>
              <a:xfrm>
                <a:off x="230131" y="2644414"/>
                <a:ext cx="3366507" cy="3764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MY" b="1" i="1" smtClean="0">
                          <a:latin typeface="Cambria Math" panose="02040503050406030204" pitchFamily="18" charset="0"/>
                        </a:rPr>
                        <m:t>𝑷</m:t>
                      </m:r>
                      <m:d>
                        <m:dPr>
                          <m:ctrlPr>
                            <a:rPr lang="en-MY" i="1">
                              <a:solidFill>
                                <a:srgbClr val="836967"/>
                              </a:solidFill>
                              <a:latin typeface="Cambria Math" panose="02040503050406030204" pitchFamily="18" charset="0"/>
                            </a:rPr>
                          </m:ctrlPr>
                        </m:dPr>
                        <m:e>
                          <m:r>
                            <a:rPr lang="en-MY" i="1">
                              <a:latin typeface="Cambria Math" panose="02040503050406030204" pitchFamily="18" charset="0"/>
                            </a:rPr>
                            <m:t>𝑡</m:t>
                          </m:r>
                        </m:e>
                      </m:d>
                      <m:r>
                        <a:rPr lang="en-MY" i="0">
                          <a:latin typeface="Cambria Math" panose="02040503050406030204" pitchFamily="18" charset="0"/>
                        </a:rPr>
                        <m:t>=</m:t>
                      </m:r>
                      <m:r>
                        <a:rPr lang="en-MY" b="1" i="1">
                          <a:latin typeface="Cambria Math" panose="02040503050406030204" pitchFamily="18" charset="0"/>
                        </a:rPr>
                        <m:t>𝑼</m:t>
                      </m:r>
                      <m:d>
                        <m:dPr>
                          <m:ctrlPr>
                            <a:rPr lang="en-MY" i="1">
                              <a:solidFill>
                                <a:srgbClr val="836967"/>
                              </a:solidFill>
                              <a:latin typeface="Cambria Math" panose="02040503050406030204" pitchFamily="18" charset="0"/>
                            </a:rPr>
                          </m:ctrlPr>
                        </m:dPr>
                        <m:e>
                          <m:r>
                            <a:rPr lang="en-MY" i="1">
                              <a:latin typeface="Cambria Math" panose="02040503050406030204" pitchFamily="18" charset="0"/>
                            </a:rPr>
                            <m:t>𝑡</m:t>
                          </m:r>
                          <m:r>
                            <a:rPr lang="en-MY" i="0">
                              <a:latin typeface="Cambria Math" panose="02040503050406030204" pitchFamily="18" charset="0"/>
                            </a:rPr>
                            <m:t>,</m:t>
                          </m:r>
                          <m:sSub>
                            <m:sSubPr>
                              <m:ctrlPr>
                                <a:rPr lang="en-MY" i="1">
                                  <a:solidFill>
                                    <a:srgbClr val="836967"/>
                                  </a:solidFill>
                                  <a:latin typeface="Cambria Math" panose="02040503050406030204" pitchFamily="18" charset="0"/>
                                </a:rPr>
                              </m:ctrlPr>
                            </m:sSubPr>
                            <m:e>
                              <m:r>
                                <a:rPr lang="en-MY" i="1">
                                  <a:latin typeface="Cambria Math" panose="02040503050406030204" pitchFamily="18" charset="0"/>
                                </a:rPr>
                                <m:t>𝑡</m:t>
                              </m:r>
                            </m:e>
                            <m:sub>
                              <m:r>
                                <a:rPr lang="en-MY" i="0">
                                  <a:latin typeface="Cambria Math" panose="02040503050406030204" pitchFamily="18" charset="0"/>
                                </a:rPr>
                                <m:t>0</m:t>
                              </m:r>
                            </m:sub>
                          </m:sSub>
                        </m:e>
                      </m:d>
                      <m:r>
                        <a:rPr lang="en-MY" b="1" i="1">
                          <a:latin typeface="Cambria Math" panose="02040503050406030204" pitchFamily="18" charset="0"/>
                        </a:rPr>
                        <m:t>𝑷</m:t>
                      </m:r>
                      <m:d>
                        <m:dPr>
                          <m:ctrlPr>
                            <a:rPr lang="en-MY" i="1">
                              <a:solidFill>
                                <a:srgbClr val="836967"/>
                              </a:solidFill>
                              <a:latin typeface="Cambria Math" panose="02040503050406030204" pitchFamily="18" charset="0"/>
                            </a:rPr>
                          </m:ctrlPr>
                        </m:dPr>
                        <m:e>
                          <m:sSub>
                            <m:sSubPr>
                              <m:ctrlPr>
                                <a:rPr lang="en-MY" i="1">
                                  <a:solidFill>
                                    <a:srgbClr val="836967"/>
                                  </a:solidFill>
                                  <a:latin typeface="Cambria Math" panose="02040503050406030204" pitchFamily="18" charset="0"/>
                                </a:rPr>
                              </m:ctrlPr>
                            </m:sSubPr>
                            <m:e>
                              <m:r>
                                <a:rPr lang="en-MY" i="1">
                                  <a:latin typeface="Cambria Math" panose="02040503050406030204" pitchFamily="18" charset="0"/>
                                </a:rPr>
                                <m:t>𝑡</m:t>
                              </m:r>
                            </m:e>
                            <m:sub>
                              <m:r>
                                <a:rPr lang="en-MY" i="0">
                                  <a:latin typeface="Cambria Math" panose="02040503050406030204" pitchFamily="18" charset="0"/>
                                </a:rPr>
                                <m:t>0</m:t>
                              </m:r>
                            </m:sub>
                          </m:sSub>
                        </m:e>
                      </m:d>
                      <m:sSup>
                        <m:sSupPr>
                          <m:ctrlPr>
                            <a:rPr lang="en-MY" i="1">
                              <a:solidFill>
                                <a:srgbClr val="836967"/>
                              </a:solidFill>
                              <a:latin typeface="Cambria Math" panose="02040503050406030204" pitchFamily="18" charset="0"/>
                            </a:rPr>
                          </m:ctrlPr>
                        </m:sSupPr>
                        <m:e>
                          <m:r>
                            <a:rPr lang="en-MY" b="1" i="1">
                              <a:latin typeface="Cambria Math" panose="02040503050406030204" pitchFamily="18" charset="0"/>
                            </a:rPr>
                            <m:t>𝑼</m:t>
                          </m:r>
                        </m:e>
                        <m:sup>
                          <m:r>
                            <a:rPr lang="en-MY" i="0">
                              <a:latin typeface="Cambria Math" panose="02040503050406030204" pitchFamily="18" charset="0"/>
                            </a:rPr>
                            <m:t>†</m:t>
                          </m:r>
                        </m:sup>
                      </m:sSup>
                      <m:d>
                        <m:dPr>
                          <m:ctrlPr>
                            <a:rPr lang="en-MY" i="1">
                              <a:solidFill>
                                <a:srgbClr val="836967"/>
                              </a:solidFill>
                              <a:latin typeface="Cambria Math" panose="02040503050406030204" pitchFamily="18" charset="0"/>
                            </a:rPr>
                          </m:ctrlPr>
                        </m:dPr>
                        <m:e>
                          <m:r>
                            <a:rPr lang="en-MY" i="1">
                              <a:latin typeface="Cambria Math" panose="02040503050406030204" pitchFamily="18" charset="0"/>
                            </a:rPr>
                            <m:t>𝑡</m:t>
                          </m:r>
                          <m:r>
                            <a:rPr lang="en-MY" i="0">
                              <a:latin typeface="Cambria Math" panose="02040503050406030204" pitchFamily="18" charset="0"/>
                            </a:rPr>
                            <m:t>,</m:t>
                          </m:r>
                          <m:sSub>
                            <m:sSubPr>
                              <m:ctrlPr>
                                <a:rPr lang="en-MY" i="1">
                                  <a:solidFill>
                                    <a:srgbClr val="836967"/>
                                  </a:solidFill>
                                  <a:latin typeface="Cambria Math" panose="02040503050406030204" pitchFamily="18" charset="0"/>
                                </a:rPr>
                              </m:ctrlPr>
                            </m:sSubPr>
                            <m:e>
                              <m:r>
                                <a:rPr lang="en-MY" i="1">
                                  <a:latin typeface="Cambria Math" panose="02040503050406030204" pitchFamily="18" charset="0"/>
                                </a:rPr>
                                <m:t>𝑡</m:t>
                              </m:r>
                            </m:e>
                            <m:sub>
                              <m:r>
                                <a:rPr lang="en-MY" i="0">
                                  <a:latin typeface="Cambria Math" panose="02040503050406030204" pitchFamily="18" charset="0"/>
                                </a:rPr>
                                <m:t>0</m:t>
                              </m:r>
                            </m:sub>
                          </m:sSub>
                        </m:e>
                      </m:d>
                    </m:oMath>
                  </m:oMathPara>
                </a14:m>
                <a:endParaRPr lang="en-MY" dirty="0"/>
              </a:p>
            </p:txBody>
          </p:sp>
        </mc:Choice>
        <mc:Fallback>
          <p:sp>
            <p:nvSpPr>
              <p:cNvPr id="10" name="TextBox 9">
                <a:extLst>
                  <a:ext uri="{FF2B5EF4-FFF2-40B4-BE49-F238E27FC236}">
                    <a16:creationId xmlns:a16="http://schemas.microsoft.com/office/drawing/2014/main" id="{783B6C7A-2AAC-EA72-A803-FA9B3A4524EA}"/>
                  </a:ext>
                </a:extLst>
              </p:cNvPr>
              <p:cNvSpPr txBox="1">
                <a:spLocks noRot="1" noChangeAspect="1" noMove="1" noResize="1" noEditPoints="1" noAdjustHandles="1" noChangeArrowheads="1" noChangeShapeType="1" noTextEdit="1"/>
              </p:cNvSpPr>
              <p:nvPr/>
            </p:nvSpPr>
            <p:spPr>
              <a:xfrm>
                <a:off x="230131" y="2644414"/>
                <a:ext cx="3366507" cy="376450"/>
              </a:xfrm>
              <a:prstGeom prst="rect">
                <a:avLst/>
              </a:prstGeom>
              <a:blipFill>
                <a:blip r:embed="rId8"/>
                <a:stretch>
                  <a:fillRect/>
                </a:stretch>
              </a:blipFill>
            </p:spPr>
            <p:txBody>
              <a:bodyPr/>
              <a:lstStyle/>
              <a:p>
                <a:r>
                  <a:rPr lang="en-MY">
                    <a:noFill/>
                  </a:rPr>
                  <a:t> </a:t>
                </a:r>
              </a:p>
            </p:txBody>
          </p:sp>
        </mc:Fallback>
      </mc:AlternateContent>
      <p:sp>
        <p:nvSpPr>
          <p:cNvPr id="13" name="TextBox 12">
            <a:extLst>
              <a:ext uri="{FF2B5EF4-FFF2-40B4-BE49-F238E27FC236}">
                <a16:creationId xmlns:a16="http://schemas.microsoft.com/office/drawing/2014/main" id="{5AABC81E-DDF8-9DBE-DF69-0AB117606D78}"/>
              </a:ext>
            </a:extLst>
          </p:cNvPr>
          <p:cNvSpPr txBox="1"/>
          <p:nvPr/>
        </p:nvSpPr>
        <p:spPr>
          <a:xfrm>
            <a:off x="818998" y="3168411"/>
            <a:ext cx="2508393" cy="307777"/>
          </a:xfrm>
          <a:prstGeom prst="rect">
            <a:avLst/>
          </a:prstGeom>
          <a:noFill/>
        </p:spPr>
        <p:txBody>
          <a:bodyPr wrap="square">
            <a:spAutoFit/>
          </a:bodyPr>
          <a:lstStyle/>
          <a:p>
            <a:r>
              <a:rPr lang="en-MY" sz="1400" dirty="0"/>
              <a:t>Density matrix propagation</a:t>
            </a:r>
          </a:p>
        </p:txBody>
      </p:sp>
      <p:pic>
        <p:nvPicPr>
          <p:cNvPr id="14" name="Picture 6 2" descr="\documentclass{article}&#10;\usepackage{amsmath}&#10;\pagestyle{empty}&#10;\begin{document}&#10;&#10; \begin{equation}&#10;        \boldsymbol{U}(t + \Delta t, t_0) \approx \text{exp} &#10;        \left[  -iF \left( t + \frac{\Delta t}{2} \right) \Delta t\right]&#10;    \end{equation}&#10;&#10;&#10;&#10;\end{document}" title="IguanaTex Picture Display">
            <a:extLst>
              <a:ext uri="{FF2B5EF4-FFF2-40B4-BE49-F238E27FC236}">
                <a16:creationId xmlns:a16="http://schemas.microsoft.com/office/drawing/2014/main" id="{F5D2AB0F-5D71-2C1D-51FF-0D985E876AF8}"/>
              </a:ext>
            </a:extLst>
          </p:cNvPr>
          <p:cNvPicPr>
            <a:picLocks noChangeAspect="1"/>
          </p:cNvPicPr>
          <p:nvPr>
            <p:custDataLst>
              <p:tags r:id="rId1"/>
            </p:custDataLst>
          </p:nvPr>
        </p:nvPicPr>
        <p:blipFill>
          <a:blip r:embed="rId9">
            <a:extLst>
              <a:ext uri="{28A0092B-C50C-407E-A947-70E740481C1C}">
                <a14:useLocalDpi xmlns:a14="http://schemas.microsoft.com/office/drawing/2010/main" val="0"/>
              </a:ext>
            </a:extLst>
          </a:blip>
          <a:srcRect t="261" r="26631" b="-1"/>
          <a:stretch/>
        </p:blipFill>
        <p:spPr>
          <a:xfrm>
            <a:off x="518179" y="1936818"/>
            <a:ext cx="3813881" cy="553998"/>
          </a:xfrm>
          <a:prstGeom prst="rect">
            <a:avLst/>
          </a:prstGeom>
        </p:spPr>
      </p:pic>
      <p:sp>
        <p:nvSpPr>
          <p:cNvPr id="15" name="Content Placeholder 2">
            <a:extLst>
              <a:ext uri="{FF2B5EF4-FFF2-40B4-BE49-F238E27FC236}">
                <a16:creationId xmlns:a16="http://schemas.microsoft.com/office/drawing/2014/main" id="{7194FCA6-B7DE-FD30-34BD-2A66142F5DA6}"/>
              </a:ext>
            </a:extLst>
          </p:cNvPr>
          <p:cNvSpPr txBox="1">
            <a:spLocks/>
          </p:cNvSpPr>
          <p:nvPr/>
        </p:nvSpPr>
        <p:spPr>
          <a:xfrm>
            <a:off x="2425119" y="6037026"/>
            <a:ext cx="2156703" cy="58129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MY" i="1" dirty="0"/>
              <a:t>Dipole moment</a:t>
            </a:r>
          </a:p>
        </p:txBody>
      </p:sp>
      <p:sp>
        <p:nvSpPr>
          <p:cNvPr id="17" name="Content Placeholder 2">
            <a:extLst>
              <a:ext uri="{FF2B5EF4-FFF2-40B4-BE49-F238E27FC236}">
                <a16:creationId xmlns:a16="http://schemas.microsoft.com/office/drawing/2014/main" id="{1FDEC08A-2F82-6AA8-9A26-88B4097161BC}"/>
              </a:ext>
            </a:extLst>
          </p:cNvPr>
          <p:cNvSpPr txBox="1">
            <a:spLocks/>
          </p:cNvSpPr>
          <p:nvPr/>
        </p:nvSpPr>
        <p:spPr>
          <a:xfrm>
            <a:off x="8826107" y="6007984"/>
            <a:ext cx="1279902" cy="58129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MY" i="1" dirty="0"/>
              <a:t>Spectrum</a:t>
            </a:r>
          </a:p>
        </p:txBody>
      </p:sp>
    </p:spTree>
    <p:extLst>
      <p:ext uri="{BB962C8B-B14F-4D97-AF65-F5344CB8AC3E}">
        <p14:creationId xmlns:p14="http://schemas.microsoft.com/office/powerpoint/2010/main" val="1913698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FA5E8-50B8-040E-C523-32E8FBA39A1B}"/>
              </a:ext>
            </a:extLst>
          </p:cNvPr>
          <p:cNvSpPr txBox="1">
            <a:spLocks/>
          </p:cNvSpPr>
          <p:nvPr/>
        </p:nvSpPr>
        <p:spPr>
          <a:xfrm>
            <a:off x="440055" y="179946"/>
            <a:ext cx="10058400" cy="14507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MY" dirty="0"/>
              <a:t>Implementation</a:t>
            </a:r>
          </a:p>
        </p:txBody>
      </p:sp>
      <p:pic>
        <p:nvPicPr>
          <p:cNvPr id="17" name="Picture 16" descr="A diagram of a computer program&#10;&#10;AI-generated content may be incorrect.">
            <a:extLst>
              <a:ext uri="{FF2B5EF4-FFF2-40B4-BE49-F238E27FC236}">
                <a16:creationId xmlns:a16="http://schemas.microsoft.com/office/drawing/2014/main" id="{922D885F-16C2-6EB5-257C-157BA99C3067}"/>
              </a:ext>
            </a:extLst>
          </p:cNvPr>
          <p:cNvPicPr>
            <a:picLocks noChangeAspect="1"/>
          </p:cNvPicPr>
          <p:nvPr/>
        </p:nvPicPr>
        <p:blipFill>
          <a:blip r:embed="rId3">
            <a:extLst>
              <a:ext uri="{28A0092B-C50C-407E-A947-70E740481C1C}">
                <a14:useLocalDpi xmlns:a14="http://schemas.microsoft.com/office/drawing/2010/main" val="0"/>
              </a:ext>
            </a:extLst>
          </a:blip>
          <a:srcRect l="-996" t="2066" r="996" b="2710"/>
          <a:stretch>
            <a:fillRect/>
          </a:stretch>
        </p:blipFill>
        <p:spPr>
          <a:xfrm>
            <a:off x="-66715" y="877968"/>
            <a:ext cx="7568579" cy="5405295"/>
          </a:xfrm>
          <a:prstGeom prst="rect">
            <a:avLst/>
          </a:prstGeom>
        </p:spPr>
      </p:pic>
      <p:pic>
        <p:nvPicPr>
          <p:cNvPr id="4" name="Picture 3" descr="A logo with a black background&#10;&#10;AI-generated content may be incorrect.">
            <a:extLst>
              <a:ext uri="{FF2B5EF4-FFF2-40B4-BE49-F238E27FC236}">
                <a16:creationId xmlns:a16="http://schemas.microsoft.com/office/drawing/2014/main" id="{346AE806-BFFB-3199-2BE7-1B52557162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87810" y="3156405"/>
            <a:ext cx="2132390" cy="1362953"/>
          </a:xfrm>
          <a:prstGeom prst="rect">
            <a:avLst/>
          </a:prstGeom>
        </p:spPr>
      </p:pic>
      <p:pic>
        <p:nvPicPr>
          <p:cNvPr id="6" name="Picture 5" descr="A black and grey logo&#10;&#10;AI-generated content may be incorrect.">
            <a:extLst>
              <a:ext uri="{FF2B5EF4-FFF2-40B4-BE49-F238E27FC236}">
                <a16:creationId xmlns:a16="http://schemas.microsoft.com/office/drawing/2014/main" id="{93834CD6-A252-C990-D4BC-8B8A87267D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85286" y="4679532"/>
            <a:ext cx="2132390" cy="618393"/>
          </a:xfrm>
          <a:prstGeom prst="rect">
            <a:avLst/>
          </a:prstGeom>
        </p:spPr>
      </p:pic>
      <p:pic>
        <p:nvPicPr>
          <p:cNvPr id="10" name="Picture 9" descr="A close-up of a black background&#10;&#10;AI-generated content may be incorrect.">
            <a:extLst>
              <a:ext uri="{FF2B5EF4-FFF2-40B4-BE49-F238E27FC236}">
                <a16:creationId xmlns:a16="http://schemas.microsoft.com/office/drawing/2014/main" id="{C3AEA6FB-53F0-693B-9473-8416577D897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34954" y="127986"/>
            <a:ext cx="2698615" cy="799043"/>
          </a:xfrm>
          <a:prstGeom prst="rect">
            <a:avLst/>
          </a:prstGeom>
        </p:spPr>
      </p:pic>
      <p:pic>
        <p:nvPicPr>
          <p:cNvPr id="12" name="Picture 11" descr="A blue and orange logo&#10;&#10;AI-generated content may be incorrect.">
            <a:extLst>
              <a:ext uri="{FF2B5EF4-FFF2-40B4-BE49-F238E27FC236}">
                <a16:creationId xmlns:a16="http://schemas.microsoft.com/office/drawing/2014/main" id="{D54743E7-A635-9FC4-0AE2-D4463FD094F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91108" y="5458100"/>
            <a:ext cx="2794178" cy="558835"/>
          </a:xfrm>
          <a:prstGeom prst="rect">
            <a:avLst/>
          </a:prstGeom>
        </p:spPr>
      </p:pic>
      <p:pic>
        <p:nvPicPr>
          <p:cNvPr id="14" name="Picture 13" descr="A blue and orange circle with black text&#10;&#10;AI-generated content may be incorrect.">
            <a:extLst>
              <a:ext uri="{FF2B5EF4-FFF2-40B4-BE49-F238E27FC236}">
                <a16:creationId xmlns:a16="http://schemas.microsoft.com/office/drawing/2014/main" id="{61EF067E-1625-2EFD-31BA-144A8AC2D3B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551714" y="1913735"/>
            <a:ext cx="1604582" cy="865597"/>
          </a:xfrm>
          <a:prstGeom prst="rect">
            <a:avLst/>
          </a:prstGeom>
        </p:spPr>
      </p:pic>
      <p:sp>
        <p:nvSpPr>
          <p:cNvPr id="16" name="TextBox 15">
            <a:extLst>
              <a:ext uri="{FF2B5EF4-FFF2-40B4-BE49-F238E27FC236}">
                <a16:creationId xmlns:a16="http://schemas.microsoft.com/office/drawing/2014/main" id="{051AF84C-D75C-3A84-9EAB-AB70485B1FD2}"/>
              </a:ext>
            </a:extLst>
          </p:cNvPr>
          <p:cNvSpPr txBox="1"/>
          <p:nvPr/>
        </p:nvSpPr>
        <p:spPr>
          <a:xfrm>
            <a:off x="10498455" y="320549"/>
            <a:ext cx="1375089" cy="584775"/>
          </a:xfrm>
          <a:prstGeom prst="rect">
            <a:avLst/>
          </a:prstGeom>
          <a:noFill/>
        </p:spPr>
        <p:txBody>
          <a:bodyPr wrap="square">
            <a:spAutoFit/>
          </a:bodyPr>
          <a:lstStyle/>
          <a:p>
            <a:r>
              <a:rPr lang="en-MY" sz="3200" dirty="0"/>
              <a:t>Tools</a:t>
            </a:r>
          </a:p>
        </p:txBody>
      </p:sp>
      <p:sp>
        <p:nvSpPr>
          <p:cNvPr id="18" name="TextBox 17">
            <a:extLst>
              <a:ext uri="{FF2B5EF4-FFF2-40B4-BE49-F238E27FC236}">
                <a16:creationId xmlns:a16="http://schemas.microsoft.com/office/drawing/2014/main" id="{1134C6C9-CC91-184D-434F-15B116BC6F64}"/>
              </a:ext>
            </a:extLst>
          </p:cNvPr>
          <p:cNvSpPr txBox="1"/>
          <p:nvPr/>
        </p:nvSpPr>
        <p:spPr>
          <a:xfrm>
            <a:off x="7533700" y="2756913"/>
            <a:ext cx="1329287" cy="923330"/>
          </a:xfrm>
          <a:prstGeom prst="rect">
            <a:avLst/>
          </a:prstGeom>
          <a:noFill/>
        </p:spPr>
        <p:txBody>
          <a:bodyPr wrap="square">
            <a:spAutoFit/>
          </a:bodyPr>
          <a:lstStyle/>
          <a:p>
            <a:r>
              <a:rPr lang="en-MY" dirty="0"/>
              <a:t>Machine</a:t>
            </a:r>
          </a:p>
          <a:p>
            <a:r>
              <a:rPr lang="en-MY" dirty="0"/>
              <a:t>learning </a:t>
            </a:r>
          </a:p>
          <a:p>
            <a:r>
              <a:rPr lang="en-MY" dirty="0"/>
              <a:t>process</a:t>
            </a:r>
          </a:p>
        </p:txBody>
      </p:sp>
      <p:sp>
        <p:nvSpPr>
          <p:cNvPr id="19" name="Oval 18">
            <a:extLst>
              <a:ext uri="{FF2B5EF4-FFF2-40B4-BE49-F238E27FC236}">
                <a16:creationId xmlns:a16="http://schemas.microsoft.com/office/drawing/2014/main" id="{715828F2-F4D3-7670-E2FD-A26DDFAA99C7}"/>
              </a:ext>
            </a:extLst>
          </p:cNvPr>
          <p:cNvSpPr/>
          <p:nvPr/>
        </p:nvSpPr>
        <p:spPr>
          <a:xfrm>
            <a:off x="3073400" y="2719637"/>
            <a:ext cx="3955238" cy="1199475"/>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21" name="Straight Arrow Connector 20">
            <a:extLst>
              <a:ext uri="{FF2B5EF4-FFF2-40B4-BE49-F238E27FC236}">
                <a16:creationId xmlns:a16="http://schemas.microsoft.com/office/drawing/2014/main" id="{D9CCD38A-79ED-F1A6-819D-F944FFB21AC8}"/>
              </a:ext>
            </a:extLst>
          </p:cNvPr>
          <p:cNvCxnSpPr>
            <a:cxnSpLocks/>
          </p:cNvCxnSpPr>
          <p:nvPr/>
        </p:nvCxnSpPr>
        <p:spPr>
          <a:xfrm>
            <a:off x="7043933" y="3316133"/>
            <a:ext cx="4323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8BA14EE-2820-82BC-6137-AC5C4E8A32C2}"/>
              </a:ext>
            </a:extLst>
          </p:cNvPr>
          <p:cNvCxnSpPr>
            <a:cxnSpLocks/>
          </p:cNvCxnSpPr>
          <p:nvPr/>
        </p:nvCxnSpPr>
        <p:spPr>
          <a:xfrm>
            <a:off x="6311328" y="4914783"/>
            <a:ext cx="840563" cy="442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B1EE681-BFF5-9229-1960-24E474C5A2BC}"/>
              </a:ext>
            </a:extLst>
          </p:cNvPr>
          <p:cNvCxnSpPr>
            <a:cxnSpLocks/>
          </p:cNvCxnSpPr>
          <p:nvPr/>
        </p:nvCxnSpPr>
        <p:spPr>
          <a:xfrm flipV="1">
            <a:off x="8485457" y="2704886"/>
            <a:ext cx="562339" cy="1377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649F7E8-3B11-75A8-47C2-C477AD0A4DE1}"/>
              </a:ext>
            </a:extLst>
          </p:cNvPr>
          <p:cNvCxnSpPr>
            <a:cxnSpLocks/>
          </p:cNvCxnSpPr>
          <p:nvPr/>
        </p:nvCxnSpPr>
        <p:spPr>
          <a:xfrm>
            <a:off x="8571654" y="3278774"/>
            <a:ext cx="767475" cy="3018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DE149A7F-81B4-7C04-460F-B84B7F958E99}"/>
              </a:ext>
            </a:extLst>
          </p:cNvPr>
          <p:cNvCxnSpPr>
            <a:cxnSpLocks/>
          </p:cNvCxnSpPr>
          <p:nvPr/>
        </p:nvCxnSpPr>
        <p:spPr>
          <a:xfrm>
            <a:off x="8145001" y="3793820"/>
            <a:ext cx="739261" cy="575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F435127F-C488-F491-AAE2-09C32142E69A}"/>
              </a:ext>
            </a:extLst>
          </p:cNvPr>
          <p:cNvPicPr>
            <a:picLocks noChangeAspect="1"/>
          </p:cNvPicPr>
          <p:nvPr/>
        </p:nvPicPr>
        <p:blipFill>
          <a:blip r:embed="rId9"/>
          <a:stretch>
            <a:fillRect/>
          </a:stretch>
        </p:blipFill>
        <p:spPr>
          <a:xfrm>
            <a:off x="7370182" y="703782"/>
            <a:ext cx="2571750" cy="1157288"/>
          </a:xfrm>
          <a:prstGeom prst="rect">
            <a:avLst/>
          </a:prstGeom>
        </p:spPr>
      </p:pic>
      <p:cxnSp>
        <p:nvCxnSpPr>
          <p:cNvPr id="39" name="Straight Arrow Connector 38">
            <a:extLst>
              <a:ext uri="{FF2B5EF4-FFF2-40B4-BE49-F238E27FC236}">
                <a16:creationId xmlns:a16="http://schemas.microsoft.com/office/drawing/2014/main" id="{01BCAA1A-E0F4-8FD2-EB5F-00633A173C64}"/>
              </a:ext>
            </a:extLst>
          </p:cNvPr>
          <p:cNvCxnSpPr>
            <a:cxnSpLocks/>
          </p:cNvCxnSpPr>
          <p:nvPr/>
        </p:nvCxnSpPr>
        <p:spPr>
          <a:xfrm>
            <a:off x="6421254" y="1282426"/>
            <a:ext cx="60738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2437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4EDAD-446B-A00C-B18F-20C67C331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4B628-E41A-1F94-53DC-A011D0AA5600}"/>
              </a:ext>
            </a:extLst>
          </p:cNvPr>
          <p:cNvSpPr txBox="1">
            <a:spLocks/>
          </p:cNvSpPr>
          <p:nvPr/>
        </p:nvSpPr>
        <p:spPr>
          <a:xfrm>
            <a:off x="1066800" y="211652"/>
            <a:ext cx="10058400" cy="14507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MY" dirty="0"/>
              <a:t>Research Findings </a:t>
            </a:r>
          </a:p>
        </p:txBody>
      </p:sp>
      <p:sp>
        <p:nvSpPr>
          <p:cNvPr id="4" name="TextBox 3">
            <a:extLst>
              <a:ext uri="{FF2B5EF4-FFF2-40B4-BE49-F238E27FC236}">
                <a16:creationId xmlns:a16="http://schemas.microsoft.com/office/drawing/2014/main" id="{37A54D4F-EE62-1335-EF8A-CAECB5E56CEC}"/>
              </a:ext>
            </a:extLst>
          </p:cNvPr>
          <p:cNvSpPr txBox="1"/>
          <p:nvPr/>
        </p:nvSpPr>
        <p:spPr>
          <a:xfrm>
            <a:off x="1066800" y="1306362"/>
            <a:ext cx="6982918" cy="2554545"/>
          </a:xfrm>
          <a:prstGeom prst="rect">
            <a:avLst/>
          </a:prstGeom>
          <a:noFill/>
        </p:spPr>
        <p:txBody>
          <a:bodyPr wrap="square">
            <a:spAutoFit/>
          </a:bodyPr>
          <a:lstStyle/>
          <a:p>
            <a:r>
              <a:rPr lang="en-MY" sz="2000" u="sng" dirty="0"/>
              <a:t>Linear regression:</a:t>
            </a:r>
          </a:p>
          <a:p>
            <a:pPr marL="285750" indent="-285750">
              <a:buFont typeface="Arial" panose="020B0604020202020204" pitchFamily="34" charset="0"/>
              <a:buChar char="•"/>
            </a:pPr>
            <a:r>
              <a:rPr lang="en-MY" sz="2000" dirty="0"/>
              <a:t>Effect of different scaling method</a:t>
            </a:r>
          </a:p>
          <a:p>
            <a:pPr marL="285750" indent="-285750">
              <a:buFont typeface="Arial" panose="020B0604020202020204" pitchFamily="34" charset="0"/>
              <a:buChar char="•"/>
            </a:pPr>
            <a:r>
              <a:rPr lang="en-MY" sz="2000" dirty="0"/>
              <a:t>Effect of different train-test ratio</a:t>
            </a:r>
          </a:p>
          <a:p>
            <a:pPr marL="285750" indent="-285750">
              <a:buFont typeface="Arial" panose="020B0604020202020204" pitchFamily="34" charset="0"/>
              <a:buChar char="•"/>
            </a:pPr>
            <a:r>
              <a:rPr lang="en-MY" sz="2000" dirty="0"/>
              <a:t>Effect of increasing dataset size</a:t>
            </a:r>
          </a:p>
          <a:p>
            <a:pPr marL="285750" indent="-285750">
              <a:buFont typeface="Arial" panose="020B0604020202020204" pitchFamily="34" charset="0"/>
              <a:buChar char="•"/>
            </a:pPr>
            <a:r>
              <a:rPr lang="en-MY" sz="2000" dirty="0"/>
              <a:t>Effect of increasing basis size</a:t>
            </a:r>
          </a:p>
          <a:p>
            <a:pPr marL="285750" indent="-285750">
              <a:buFont typeface="Arial" panose="020B0604020202020204" pitchFamily="34" charset="0"/>
              <a:buChar char="•"/>
            </a:pPr>
            <a:r>
              <a:rPr lang="en-MY" sz="2000" dirty="0"/>
              <a:t>Effect of changing orientation of </a:t>
            </a:r>
            <a:r>
              <a:rPr lang="en-MY" sz="2000" dirty="0" err="1"/>
              <a:t>LiH</a:t>
            </a:r>
            <a:r>
              <a:rPr lang="en-MY" sz="2000" dirty="0"/>
              <a:t> molecule</a:t>
            </a:r>
          </a:p>
          <a:p>
            <a:pPr marL="285750" indent="-285750">
              <a:buFont typeface="Arial" panose="020B0604020202020204" pitchFamily="34" charset="0"/>
              <a:buChar char="•"/>
            </a:pPr>
            <a:r>
              <a:rPr lang="en-MY" sz="2000" dirty="0"/>
              <a:t>Effect of removing values experienced delta kick function</a:t>
            </a:r>
          </a:p>
          <a:p>
            <a:pPr marL="285750" indent="-285750">
              <a:buFont typeface="Arial" panose="020B0604020202020204" pitchFamily="34" charset="0"/>
              <a:buChar char="•"/>
            </a:pPr>
            <a:r>
              <a:rPr lang="en-MY" sz="2000" dirty="0"/>
              <a:t>Effect of removing values identical to zeros</a:t>
            </a:r>
          </a:p>
        </p:txBody>
      </p:sp>
      <p:sp>
        <p:nvSpPr>
          <p:cNvPr id="6" name="TextBox 5">
            <a:extLst>
              <a:ext uri="{FF2B5EF4-FFF2-40B4-BE49-F238E27FC236}">
                <a16:creationId xmlns:a16="http://schemas.microsoft.com/office/drawing/2014/main" id="{8C165505-8E96-AC49-407A-169DB5D02DC0}"/>
              </a:ext>
            </a:extLst>
          </p:cNvPr>
          <p:cNvSpPr txBox="1"/>
          <p:nvPr/>
        </p:nvSpPr>
        <p:spPr>
          <a:xfrm>
            <a:off x="1066800" y="852337"/>
            <a:ext cx="6093500" cy="461665"/>
          </a:xfrm>
          <a:prstGeom prst="rect">
            <a:avLst/>
          </a:prstGeom>
          <a:noFill/>
        </p:spPr>
        <p:txBody>
          <a:bodyPr wrap="square">
            <a:spAutoFit/>
          </a:bodyPr>
          <a:lstStyle/>
          <a:p>
            <a:r>
              <a:rPr lang="en-MY" sz="2400" b="1" dirty="0"/>
              <a:t>Outline:</a:t>
            </a:r>
          </a:p>
        </p:txBody>
      </p:sp>
      <p:sp>
        <p:nvSpPr>
          <p:cNvPr id="7" name="TextBox 6">
            <a:extLst>
              <a:ext uri="{FF2B5EF4-FFF2-40B4-BE49-F238E27FC236}">
                <a16:creationId xmlns:a16="http://schemas.microsoft.com/office/drawing/2014/main" id="{B695FC6D-ED87-6E16-7A71-097CC0966424}"/>
              </a:ext>
            </a:extLst>
          </p:cNvPr>
          <p:cNvSpPr txBox="1"/>
          <p:nvPr/>
        </p:nvSpPr>
        <p:spPr>
          <a:xfrm>
            <a:off x="1066800" y="4168684"/>
            <a:ext cx="6093618" cy="1938992"/>
          </a:xfrm>
          <a:prstGeom prst="rect">
            <a:avLst/>
          </a:prstGeom>
          <a:noFill/>
        </p:spPr>
        <p:txBody>
          <a:bodyPr wrap="square">
            <a:spAutoFit/>
          </a:bodyPr>
          <a:lstStyle/>
          <a:p>
            <a:r>
              <a:rPr lang="en-MY" sz="2000" u="sng" dirty="0"/>
              <a:t>Neural Network:</a:t>
            </a:r>
          </a:p>
          <a:p>
            <a:pPr marL="285750" indent="-285750">
              <a:buFont typeface="Arial" panose="020B0604020202020204" pitchFamily="34" charset="0"/>
              <a:buChar char="•"/>
            </a:pPr>
            <a:r>
              <a:rPr lang="en-MY" sz="2000" dirty="0"/>
              <a:t>Effect of changing number of hidden layers</a:t>
            </a:r>
          </a:p>
          <a:p>
            <a:pPr marL="285750" indent="-285750">
              <a:buFont typeface="Arial" panose="020B0604020202020204" pitchFamily="34" charset="0"/>
              <a:buChar char="•"/>
            </a:pPr>
            <a:r>
              <a:rPr lang="en-MY" sz="2000" dirty="0"/>
              <a:t>Effect of changing number of neurons</a:t>
            </a:r>
          </a:p>
          <a:p>
            <a:pPr marL="285750" indent="-285750">
              <a:buFont typeface="Arial" panose="020B0604020202020204" pitchFamily="34" charset="0"/>
              <a:buChar char="•"/>
            </a:pPr>
            <a:r>
              <a:rPr lang="en-MY" sz="2000" dirty="0"/>
              <a:t>Effect of different types of optimizers</a:t>
            </a:r>
          </a:p>
          <a:p>
            <a:pPr marL="285750" indent="-285750">
              <a:buFont typeface="Arial" panose="020B0604020202020204" pitchFamily="34" charset="0"/>
              <a:buChar char="•"/>
            </a:pPr>
            <a:r>
              <a:rPr lang="en-MY" sz="2000" dirty="0"/>
              <a:t>Grid search</a:t>
            </a:r>
          </a:p>
          <a:p>
            <a:pPr marL="285750" indent="-285750">
              <a:buFont typeface="Arial" panose="020B0604020202020204" pitchFamily="34" charset="0"/>
              <a:buChar char="•"/>
            </a:pPr>
            <a:r>
              <a:rPr lang="en-MY" sz="2000" dirty="0"/>
              <a:t>Effect of removing zeros</a:t>
            </a:r>
          </a:p>
        </p:txBody>
      </p:sp>
    </p:spTree>
    <p:extLst>
      <p:ext uri="{BB962C8B-B14F-4D97-AF65-F5344CB8AC3E}">
        <p14:creationId xmlns:p14="http://schemas.microsoft.com/office/powerpoint/2010/main" val="768176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AAE1D7-DAAE-E930-5706-580D619F9EC4}"/>
              </a:ext>
            </a:extLst>
          </p:cNvPr>
          <p:cNvSpPr>
            <a:spLocks noGrp="1"/>
          </p:cNvSpPr>
          <p:nvPr>
            <p:ph idx="4294967295"/>
          </p:nvPr>
        </p:nvSpPr>
        <p:spPr>
          <a:xfrm>
            <a:off x="307144" y="1433780"/>
            <a:ext cx="3677707" cy="497891"/>
          </a:xfrm>
        </p:spPr>
        <p:txBody>
          <a:bodyPr>
            <a:normAutofit/>
          </a:bodyPr>
          <a:lstStyle/>
          <a:p>
            <a:r>
              <a:rPr lang="en-MY" sz="2400" dirty="0"/>
              <a:t>1. Linear regression</a:t>
            </a:r>
          </a:p>
          <a:p>
            <a:pPr marL="0" indent="0">
              <a:buNone/>
            </a:pPr>
            <a:endParaRPr lang="en-MY" sz="2400" dirty="0"/>
          </a:p>
        </p:txBody>
      </p:sp>
      <p:sp>
        <p:nvSpPr>
          <p:cNvPr id="2" name="Title 1">
            <a:extLst>
              <a:ext uri="{FF2B5EF4-FFF2-40B4-BE49-F238E27FC236}">
                <a16:creationId xmlns:a16="http://schemas.microsoft.com/office/drawing/2014/main" id="{802CEC5B-F2CD-F4DD-83BC-73F90624CA73}"/>
              </a:ext>
            </a:extLst>
          </p:cNvPr>
          <p:cNvSpPr>
            <a:spLocks noGrp="1"/>
          </p:cNvSpPr>
          <p:nvPr>
            <p:ph type="title" idx="4294967295"/>
          </p:nvPr>
        </p:nvSpPr>
        <p:spPr>
          <a:xfrm>
            <a:off x="776908" y="-343694"/>
            <a:ext cx="10058400" cy="1449387"/>
          </a:xfrm>
        </p:spPr>
        <p:txBody>
          <a:bodyPr/>
          <a:lstStyle/>
          <a:p>
            <a:r>
              <a:rPr lang="en-MY" dirty="0"/>
              <a:t>Results and discussions</a:t>
            </a:r>
          </a:p>
        </p:txBody>
      </p:sp>
      <p:pic>
        <p:nvPicPr>
          <p:cNvPr id="6" name="Picture 5">
            <a:extLst>
              <a:ext uri="{FF2B5EF4-FFF2-40B4-BE49-F238E27FC236}">
                <a16:creationId xmlns:a16="http://schemas.microsoft.com/office/drawing/2014/main" id="{065AE0ED-F536-0CEE-05FB-36861BB15EEE}"/>
              </a:ext>
            </a:extLst>
          </p:cNvPr>
          <p:cNvPicPr>
            <a:picLocks noChangeAspect="1"/>
          </p:cNvPicPr>
          <p:nvPr/>
        </p:nvPicPr>
        <p:blipFill>
          <a:blip r:embed="rId4"/>
          <a:stretch>
            <a:fillRect/>
          </a:stretch>
        </p:blipFill>
        <p:spPr>
          <a:xfrm>
            <a:off x="6312022" y="1097837"/>
            <a:ext cx="5801570" cy="3561167"/>
          </a:xfrm>
          <a:prstGeom prst="rect">
            <a:avLst/>
          </a:prstGeom>
        </p:spPr>
      </p:pic>
      <p:pic>
        <p:nvPicPr>
          <p:cNvPr id="7" name="Picture 6">
            <a:extLst>
              <a:ext uri="{FF2B5EF4-FFF2-40B4-BE49-F238E27FC236}">
                <a16:creationId xmlns:a16="http://schemas.microsoft.com/office/drawing/2014/main" id="{E9027884-0DB6-47D7-10AF-B27AF2900901}"/>
              </a:ext>
            </a:extLst>
          </p:cNvPr>
          <p:cNvPicPr>
            <a:picLocks noChangeAspect="1"/>
          </p:cNvPicPr>
          <p:nvPr/>
        </p:nvPicPr>
        <p:blipFill>
          <a:blip r:embed="rId5"/>
          <a:srcRect l="11363" r="10666"/>
          <a:stretch>
            <a:fillRect/>
          </a:stretch>
        </p:blipFill>
        <p:spPr>
          <a:xfrm>
            <a:off x="307144" y="2054658"/>
            <a:ext cx="3235173" cy="893878"/>
          </a:xfrm>
          <a:prstGeom prst="rect">
            <a:avLst/>
          </a:prstGeom>
        </p:spPr>
      </p:pic>
      <p:pic>
        <p:nvPicPr>
          <p:cNvPr id="9" name="Picture 8">
            <a:extLst>
              <a:ext uri="{FF2B5EF4-FFF2-40B4-BE49-F238E27FC236}">
                <a16:creationId xmlns:a16="http://schemas.microsoft.com/office/drawing/2014/main" id="{B219EC61-9ED5-8EFF-3FA9-C91B95E456F8}"/>
              </a:ext>
            </a:extLst>
          </p:cNvPr>
          <p:cNvPicPr>
            <a:picLocks noChangeAspect="1"/>
          </p:cNvPicPr>
          <p:nvPr/>
        </p:nvPicPr>
        <p:blipFill>
          <a:blip r:embed="rId6"/>
          <a:srcRect l="7008" r="6069"/>
          <a:stretch>
            <a:fillRect/>
          </a:stretch>
        </p:blipFill>
        <p:spPr>
          <a:xfrm>
            <a:off x="307144" y="2757733"/>
            <a:ext cx="6004878" cy="971493"/>
          </a:xfrm>
          <a:prstGeom prst="rect">
            <a:avLst/>
          </a:prstGeom>
        </p:spPr>
      </p:pic>
      <p:sp>
        <p:nvSpPr>
          <p:cNvPr id="10" name="Flowchart: Process 9">
            <a:extLst>
              <a:ext uri="{FF2B5EF4-FFF2-40B4-BE49-F238E27FC236}">
                <a16:creationId xmlns:a16="http://schemas.microsoft.com/office/drawing/2014/main" id="{9EB9BAC0-88D6-5C35-22BD-FE5A9195020E}"/>
              </a:ext>
            </a:extLst>
          </p:cNvPr>
          <p:cNvSpPr/>
          <p:nvPr/>
        </p:nvSpPr>
        <p:spPr>
          <a:xfrm>
            <a:off x="576168" y="4555288"/>
            <a:ext cx="2682416" cy="1413309"/>
          </a:xfrm>
          <a:prstGeom prst="flowChartProcess">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ln w="0"/>
              <a:solidFill>
                <a:schemeClr val="tx1"/>
              </a:solidFill>
              <a:effectLst>
                <a:outerShdw blurRad="38100" dist="19050" dir="2700000" algn="tl" rotWithShape="0">
                  <a:schemeClr val="dk1">
                    <a:alpha val="40000"/>
                  </a:schemeClr>
                </a:outerShdw>
              </a:effectLst>
            </a:endParaRPr>
          </a:p>
        </p:txBody>
      </p:sp>
      <p:pic>
        <p:nvPicPr>
          <p:cNvPr id="11" name="Picture 10" descr="\documentclass{article}&#10;\usepackage{amsmath}&#10;\pagestyle{empty}&#10;\begin{document}&#10;&#10;$\boldsymbol{h} = \beta_0 + \beta_1 \boldsymbol{p}$&#10;&#10;&#10;\end{document}" title="IguanaTex Picture Display">
            <a:extLst>
              <a:ext uri="{FF2B5EF4-FFF2-40B4-BE49-F238E27FC236}">
                <a16:creationId xmlns:a16="http://schemas.microsoft.com/office/drawing/2014/main" id="{7B13F7B6-5109-BAB0-1522-6B1082042ED0}"/>
              </a:ext>
            </a:extLst>
          </p:cNvPr>
          <p:cNvPicPr>
            <a:picLocks noChangeAspect="1"/>
          </p:cNvPicPr>
          <p:nvPr>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645172" y="4800654"/>
            <a:ext cx="2544409" cy="396737"/>
          </a:xfrm>
          <a:prstGeom prst="rect">
            <a:avLst/>
          </a:prstGeom>
          <a:solidFill>
            <a:schemeClr val="accent1">
              <a:lumMod val="40000"/>
              <a:lumOff val="60000"/>
            </a:schemeClr>
          </a:solidFill>
        </p:spPr>
      </p:pic>
      <p:sp>
        <p:nvSpPr>
          <p:cNvPr id="12" name="TextBox 11">
            <a:extLst>
              <a:ext uri="{FF2B5EF4-FFF2-40B4-BE49-F238E27FC236}">
                <a16:creationId xmlns:a16="http://schemas.microsoft.com/office/drawing/2014/main" id="{AA091D3C-37E4-3C89-7FD6-A229EB3D1368}"/>
              </a:ext>
            </a:extLst>
          </p:cNvPr>
          <p:cNvSpPr txBox="1"/>
          <p:nvPr/>
        </p:nvSpPr>
        <p:spPr>
          <a:xfrm>
            <a:off x="1543837" y="4110244"/>
            <a:ext cx="850900" cy="338554"/>
          </a:xfrm>
          <a:prstGeom prst="rect">
            <a:avLst/>
          </a:prstGeom>
          <a:noFill/>
        </p:spPr>
        <p:txBody>
          <a:bodyPr wrap="square">
            <a:spAutoFit/>
          </a:bodyPr>
          <a:lstStyle/>
          <a:p>
            <a:r>
              <a:rPr lang="en-MY" sz="1600" dirty="0"/>
              <a:t>Model</a:t>
            </a:r>
          </a:p>
        </p:txBody>
      </p:sp>
      <p:sp>
        <p:nvSpPr>
          <p:cNvPr id="13" name="TextBox 12">
            <a:extLst>
              <a:ext uri="{FF2B5EF4-FFF2-40B4-BE49-F238E27FC236}">
                <a16:creationId xmlns:a16="http://schemas.microsoft.com/office/drawing/2014/main" id="{D3BD347D-0B97-CCFD-6386-455B0AA5D091}"/>
              </a:ext>
            </a:extLst>
          </p:cNvPr>
          <p:cNvSpPr txBox="1"/>
          <p:nvPr/>
        </p:nvSpPr>
        <p:spPr>
          <a:xfrm>
            <a:off x="541414" y="5303881"/>
            <a:ext cx="1286025" cy="307777"/>
          </a:xfrm>
          <a:prstGeom prst="rect">
            <a:avLst/>
          </a:prstGeom>
          <a:noFill/>
        </p:spPr>
        <p:txBody>
          <a:bodyPr wrap="square">
            <a:spAutoFit/>
          </a:bodyPr>
          <a:lstStyle/>
          <a:p>
            <a:r>
              <a:rPr lang="en-MY" sz="1400" dirty="0"/>
              <a:t>Hamiltonian</a:t>
            </a:r>
          </a:p>
        </p:txBody>
      </p:sp>
      <p:sp>
        <p:nvSpPr>
          <p:cNvPr id="14" name="TextBox 13">
            <a:extLst>
              <a:ext uri="{FF2B5EF4-FFF2-40B4-BE49-F238E27FC236}">
                <a16:creationId xmlns:a16="http://schemas.microsoft.com/office/drawing/2014/main" id="{B101BC56-794B-8555-4F12-B3DF193DFE8A}"/>
              </a:ext>
            </a:extLst>
          </p:cNvPr>
          <p:cNvSpPr txBox="1"/>
          <p:nvPr/>
        </p:nvSpPr>
        <p:spPr>
          <a:xfrm>
            <a:off x="2394737" y="5261943"/>
            <a:ext cx="809356" cy="307777"/>
          </a:xfrm>
          <a:prstGeom prst="rect">
            <a:avLst/>
          </a:prstGeom>
          <a:noFill/>
        </p:spPr>
        <p:txBody>
          <a:bodyPr wrap="square">
            <a:spAutoFit/>
          </a:bodyPr>
          <a:lstStyle/>
          <a:p>
            <a:r>
              <a:rPr lang="en-MY" sz="1400" dirty="0"/>
              <a:t>density</a:t>
            </a:r>
          </a:p>
        </p:txBody>
      </p:sp>
      <p:pic>
        <p:nvPicPr>
          <p:cNvPr id="15" name="Picture 14" descr="A blue and orange circle with black text&#10;&#10;AI-generated content may be incorrect.">
            <a:extLst>
              <a:ext uri="{FF2B5EF4-FFF2-40B4-BE49-F238E27FC236}">
                <a16:creationId xmlns:a16="http://schemas.microsoft.com/office/drawing/2014/main" id="{7B54DD69-EC36-D69A-A7F5-3AC0D4AD265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99944" y="4555288"/>
            <a:ext cx="1896985" cy="1023335"/>
          </a:xfrm>
          <a:prstGeom prst="rect">
            <a:avLst/>
          </a:prstGeom>
        </p:spPr>
      </p:pic>
      <p:pic>
        <p:nvPicPr>
          <p:cNvPr id="17" name="Picture 16">
            <a:extLst>
              <a:ext uri="{FF2B5EF4-FFF2-40B4-BE49-F238E27FC236}">
                <a16:creationId xmlns:a16="http://schemas.microsoft.com/office/drawing/2014/main" id="{B7F822DC-A812-CEA2-B557-8A165472A0D3}"/>
              </a:ext>
            </a:extLst>
          </p:cNvPr>
          <p:cNvPicPr>
            <a:picLocks noChangeAspect="1"/>
          </p:cNvPicPr>
          <p:nvPr/>
        </p:nvPicPr>
        <p:blipFill>
          <a:blip r:embed="rId9"/>
          <a:stretch>
            <a:fillRect/>
          </a:stretch>
        </p:blipFill>
        <p:spPr>
          <a:xfrm>
            <a:off x="6508388" y="4730630"/>
            <a:ext cx="5142198" cy="1501929"/>
          </a:xfrm>
          <a:prstGeom prst="rect">
            <a:avLst/>
          </a:prstGeom>
        </p:spPr>
      </p:pic>
    </p:spTree>
    <p:extLst>
      <p:ext uri="{BB962C8B-B14F-4D97-AF65-F5344CB8AC3E}">
        <p14:creationId xmlns:p14="http://schemas.microsoft.com/office/powerpoint/2010/main" val="1787169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8001A-6134-4F3D-B09D-69843AC5341B}"/>
              </a:ext>
            </a:extLst>
          </p:cNvPr>
          <p:cNvSpPr>
            <a:spLocks noGrp="1"/>
          </p:cNvSpPr>
          <p:nvPr>
            <p:ph type="title" idx="4294967295"/>
          </p:nvPr>
        </p:nvSpPr>
        <p:spPr>
          <a:xfrm>
            <a:off x="261346" y="-177020"/>
            <a:ext cx="4224338" cy="1022793"/>
          </a:xfrm>
        </p:spPr>
        <p:txBody>
          <a:bodyPr/>
          <a:lstStyle/>
          <a:p>
            <a:r>
              <a:rPr lang="en-MY" dirty="0"/>
              <a:t>Data scaling</a:t>
            </a:r>
          </a:p>
        </p:txBody>
      </p:sp>
      <p:pic>
        <p:nvPicPr>
          <p:cNvPr id="9" name="Picture 8">
            <a:extLst>
              <a:ext uri="{FF2B5EF4-FFF2-40B4-BE49-F238E27FC236}">
                <a16:creationId xmlns:a16="http://schemas.microsoft.com/office/drawing/2014/main" id="{F60B9D8B-8532-7771-20D7-DA142587DF7E}"/>
              </a:ext>
            </a:extLst>
          </p:cNvPr>
          <p:cNvPicPr>
            <a:picLocks noChangeAspect="1"/>
          </p:cNvPicPr>
          <p:nvPr/>
        </p:nvPicPr>
        <p:blipFill>
          <a:blip r:embed="rId3"/>
          <a:stretch>
            <a:fillRect/>
          </a:stretch>
        </p:blipFill>
        <p:spPr>
          <a:xfrm>
            <a:off x="6917961" y="142432"/>
            <a:ext cx="4397121" cy="1981372"/>
          </a:xfrm>
          <a:prstGeom prst="rect">
            <a:avLst/>
          </a:prstGeom>
        </p:spPr>
      </p:pic>
      <p:pic>
        <p:nvPicPr>
          <p:cNvPr id="11" name="Picture 10">
            <a:extLst>
              <a:ext uri="{FF2B5EF4-FFF2-40B4-BE49-F238E27FC236}">
                <a16:creationId xmlns:a16="http://schemas.microsoft.com/office/drawing/2014/main" id="{FC9133D2-F10B-E913-B219-BECEC2A2B94F}"/>
              </a:ext>
            </a:extLst>
          </p:cNvPr>
          <p:cNvPicPr>
            <a:picLocks noChangeAspect="1"/>
          </p:cNvPicPr>
          <p:nvPr/>
        </p:nvPicPr>
        <p:blipFill>
          <a:blip r:embed="rId4"/>
          <a:stretch>
            <a:fillRect/>
          </a:stretch>
        </p:blipFill>
        <p:spPr>
          <a:xfrm>
            <a:off x="6917961" y="2354487"/>
            <a:ext cx="4496190" cy="2149026"/>
          </a:xfrm>
          <a:prstGeom prst="rect">
            <a:avLst/>
          </a:prstGeom>
        </p:spPr>
      </p:pic>
      <p:pic>
        <p:nvPicPr>
          <p:cNvPr id="13" name="Picture 12">
            <a:extLst>
              <a:ext uri="{FF2B5EF4-FFF2-40B4-BE49-F238E27FC236}">
                <a16:creationId xmlns:a16="http://schemas.microsoft.com/office/drawing/2014/main" id="{D130F4DD-7975-0614-680F-E49F7100BE98}"/>
              </a:ext>
            </a:extLst>
          </p:cNvPr>
          <p:cNvPicPr>
            <a:picLocks noChangeAspect="1"/>
          </p:cNvPicPr>
          <p:nvPr/>
        </p:nvPicPr>
        <p:blipFill>
          <a:blip r:embed="rId5"/>
          <a:srcRect l="12052"/>
          <a:stretch>
            <a:fillRect/>
          </a:stretch>
        </p:blipFill>
        <p:spPr>
          <a:xfrm>
            <a:off x="6451901" y="4353163"/>
            <a:ext cx="4912716" cy="2362405"/>
          </a:xfrm>
          <a:prstGeom prst="rect">
            <a:avLst/>
          </a:prstGeom>
        </p:spPr>
      </p:pic>
      <p:sp>
        <p:nvSpPr>
          <p:cNvPr id="3" name="Content Placeholder 2">
            <a:extLst>
              <a:ext uri="{FF2B5EF4-FFF2-40B4-BE49-F238E27FC236}">
                <a16:creationId xmlns:a16="http://schemas.microsoft.com/office/drawing/2014/main" id="{054C700C-BA16-0440-FCC5-CB1BD3D21901}"/>
              </a:ext>
            </a:extLst>
          </p:cNvPr>
          <p:cNvSpPr txBox="1">
            <a:spLocks/>
          </p:cNvSpPr>
          <p:nvPr/>
        </p:nvSpPr>
        <p:spPr>
          <a:xfrm>
            <a:off x="557411" y="2000261"/>
            <a:ext cx="4149194" cy="2834076"/>
          </a:xfrm>
          <a:prstGeom prst="rect">
            <a:avLst/>
          </a:prstGeom>
        </p:spPr>
        <p:txBody>
          <a:bodyPr vert="horz" lIns="0" tIns="45720" rIns="0" bIns="45720" rtlCol="0">
            <a:normAutofit fontScale="92500"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v"/>
            </a:pPr>
            <a:r>
              <a:rPr lang="en-MY" dirty="0"/>
              <a:t> Standard</a:t>
            </a:r>
          </a:p>
          <a:p>
            <a:pPr>
              <a:buFont typeface="Wingdings" panose="05000000000000000000" pitchFamily="2" charset="2"/>
              <a:buChar char="v"/>
            </a:pPr>
            <a:endParaRPr lang="en-MY" dirty="0"/>
          </a:p>
          <a:p>
            <a:pPr>
              <a:buFont typeface="Wingdings" panose="05000000000000000000" pitchFamily="2" charset="2"/>
              <a:buChar char="v"/>
            </a:pPr>
            <a:endParaRPr lang="en-MY" dirty="0"/>
          </a:p>
          <a:p>
            <a:pPr>
              <a:buFont typeface="Wingdings" panose="05000000000000000000" pitchFamily="2" charset="2"/>
              <a:buChar char="v"/>
            </a:pPr>
            <a:r>
              <a:rPr lang="en-MY" dirty="0"/>
              <a:t> Min-Max</a:t>
            </a:r>
          </a:p>
          <a:p>
            <a:pPr>
              <a:buFont typeface="Wingdings" panose="05000000000000000000" pitchFamily="2" charset="2"/>
              <a:buChar char="v"/>
            </a:pPr>
            <a:endParaRPr lang="en-MY" dirty="0"/>
          </a:p>
          <a:p>
            <a:pPr>
              <a:buFont typeface="Wingdings" panose="05000000000000000000" pitchFamily="2" charset="2"/>
              <a:buChar char="v"/>
            </a:pPr>
            <a:endParaRPr lang="en-MY" dirty="0"/>
          </a:p>
          <a:p>
            <a:pPr>
              <a:buFont typeface="Wingdings" panose="05000000000000000000" pitchFamily="2" charset="2"/>
              <a:buChar char="v"/>
            </a:pPr>
            <a:r>
              <a:rPr lang="en-MY" dirty="0"/>
              <a:t> No scaling</a:t>
            </a:r>
          </a:p>
          <a:p>
            <a:pPr>
              <a:buFont typeface="Wingdings" panose="05000000000000000000" pitchFamily="2" charset="2"/>
              <a:buChar char="v"/>
            </a:pPr>
            <a:endParaRPr lang="en-MY" dirty="0"/>
          </a:p>
        </p:txBody>
      </p:sp>
      <p:pic>
        <p:nvPicPr>
          <p:cNvPr id="5" name="Picture 4">
            <a:extLst>
              <a:ext uri="{FF2B5EF4-FFF2-40B4-BE49-F238E27FC236}">
                <a16:creationId xmlns:a16="http://schemas.microsoft.com/office/drawing/2014/main" id="{0C04A0F7-6E3A-D79C-9280-78C463F9B5CF}"/>
              </a:ext>
            </a:extLst>
          </p:cNvPr>
          <p:cNvPicPr>
            <a:picLocks noChangeAspect="1"/>
          </p:cNvPicPr>
          <p:nvPr/>
        </p:nvPicPr>
        <p:blipFill>
          <a:blip r:embed="rId6"/>
          <a:srcRect l="8946" r="9165"/>
          <a:stretch>
            <a:fillRect/>
          </a:stretch>
        </p:blipFill>
        <p:spPr>
          <a:xfrm>
            <a:off x="2032611" y="3308164"/>
            <a:ext cx="3076750" cy="1022793"/>
          </a:xfrm>
          <a:prstGeom prst="rect">
            <a:avLst/>
          </a:prstGeom>
        </p:spPr>
      </p:pic>
      <p:pic>
        <p:nvPicPr>
          <p:cNvPr id="7" name="Picture 6">
            <a:extLst>
              <a:ext uri="{FF2B5EF4-FFF2-40B4-BE49-F238E27FC236}">
                <a16:creationId xmlns:a16="http://schemas.microsoft.com/office/drawing/2014/main" id="{F4D1645B-E4DC-AFB7-FFB8-FD39AD7C25F9}"/>
              </a:ext>
            </a:extLst>
          </p:cNvPr>
          <p:cNvPicPr>
            <a:picLocks noChangeAspect="1"/>
          </p:cNvPicPr>
          <p:nvPr/>
        </p:nvPicPr>
        <p:blipFill>
          <a:blip r:embed="rId7"/>
          <a:stretch>
            <a:fillRect/>
          </a:stretch>
        </p:blipFill>
        <p:spPr>
          <a:xfrm>
            <a:off x="1828277" y="2175881"/>
            <a:ext cx="2594839" cy="903003"/>
          </a:xfrm>
          <a:prstGeom prst="rect">
            <a:avLst/>
          </a:prstGeom>
        </p:spPr>
      </p:pic>
      <p:pic>
        <p:nvPicPr>
          <p:cNvPr id="14" name="Picture 13">
            <a:extLst>
              <a:ext uri="{FF2B5EF4-FFF2-40B4-BE49-F238E27FC236}">
                <a16:creationId xmlns:a16="http://schemas.microsoft.com/office/drawing/2014/main" id="{818B040A-D7E8-3EC3-3907-AE588A1E130E}"/>
              </a:ext>
            </a:extLst>
          </p:cNvPr>
          <p:cNvPicPr>
            <a:picLocks noChangeAspect="1"/>
          </p:cNvPicPr>
          <p:nvPr/>
        </p:nvPicPr>
        <p:blipFill>
          <a:blip r:embed="rId8"/>
          <a:stretch>
            <a:fillRect/>
          </a:stretch>
        </p:blipFill>
        <p:spPr>
          <a:xfrm>
            <a:off x="1861168" y="1919708"/>
            <a:ext cx="512347" cy="512347"/>
          </a:xfrm>
          <a:prstGeom prst="rect">
            <a:avLst/>
          </a:prstGeom>
        </p:spPr>
      </p:pic>
      <p:sp>
        <p:nvSpPr>
          <p:cNvPr id="15" name="Oval 14">
            <a:extLst>
              <a:ext uri="{FF2B5EF4-FFF2-40B4-BE49-F238E27FC236}">
                <a16:creationId xmlns:a16="http://schemas.microsoft.com/office/drawing/2014/main" id="{4A4FA0EF-097A-2D4A-12A3-D9C62E0029E4}"/>
              </a:ext>
            </a:extLst>
          </p:cNvPr>
          <p:cNvSpPr/>
          <p:nvPr/>
        </p:nvSpPr>
        <p:spPr>
          <a:xfrm>
            <a:off x="9312812" y="2504837"/>
            <a:ext cx="1026942" cy="102694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Rectangle 15">
            <a:extLst>
              <a:ext uri="{FF2B5EF4-FFF2-40B4-BE49-F238E27FC236}">
                <a16:creationId xmlns:a16="http://schemas.microsoft.com/office/drawing/2014/main" id="{28B18F69-AF31-ADF8-127D-72F656F32AC4}"/>
              </a:ext>
            </a:extLst>
          </p:cNvPr>
          <p:cNvSpPr/>
          <p:nvPr/>
        </p:nvSpPr>
        <p:spPr>
          <a:xfrm>
            <a:off x="10489291" y="3000155"/>
            <a:ext cx="633046" cy="428845"/>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8" name="TextBox 17">
            <a:extLst>
              <a:ext uri="{FF2B5EF4-FFF2-40B4-BE49-F238E27FC236}">
                <a16:creationId xmlns:a16="http://schemas.microsoft.com/office/drawing/2014/main" id="{F183D645-0313-48A6-9F62-3A9A1B65A907}"/>
              </a:ext>
            </a:extLst>
          </p:cNvPr>
          <p:cNvSpPr txBox="1"/>
          <p:nvPr/>
        </p:nvSpPr>
        <p:spPr>
          <a:xfrm>
            <a:off x="11145265" y="3047967"/>
            <a:ext cx="1227437" cy="738664"/>
          </a:xfrm>
          <a:prstGeom prst="rect">
            <a:avLst/>
          </a:prstGeom>
          <a:noFill/>
        </p:spPr>
        <p:txBody>
          <a:bodyPr wrap="square">
            <a:spAutoFit/>
          </a:bodyPr>
          <a:lstStyle/>
          <a:p>
            <a:r>
              <a:rPr lang="en-MY" sz="1400" dirty="0"/>
              <a:t>36 Fock matrix elements</a:t>
            </a:r>
          </a:p>
        </p:txBody>
      </p:sp>
      <p:sp>
        <p:nvSpPr>
          <p:cNvPr id="4" name="Rectangle 3">
            <a:extLst>
              <a:ext uri="{FF2B5EF4-FFF2-40B4-BE49-F238E27FC236}">
                <a16:creationId xmlns:a16="http://schemas.microsoft.com/office/drawing/2014/main" id="{9BD3F385-DC32-E842-F09E-59C99D1A040A}"/>
              </a:ext>
            </a:extLst>
          </p:cNvPr>
          <p:cNvSpPr/>
          <p:nvPr/>
        </p:nvSpPr>
        <p:spPr>
          <a:xfrm>
            <a:off x="604837" y="4955308"/>
            <a:ext cx="4403891" cy="1213479"/>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TextBox 5">
            <a:extLst>
              <a:ext uri="{FF2B5EF4-FFF2-40B4-BE49-F238E27FC236}">
                <a16:creationId xmlns:a16="http://schemas.microsoft.com/office/drawing/2014/main" id="{D43925F9-55D7-6832-BD55-D3FAE0F131C4}"/>
              </a:ext>
            </a:extLst>
          </p:cNvPr>
          <p:cNvSpPr txBox="1"/>
          <p:nvPr/>
        </p:nvSpPr>
        <p:spPr>
          <a:xfrm>
            <a:off x="859153" y="5102055"/>
            <a:ext cx="3894878" cy="87203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MY" dirty="0"/>
              <a:t>Small effect</a:t>
            </a:r>
          </a:p>
          <a:p>
            <a:pPr marL="285750" indent="-285750" algn="just">
              <a:lnSpc>
                <a:spcPct val="150000"/>
              </a:lnSpc>
              <a:buFont typeface="Arial" panose="020B0604020202020204" pitchFamily="34" charset="0"/>
              <a:buChar char="•"/>
            </a:pPr>
            <a:r>
              <a:rPr lang="en-MY" dirty="0"/>
              <a:t>ML – better with standard range</a:t>
            </a:r>
          </a:p>
        </p:txBody>
      </p:sp>
      <p:sp>
        <p:nvSpPr>
          <p:cNvPr id="8" name="TextBox 7">
            <a:extLst>
              <a:ext uri="{FF2B5EF4-FFF2-40B4-BE49-F238E27FC236}">
                <a16:creationId xmlns:a16="http://schemas.microsoft.com/office/drawing/2014/main" id="{1538E4A9-EF1E-2E38-1457-AA178FF01BC6}"/>
              </a:ext>
            </a:extLst>
          </p:cNvPr>
          <p:cNvSpPr txBox="1"/>
          <p:nvPr/>
        </p:nvSpPr>
        <p:spPr>
          <a:xfrm>
            <a:off x="343610" y="966744"/>
            <a:ext cx="3378002" cy="724301"/>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sz="1600" kern="100" dirty="0">
                <a:ea typeface="DengXian" panose="02010600030101010101" pitchFamily="2" charset="-122"/>
              </a:rPr>
              <a:t>H</a:t>
            </a:r>
            <a:r>
              <a:rPr lang="en-MY" sz="1600" kern="100" baseline="-25000" dirty="0">
                <a:ea typeface="DengXian" panose="02010600030101010101" pitchFamily="2" charset="-122"/>
              </a:rPr>
              <a:t>2 </a:t>
            </a:r>
            <a:r>
              <a:rPr lang="en-MY" sz="1600" kern="100" dirty="0">
                <a:ea typeface="DengXian" panose="02010600030101010101" pitchFamily="2" charset="-122"/>
              </a:rPr>
              <a:t>, </a:t>
            </a:r>
            <a:r>
              <a:rPr lang="en-MY" sz="1600" kern="100" dirty="0" err="1">
                <a:ea typeface="DengXian" panose="02010600030101010101" pitchFamily="2" charset="-122"/>
              </a:rPr>
              <a:t>LiH</a:t>
            </a:r>
            <a:r>
              <a:rPr lang="en-MY" sz="1600" kern="100" dirty="0">
                <a:ea typeface="DengXian" panose="02010600030101010101" pitchFamily="2" charset="-122"/>
              </a:rPr>
              <a:t>, H</a:t>
            </a:r>
            <a:r>
              <a:rPr lang="en-MY" sz="1600" kern="100" baseline="-25000" dirty="0">
                <a:ea typeface="DengXian" panose="02010600030101010101" pitchFamily="2" charset="-122"/>
              </a:rPr>
              <a:t>2</a:t>
            </a:r>
            <a:r>
              <a:rPr lang="en-MY" sz="1600" kern="100" dirty="0">
                <a:ea typeface="DengXian" panose="02010600030101010101" pitchFamily="2" charset="-122"/>
              </a:rPr>
              <a:t>O</a:t>
            </a:r>
          </a:p>
          <a:p>
            <a:r>
              <a:rPr lang="en-MY" sz="1600" dirty="0"/>
              <a:t>STO-3G 10000 time steps</a:t>
            </a:r>
          </a:p>
        </p:txBody>
      </p:sp>
    </p:spTree>
    <p:extLst>
      <p:ext uri="{BB962C8B-B14F-4D97-AF65-F5344CB8AC3E}">
        <p14:creationId xmlns:p14="http://schemas.microsoft.com/office/powerpoint/2010/main" val="3198653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graph of a train set&#10;&#10;AI-generated content may be incorrect.">
            <a:extLst>
              <a:ext uri="{FF2B5EF4-FFF2-40B4-BE49-F238E27FC236}">
                <a16:creationId xmlns:a16="http://schemas.microsoft.com/office/drawing/2014/main" id="{234C9BA2-A578-2877-1F64-765FD4D32D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0377" y="3301831"/>
            <a:ext cx="3412511" cy="2891619"/>
          </a:xfrm>
          <a:prstGeom prst="rect">
            <a:avLst/>
          </a:prstGeom>
        </p:spPr>
      </p:pic>
      <p:pic>
        <p:nvPicPr>
          <p:cNvPr id="19" name="Picture 18" descr="A graph with numbers and lines&#10;&#10;AI-generated content may be incorrect.">
            <a:extLst>
              <a:ext uri="{FF2B5EF4-FFF2-40B4-BE49-F238E27FC236}">
                <a16:creationId xmlns:a16="http://schemas.microsoft.com/office/drawing/2014/main" id="{5846AA47-3173-8A10-F639-1EE82A7C34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0343" y="380139"/>
            <a:ext cx="3175267" cy="2805899"/>
          </a:xfrm>
          <a:prstGeom prst="rect">
            <a:avLst/>
          </a:prstGeom>
        </p:spPr>
      </p:pic>
      <p:sp>
        <p:nvSpPr>
          <p:cNvPr id="2" name="Title 1">
            <a:extLst>
              <a:ext uri="{FF2B5EF4-FFF2-40B4-BE49-F238E27FC236}">
                <a16:creationId xmlns:a16="http://schemas.microsoft.com/office/drawing/2014/main" id="{72423643-95FD-9AE5-B333-561B3275C4FE}"/>
              </a:ext>
            </a:extLst>
          </p:cNvPr>
          <p:cNvSpPr>
            <a:spLocks noGrp="1"/>
          </p:cNvSpPr>
          <p:nvPr>
            <p:ph type="title" idx="4294967295"/>
          </p:nvPr>
        </p:nvSpPr>
        <p:spPr>
          <a:xfrm>
            <a:off x="204738" y="380139"/>
            <a:ext cx="4095552" cy="924191"/>
          </a:xfrm>
        </p:spPr>
        <p:txBody>
          <a:bodyPr>
            <a:normAutofit fontScale="90000"/>
          </a:bodyPr>
          <a:lstStyle/>
          <a:p>
            <a:r>
              <a:rPr lang="en-MY" dirty="0"/>
              <a:t>Train-test percentage</a:t>
            </a:r>
          </a:p>
        </p:txBody>
      </p:sp>
      <p:sp>
        <p:nvSpPr>
          <p:cNvPr id="7" name="TextBox 6">
            <a:extLst>
              <a:ext uri="{FF2B5EF4-FFF2-40B4-BE49-F238E27FC236}">
                <a16:creationId xmlns:a16="http://schemas.microsoft.com/office/drawing/2014/main" id="{DB92DD2E-50E1-7E87-E063-A72700913F14}"/>
              </a:ext>
            </a:extLst>
          </p:cNvPr>
          <p:cNvSpPr txBox="1"/>
          <p:nvPr/>
        </p:nvSpPr>
        <p:spPr>
          <a:xfrm>
            <a:off x="274895" y="2405704"/>
            <a:ext cx="3530678" cy="2118529"/>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dirty="0"/>
              <a:t>Here only show </a:t>
            </a:r>
            <a:r>
              <a:rPr lang="en-MY" kern="100" dirty="0">
                <a:ea typeface="DengXian" panose="02010600030101010101" pitchFamily="2" charset="-122"/>
              </a:rPr>
              <a:t>H</a:t>
            </a:r>
            <a:r>
              <a:rPr lang="en-MY" kern="100" baseline="-25000" dirty="0">
                <a:ea typeface="DengXian" panose="02010600030101010101" pitchFamily="2" charset="-122"/>
              </a:rPr>
              <a:t>2</a:t>
            </a:r>
            <a:r>
              <a:rPr lang="en-MY" kern="100" dirty="0">
                <a:ea typeface="DengXian" panose="02010600030101010101" pitchFamily="2" charset="-122"/>
              </a:rPr>
              <a:t>O </a:t>
            </a:r>
            <a:r>
              <a:rPr lang="en-US" dirty="0"/>
              <a:t>result (more significant)</a:t>
            </a:r>
          </a:p>
          <a:p>
            <a:pPr marL="285750" indent="-285750" algn="just">
              <a:lnSpc>
                <a:spcPct val="150000"/>
              </a:lnSpc>
              <a:buFont typeface="Arial" panose="020B0604020202020204" pitchFamily="34" charset="0"/>
              <a:buChar char="•"/>
            </a:pPr>
            <a:r>
              <a:rPr lang="en-US" dirty="0"/>
              <a:t>Prediction accuracy increases when the size of training set increases</a:t>
            </a:r>
            <a:endParaRPr lang="en-MY" dirty="0"/>
          </a:p>
        </p:txBody>
      </p:sp>
      <p:pic>
        <p:nvPicPr>
          <p:cNvPr id="10" name="Picture 9" descr="A graph of a train test set&#10;&#10;AI-generated content may be incorrect.">
            <a:extLst>
              <a:ext uri="{FF2B5EF4-FFF2-40B4-BE49-F238E27FC236}">
                <a16:creationId xmlns:a16="http://schemas.microsoft.com/office/drawing/2014/main" id="{8A230339-C2AF-E3AF-8F71-83BB80FF43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43616" y="3253332"/>
            <a:ext cx="3282641" cy="2955059"/>
          </a:xfrm>
          <a:prstGeom prst="rect">
            <a:avLst/>
          </a:prstGeom>
        </p:spPr>
      </p:pic>
      <p:pic>
        <p:nvPicPr>
          <p:cNvPr id="16" name="Picture 15">
            <a:extLst>
              <a:ext uri="{FF2B5EF4-FFF2-40B4-BE49-F238E27FC236}">
                <a16:creationId xmlns:a16="http://schemas.microsoft.com/office/drawing/2014/main" id="{195DF176-3345-250B-2AE4-E3052DB37D09}"/>
              </a:ext>
            </a:extLst>
          </p:cNvPr>
          <p:cNvPicPr>
            <a:picLocks noChangeAspect="1"/>
          </p:cNvPicPr>
          <p:nvPr/>
        </p:nvPicPr>
        <p:blipFill>
          <a:blip r:embed="rId6"/>
          <a:stretch>
            <a:fillRect/>
          </a:stretch>
        </p:blipFill>
        <p:spPr>
          <a:xfrm>
            <a:off x="7565610" y="160337"/>
            <a:ext cx="4395751" cy="3096548"/>
          </a:xfrm>
          <a:prstGeom prst="rect">
            <a:avLst/>
          </a:prstGeom>
        </p:spPr>
      </p:pic>
      <p:sp>
        <p:nvSpPr>
          <p:cNvPr id="18" name="TextBox 17">
            <a:extLst>
              <a:ext uri="{FF2B5EF4-FFF2-40B4-BE49-F238E27FC236}">
                <a16:creationId xmlns:a16="http://schemas.microsoft.com/office/drawing/2014/main" id="{F190E5CE-A1B6-B398-BE87-802CE5883879}"/>
              </a:ext>
            </a:extLst>
          </p:cNvPr>
          <p:cNvSpPr txBox="1"/>
          <p:nvPr/>
        </p:nvSpPr>
        <p:spPr>
          <a:xfrm>
            <a:off x="261346" y="1322794"/>
            <a:ext cx="3378002" cy="724301"/>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sz="1600" kern="100" dirty="0">
                <a:ea typeface="DengXian" panose="02010600030101010101" pitchFamily="2" charset="-122"/>
              </a:rPr>
              <a:t>H</a:t>
            </a:r>
            <a:r>
              <a:rPr lang="en-MY" sz="1600" kern="100" baseline="-25000" dirty="0">
                <a:ea typeface="DengXian" panose="02010600030101010101" pitchFamily="2" charset="-122"/>
              </a:rPr>
              <a:t>2 </a:t>
            </a:r>
            <a:r>
              <a:rPr lang="en-MY" sz="1600" kern="100" dirty="0">
                <a:ea typeface="DengXian" panose="02010600030101010101" pitchFamily="2" charset="-122"/>
              </a:rPr>
              <a:t>, </a:t>
            </a:r>
            <a:r>
              <a:rPr lang="en-MY" sz="1600" kern="100" dirty="0" err="1">
                <a:ea typeface="DengXian" panose="02010600030101010101" pitchFamily="2" charset="-122"/>
              </a:rPr>
              <a:t>LiH</a:t>
            </a:r>
            <a:r>
              <a:rPr lang="en-MY" sz="1600" kern="100" dirty="0">
                <a:ea typeface="DengXian" panose="02010600030101010101" pitchFamily="2" charset="-122"/>
              </a:rPr>
              <a:t>, H</a:t>
            </a:r>
            <a:r>
              <a:rPr lang="en-MY" sz="1600" kern="100" baseline="-25000" dirty="0">
                <a:ea typeface="DengXian" panose="02010600030101010101" pitchFamily="2" charset="-122"/>
              </a:rPr>
              <a:t>2</a:t>
            </a:r>
            <a:r>
              <a:rPr lang="en-MY" sz="1600" kern="100" dirty="0">
                <a:ea typeface="DengXian" panose="02010600030101010101" pitchFamily="2" charset="-122"/>
              </a:rPr>
              <a:t>O</a:t>
            </a:r>
          </a:p>
          <a:p>
            <a:r>
              <a:rPr lang="en-MY" sz="1600" dirty="0"/>
              <a:t>STO-3G 10000 time steps</a:t>
            </a:r>
          </a:p>
        </p:txBody>
      </p:sp>
      <p:sp>
        <p:nvSpPr>
          <p:cNvPr id="11" name="TextBox 10">
            <a:extLst>
              <a:ext uri="{FF2B5EF4-FFF2-40B4-BE49-F238E27FC236}">
                <a16:creationId xmlns:a16="http://schemas.microsoft.com/office/drawing/2014/main" id="{F4AFF8A7-A7EC-7CDD-956C-AB4FECA1CB19}"/>
              </a:ext>
            </a:extLst>
          </p:cNvPr>
          <p:cNvSpPr txBox="1"/>
          <p:nvPr/>
        </p:nvSpPr>
        <p:spPr>
          <a:xfrm>
            <a:off x="6917008" y="198023"/>
            <a:ext cx="558549" cy="369332"/>
          </a:xfrm>
          <a:prstGeom prst="rect">
            <a:avLst/>
          </a:prstGeom>
          <a:solidFill>
            <a:schemeClr val="accent2">
              <a:lumMod val="20000"/>
              <a:lumOff val="80000"/>
            </a:schemeClr>
          </a:solidFill>
        </p:spPr>
        <p:txBody>
          <a:bodyPr wrap="square" rtlCol="0">
            <a:spAutoFit/>
          </a:bodyPr>
          <a:lstStyle/>
          <a:p>
            <a:r>
              <a:rPr lang="en-MY" dirty="0"/>
              <a:t>R</a:t>
            </a:r>
            <a:r>
              <a:rPr lang="en-MY" baseline="30000" dirty="0"/>
              <a:t>2</a:t>
            </a:r>
            <a:endParaRPr lang="en-MY" dirty="0"/>
          </a:p>
        </p:txBody>
      </p:sp>
      <p:sp>
        <p:nvSpPr>
          <p:cNvPr id="14" name="TextBox 13">
            <a:extLst>
              <a:ext uri="{FF2B5EF4-FFF2-40B4-BE49-F238E27FC236}">
                <a16:creationId xmlns:a16="http://schemas.microsoft.com/office/drawing/2014/main" id="{202F3A78-E206-0535-A1AB-1716E334F35A}"/>
              </a:ext>
            </a:extLst>
          </p:cNvPr>
          <p:cNvSpPr txBox="1"/>
          <p:nvPr/>
        </p:nvSpPr>
        <p:spPr>
          <a:xfrm>
            <a:off x="10602049" y="3068666"/>
            <a:ext cx="910040" cy="369332"/>
          </a:xfrm>
          <a:prstGeom prst="rect">
            <a:avLst/>
          </a:prstGeom>
          <a:solidFill>
            <a:schemeClr val="accent2">
              <a:lumMod val="20000"/>
              <a:lumOff val="80000"/>
            </a:schemeClr>
          </a:solidFill>
        </p:spPr>
        <p:txBody>
          <a:bodyPr wrap="square" rtlCol="0">
            <a:spAutoFit/>
          </a:bodyPr>
          <a:lstStyle/>
          <a:p>
            <a:r>
              <a:rPr lang="en-MY" dirty="0"/>
              <a:t>RMSE</a:t>
            </a:r>
          </a:p>
        </p:txBody>
      </p:sp>
      <p:sp>
        <p:nvSpPr>
          <p:cNvPr id="15" name="TextBox 14">
            <a:extLst>
              <a:ext uri="{FF2B5EF4-FFF2-40B4-BE49-F238E27FC236}">
                <a16:creationId xmlns:a16="http://schemas.microsoft.com/office/drawing/2014/main" id="{757FC61F-F959-765A-B956-A27B37CDAE67}"/>
              </a:ext>
            </a:extLst>
          </p:cNvPr>
          <p:cNvSpPr txBox="1"/>
          <p:nvPr/>
        </p:nvSpPr>
        <p:spPr>
          <a:xfrm>
            <a:off x="7065564" y="3107355"/>
            <a:ext cx="910040" cy="369332"/>
          </a:xfrm>
          <a:prstGeom prst="rect">
            <a:avLst/>
          </a:prstGeom>
          <a:solidFill>
            <a:schemeClr val="accent2">
              <a:lumMod val="20000"/>
              <a:lumOff val="80000"/>
            </a:schemeClr>
          </a:solidFill>
        </p:spPr>
        <p:txBody>
          <a:bodyPr wrap="square" rtlCol="0">
            <a:spAutoFit/>
          </a:bodyPr>
          <a:lstStyle/>
          <a:p>
            <a:r>
              <a:rPr lang="en-MY" dirty="0"/>
              <a:t>MAPE</a:t>
            </a:r>
          </a:p>
        </p:txBody>
      </p:sp>
      <p:sp>
        <p:nvSpPr>
          <p:cNvPr id="22" name="Arrow: Right 21">
            <a:extLst>
              <a:ext uri="{FF2B5EF4-FFF2-40B4-BE49-F238E27FC236}">
                <a16:creationId xmlns:a16="http://schemas.microsoft.com/office/drawing/2014/main" id="{5BC0C428-B9F1-05CB-0412-B1365A3DF78F}"/>
              </a:ext>
            </a:extLst>
          </p:cNvPr>
          <p:cNvSpPr/>
          <p:nvPr/>
        </p:nvSpPr>
        <p:spPr>
          <a:xfrm>
            <a:off x="5129061" y="6175486"/>
            <a:ext cx="1933880" cy="369332"/>
          </a:xfrm>
          <a:prstGeom prst="rightArrow">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3" name="TextBox 22">
            <a:extLst>
              <a:ext uri="{FF2B5EF4-FFF2-40B4-BE49-F238E27FC236}">
                <a16:creationId xmlns:a16="http://schemas.microsoft.com/office/drawing/2014/main" id="{B5F8E3BA-95DA-38F9-3BC4-5E898F15AAC7}"/>
              </a:ext>
            </a:extLst>
          </p:cNvPr>
          <p:cNvSpPr txBox="1"/>
          <p:nvPr/>
        </p:nvSpPr>
        <p:spPr>
          <a:xfrm>
            <a:off x="3167802" y="6064339"/>
            <a:ext cx="1961259" cy="584775"/>
          </a:xfrm>
          <a:prstGeom prst="rect">
            <a:avLst/>
          </a:prstGeom>
          <a:solidFill>
            <a:schemeClr val="accent1">
              <a:lumMod val="20000"/>
              <a:lumOff val="80000"/>
            </a:schemeClr>
          </a:solidFill>
        </p:spPr>
        <p:txBody>
          <a:bodyPr wrap="square" rtlCol="0">
            <a:spAutoFit/>
          </a:bodyPr>
          <a:lstStyle/>
          <a:p>
            <a:r>
              <a:rPr lang="en-MY" sz="1600" dirty="0"/>
              <a:t>10% train set data</a:t>
            </a:r>
          </a:p>
          <a:p>
            <a:r>
              <a:rPr lang="en-MY" sz="1600" dirty="0"/>
              <a:t>90% test set data</a:t>
            </a:r>
          </a:p>
        </p:txBody>
      </p:sp>
      <p:sp>
        <p:nvSpPr>
          <p:cNvPr id="24" name="TextBox 23">
            <a:extLst>
              <a:ext uri="{FF2B5EF4-FFF2-40B4-BE49-F238E27FC236}">
                <a16:creationId xmlns:a16="http://schemas.microsoft.com/office/drawing/2014/main" id="{1CA07E62-9D2B-6688-5647-18690D3E93EF}"/>
              </a:ext>
            </a:extLst>
          </p:cNvPr>
          <p:cNvSpPr txBox="1"/>
          <p:nvPr/>
        </p:nvSpPr>
        <p:spPr>
          <a:xfrm>
            <a:off x="7167369" y="6105657"/>
            <a:ext cx="1961259" cy="584775"/>
          </a:xfrm>
          <a:prstGeom prst="rect">
            <a:avLst/>
          </a:prstGeom>
          <a:solidFill>
            <a:schemeClr val="accent1">
              <a:lumMod val="20000"/>
              <a:lumOff val="80000"/>
            </a:schemeClr>
          </a:solidFill>
        </p:spPr>
        <p:txBody>
          <a:bodyPr wrap="square" rtlCol="0">
            <a:spAutoFit/>
          </a:bodyPr>
          <a:lstStyle/>
          <a:p>
            <a:r>
              <a:rPr lang="en-MY" sz="1600" dirty="0"/>
              <a:t>90% train set data</a:t>
            </a:r>
          </a:p>
          <a:p>
            <a:r>
              <a:rPr lang="en-MY" sz="1600" dirty="0"/>
              <a:t>10% test set data</a:t>
            </a:r>
          </a:p>
        </p:txBody>
      </p:sp>
      <p:sp>
        <p:nvSpPr>
          <p:cNvPr id="26" name="TextBox 25">
            <a:extLst>
              <a:ext uri="{FF2B5EF4-FFF2-40B4-BE49-F238E27FC236}">
                <a16:creationId xmlns:a16="http://schemas.microsoft.com/office/drawing/2014/main" id="{3D05E32B-2A67-CA48-AD5C-DE81EC4C4586}"/>
              </a:ext>
            </a:extLst>
          </p:cNvPr>
          <p:cNvSpPr txBox="1"/>
          <p:nvPr/>
        </p:nvSpPr>
        <p:spPr>
          <a:xfrm>
            <a:off x="4800336" y="195212"/>
            <a:ext cx="621828" cy="369332"/>
          </a:xfrm>
          <a:prstGeom prst="rect">
            <a:avLst/>
          </a:prstGeom>
          <a:solidFill>
            <a:schemeClr val="accent1">
              <a:lumMod val="20000"/>
              <a:lumOff val="80000"/>
            </a:schemeClr>
          </a:solidFill>
        </p:spPr>
        <p:txBody>
          <a:bodyPr wrap="square">
            <a:spAutoFit/>
          </a:bodyPr>
          <a:lstStyle/>
          <a:p>
            <a:r>
              <a:rPr lang="en-MY" sz="1800" kern="100" dirty="0">
                <a:ea typeface="DengXian" panose="02010600030101010101" pitchFamily="2" charset="-122"/>
              </a:rPr>
              <a:t>H</a:t>
            </a:r>
            <a:r>
              <a:rPr lang="en-MY" sz="1800" kern="100" baseline="-25000" dirty="0">
                <a:ea typeface="DengXian" panose="02010600030101010101" pitchFamily="2" charset="-122"/>
              </a:rPr>
              <a:t>2</a:t>
            </a:r>
            <a:r>
              <a:rPr lang="en-MY" sz="1800" kern="100" dirty="0">
                <a:ea typeface="DengXian" panose="02010600030101010101" pitchFamily="2" charset="-122"/>
              </a:rPr>
              <a:t>O</a:t>
            </a:r>
            <a:endParaRPr lang="en-MY" dirty="0"/>
          </a:p>
        </p:txBody>
      </p:sp>
      <p:sp>
        <p:nvSpPr>
          <p:cNvPr id="27" name="TextBox 26">
            <a:extLst>
              <a:ext uri="{FF2B5EF4-FFF2-40B4-BE49-F238E27FC236}">
                <a16:creationId xmlns:a16="http://schemas.microsoft.com/office/drawing/2014/main" id="{B1181747-ED69-6718-1BDE-A6A1A4E686AD}"/>
              </a:ext>
            </a:extLst>
          </p:cNvPr>
          <p:cNvSpPr txBox="1"/>
          <p:nvPr/>
        </p:nvSpPr>
        <p:spPr>
          <a:xfrm>
            <a:off x="5024596" y="3164064"/>
            <a:ext cx="621828" cy="369332"/>
          </a:xfrm>
          <a:prstGeom prst="rect">
            <a:avLst/>
          </a:prstGeom>
          <a:solidFill>
            <a:schemeClr val="accent1">
              <a:lumMod val="20000"/>
              <a:lumOff val="80000"/>
            </a:schemeClr>
          </a:solidFill>
        </p:spPr>
        <p:txBody>
          <a:bodyPr wrap="square">
            <a:spAutoFit/>
          </a:bodyPr>
          <a:lstStyle/>
          <a:p>
            <a:r>
              <a:rPr lang="en-MY" sz="1800" kern="100" dirty="0">
                <a:ea typeface="DengXian" panose="02010600030101010101" pitchFamily="2" charset="-122"/>
              </a:rPr>
              <a:t>H</a:t>
            </a:r>
            <a:r>
              <a:rPr lang="en-MY" sz="1800" kern="100" baseline="-25000" dirty="0">
                <a:ea typeface="DengXian" panose="02010600030101010101" pitchFamily="2" charset="-122"/>
              </a:rPr>
              <a:t>2</a:t>
            </a:r>
            <a:r>
              <a:rPr lang="en-MY" sz="1800" kern="100" dirty="0">
                <a:ea typeface="DengXian" panose="02010600030101010101" pitchFamily="2" charset="-122"/>
              </a:rPr>
              <a:t>O</a:t>
            </a:r>
            <a:endParaRPr lang="en-MY" dirty="0"/>
          </a:p>
        </p:txBody>
      </p:sp>
      <p:sp>
        <p:nvSpPr>
          <p:cNvPr id="28" name="TextBox 27">
            <a:extLst>
              <a:ext uri="{FF2B5EF4-FFF2-40B4-BE49-F238E27FC236}">
                <a16:creationId xmlns:a16="http://schemas.microsoft.com/office/drawing/2014/main" id="{D1CD9B0A-354D-AEF6-CE0B-3933F104DC98}"/>
              </a:ext>
            </a:extLst>
          </p:cNvPr>
          <p:cNvSpPr txBox="1"/>
          <p:nvPr/>
        </p:nvSpPr>
        <p:spPr>
          <a:xfrm>
            <a:off x="8933163" y="3107355"/>
            <a:ext cx="621828" cy="369332"/>
          </a:xfrm>
          <a:prstGeom prst="rect">
            <a:avLst/>
          </a:prstGeom>
          <a:solidFill>
            <a:schemeClr val="accent1">
              <a:lumMod val="20000"/>
              <a:lumOff val="80000"/>
            </a:schemeClr>
          </a:solidFill>
        </p:spPr>
        <p:txBody>
          <a:bodyPr wrap="square">
            <a:spAutoFit/>
          </a:bodyPr>
          <a:lstStyle/>
          <a:p>
            <a:r>
              <a:rPr lang="en-MY" sz="1800" kern="100" dirty="0">
                <a:ea typeface="DengXian" panose="02010600030101010101" pitchFamily="2" charset="-122"/>
              </a:rPr>
              <a:t>H</a:t>
            </a:r>
            <a:r>
              <a:rPr lang="en-MY" sz="1800" kern="100" baseline="-25000" dirty="0">
                <a:ea typeface="DengXian" panose="02010600030101010101" pitchFamily="2" charset="-122"/>
              </a:rPr>
              <a:t>2</a:t>
            </a:r>
            <a:r>
              <a:rPr lang="en-MY" sz="1800" kern="100" dirty="0">
                <a:ea typeface="DengXian" panose="02010600030101010101" pitchFamily="2" charset="-122"/>
              </a:rPr>
              <a:t>O</a:t>
            </a:r>
            <a:endParaRPr lang="en-MY" dirty="0"/>
          </a:p>
        </p:txBody>
      </p:sp>
      <p:cxnSp>
        <p:nvCxnSpPr>
          <p:cNvPr id="30" name="Straight Arrow Connector 29">
            <a:extLst>
              <a:ext uri="{FF2B5EF4-FFF2-40B4-BE49-F238E27FC236}">
                <a16:creationId xmlns:a16="http://schemas.microsoft.com/office/drawing/2014/main" id="{0C380190-B453-C46D-AE5E-F98776B533AF}"/>
              </a:ext>
            </a:extLst>
          </p:cNvPr>
          <p:cNvCxnSpPr>
            <a:cxnSpLocks/>
          </p:cNvCxnSpPr>
          <p:nvPr/>
        </p:nvCxnSpPr>
        <p:spPr>
          <a:xfrm>
            <a:off x="6096000" y="1507958"/>
            <a:ext cx="0" cy="5391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F08EF7E-D21B-CD5E-A8B7-806870B6AC7E}"/>
              </a:ext>
            </a:extLst>
          </p:cNvPr>
          <p:cNvCxnSpPr>
            <a:cxnSpLocks/>
          </p:cNvCxnSpPr>
          <p:nvPr/>
        </p:nvCxnSpPr>
        <p:spPr>
          <a:xfrm flipV="1">
            <a:off x="6515229" y="3996210"/>
            <a:ext cx="0" cy="559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8546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36E43E9-A3B7-747A-CE7D-1A1201A73E31}"/>
              </a:ext>
            </a:extLst>
          </p:cNvPr>
          <p:cNvSpPr/>
          <p:nvPr/>
        </p:nvSpPr>
        <p:spPr>
          <a:xfrm>
            <a:off x="435227" y="2393506"/>
            <a:ext cx="3446149" cy="3357980"/>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itle 1">
            <a:extLst>
              <a:ext uri="{FF2B5EF4-FFF2-40B4-BE49-F238E27FC236}">
                <a16:creationId xmlns:a16="http://schemas.microsoft.com/office/drawing/2014/main" id="{A0806569-409B-AEF3-4758-944450883924}"/>
              </a:ext>
            </a:extLst>
          </p:cNvPr>
          <p:cNvSpPr>
            <a:spLocks noGrp="1"/>
          </p:cNvSpPr>
          <p:nvPr>
            <p:ph type="title" idx="4294967295"/>
          </p:nvPr>
        </p:nvSpPr>
        <p:spPr>
          <a:xfrm>
            <a:off x="51697" y="59974"/>
            <a:ext cx="6416794" cy="807613"/>
          </a:xfrm>
        </p:spPr>
        <p:txBody>
          <a:bodyPr/>
          <a:lstStyle/>
          <a:p>
            <a:r>
              <a:rPr lang="en-MY" dirty="0"/>
              <a:t>Increasing dataset size</a:t>
            </a:r>
          </a:p>
        </p:txBody>
      </p:sp>
      <p:pic>
        <p:nvPicPr>
          <p:cNvPr id="7" name="Picture 6" descr="A graph of a test set&#10;&#10;AI-generated content may be incorrect.">
            <a:extLst>
              <a:ext uri="{FF2B5EF4-FFF2-40B4-BE49-F238E27FC236}">
                <a16:creationId xmlns:a16="http://schemas.microsoft.com/office/drawing/2014/main" id="{D8BABD9E-9ECE-B7DD-D38E-09A6F6D3B4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0322" y="3376982"/>
            <a:ext cx="2918463" cy="2627223"/>
          </a:xfrm>
          <a:prstGeom prst="rect">
            <a:avLst/>
          </a:prstGeom>
        </p:spPr>
      </p:pic>
      <p:pic>
        <p:nvPicPr>
          <p:cNvPr id="11" name="Picture 10" descr="A graph of a test set&#10;&#10;AI-generated content may be incorrect.">
            <a:extLst>
              <a:ext uri="{FF2B5EF4-FFF2-40B4-BE49-F238E27FC236}">
                <a16:creationId xmlns:a16="http://schemas.microsoft.com/office/drawing/2014/main" id="{165FC3EE-F1B4-A35F-A712-FD78F14290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9240" y="3376981"/>
            <a:ext cx="3100487" cy="2627223"/>
          </a:xfrm>
          <a:prstGeom prst="rect">
            <a:avLst/>
          </a:prstGeom>
        </p:spPr>
      </p:pic>
      <p:pic>
        <p:nvPicPr>
          <p:cNvPr id="14" name="Picture 13" descr="A graph of a test set&#10;&#10;AI-generated content may be incorrect.">
            <a:extLst>
              <a:ext uri="{FF2B5EF4-FFF2-40B4-BE49-F238E27FC236}">
                <a16:creationId xmlns:a16="http://schemas.microsoft.com/office/drawing/2014/main" id="{F0B3AA0D-6FC0-AD76-A68D-604427DD07C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72592" y="337670"/>
            <a:ext cx="2973070" cy="2627223"/>
          </a:xfrm>
          <a:prstGeom prst="rect">
            <a:avLst/>
          </a:prstGeom>
        </p:spPr>
      </p:pic>
      <p:sp>
        <p:nvSpPr>
          <p:cNvPr id="3" name="TextBox 2">
            <a:extLst>
              <a:ext uri="{FF2B5EF4-FFF2-40B4-BE49-F238E27FC236}">
                <a16:creationId xmlns:a16="http://schemas.microsoft.com/office/drawing/2014/main" id="{81982FAD-7319-B5FA-0390-36ED3D03CAD1}"/>
              </a:ext>
            </a:extLst>
          </p:cNvPr>
          <p:cNvSpPr txBox="1"/>
          <p:nvPr/>
        </p:nvSpPr>
        <p:spPr>
          <a:xfrm>
            <a:off x="608057" y="2560580"/>
            <a:ext cx="3100487" cy="369332"/>
          </a:xfrm>
          <a:prstGeom prst="rect">
            <a:avLst/>
          </a:prstGeom>
          <a:noFill/>
        </p:spPr>
        <p:txBody>
          <a:bodyPr wrap="square" rtlCol="0">
            <a:spAutoFit/>
          </a:bodyPr>
          <a:lstStyle/>
          <a:p>
            <a:r>
              <a:rPr lang="en-MY" dirty="0"/>
              <a:t>10000 </a:t>
            </a:r>
            <a:r>
              <a:rPr lang="en-MY" dirty="0">
                <a:sym typeface="Wingdings" panose="05000000000000000000" pitchFamily="2" charset="2"/>
              </a:rPr>
              <a:t> 20000 time steps</a:t>
            </a:r>
            <a:endParaRPr lang="en-MY" dirty="0"/>
          </a:p>
        </p:txBody>
      </p:sp>
      <p:sp>
        <p:nvSpPr>
          <p:cNvPr id="6" name="TextBox 5">
            <a:extLst>
              <a:ext uri="{FF2B5EF4-FFF2-40B4-BE49-F238E27FC236}">
                <a16:creationId xmlns:a16="http://schemas.microsoft.com/office/drawing/2014/main" id="{4A16FE4A-5A4C-78E6-0A75-7BA303B8D13E}"/>
              </a:ext>
            </a:extLst>
          </p:cNvPr>
          <p:cNvSpPr txBox="1"/>
          <p:nvPr/>
        </p:nvSpPr>
        <p:spPr>
          <a:xfrm>
            <a:off x="493410" y="1106514"/>
            <a:ext cx="3387965" cy="1067472"/>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kern="100" dirty="0">
                <a:ea typeface="DengXian" panose="02010600030101010101" pitchFamily="2" charset="-122"/>
              </a:rPr>
              <a:t>H</a:t>
            </a:r>
            <a:r>
              <a:rPr lang="en-MY" kern="100" baseline="-25000" dirty="0">
                <a:ea typeface="DengXian" panose="02010600030101010101" pitchFamily="2" charset="-122"/>
              </a:rPr>
              <a:t>2</a:t>
            </a:r>
            <a:r>
              <a:rPr lang="en-MY" kern="100" dirty="0">
                <a:ea typeface="DengXian" panose="02010600030101010101" pitchFamily="2" charset="-122"/>
              </a:rPr>
              <a:t>O</a:t>
            </a:r>
          </a:p>
          <a:p>
            <a:r>
              <a:rPr lang="en-MY" dirty="0"/>
              <a:t>STO-3G </a:t>
            </a:r>
          </a:p>
          <a:p>
            <a:r>
              <a:rPr lang="en-MY" dirty="0"/>
              <a:t>10000 / 20000 time steps</a:t>
            </a:r>
          </a:p>
        </p:txBody>
      </p:sp>
      <p:sp>
        <p:nvSpPr>
          <p:cNvPr id="8" name="TextBox 7">
            <a:extLst>
              <a:ext uri="{FF2B5EF4-FFF2-40B4-BE49-F238E27FC236}">
                <a16:creationId xmlns:a16="http://schemas.microsoft.com/office/drawing/2014/main" id="{D2465292-E675-AB6A-86FF-6AA1C7378FD3}"/>
              </a:ext>
            </a:extLst>
          </p:cNvPr>
          <p:cNvSpPr txBox="1"/>
          <p:nvPr/>
        </p:nvSpPr>
        <p:spPr>
          <a:xfrm>
            <a:off x="10777794" y="49231"/>
            <a:ext cx="558549" cy="369332"/>
          </a:xfrm>
          <a:prstGeom prst="rect">
            <a:avLst/>
          </a:prstGeom>
          <a:solidFill>
            <a:schemeClr val="accent2">
              <a:lumMod val="20000"/>
              <a:lumOff val="80000"/>
            </a:schemeClr>
          </a:solidFill>
        </p:spPr>
        <p:txBody>
          <a:bodyPr wrap="square" rtlCol="0">
            <a:spAutoFit/>
          </a:bodyPr>
          <a:lstStyle/>
          <a:p>
            <a:r>
              <a:rPr lang="en-MY" dirty="0"/>
              <a:t>R</a:t>
            </a:r>
            <a:r>
              <a:rPr lang="en-MY" baseline="30000" dirty="0"/>
              <a:t>2</a:t>
            </a:r>
            <a:endParaRPr lang="en-MY" dirty="0"/>
          </a:p>
        </p:txBody>
      </p:sp>
      <p:sp>
        <p:nvSpPr>
          <p:cNvPr id="9" name="TextBox 8">
            <a:extLst>
              <a:ext uri="{FF2B5EF4-FFF2-40B4-BE49-F238E27FC236}">
                <a16:creationId xmlns:a16="http://schemas.microsoft.com/office/drawing/2014/main" id="{4F23EF3C-6A1B-A2D8-5BCC-6B463701D7D0}"/>
              </a:ext>
            </a:extLst>
          </p:cNvPr>
          <p:cNvSpPr txBox="1"/>
          <p:nvPr/>
        </p:nvSpPr>
        <p:spPr>
          <a:xfrm>
            <a:off x="10602049" y="3068666"/>
            <a:ext cx="910040" cy="369332"/>
          </a:xfrm>
          <a:prstGeom prst="rect">
            <a:avLst/>
          </a:prstGeom>
          <a:solidFill>
            <a:schemeClr val="accent2">
              <a:lumMod val="20000"/>
              <a:lumOff val="80000"/>
            </a:schemeClr>
          </a:solidFill>
        </p:spPr>
        <p:txBody>
          <a:bodyPr wrap="square" rtlCol="0">
            <a:spAutoFit/>
          </a:bodyPr>
          <a:lstStyle/>
          <a:p>
            <a:r>
              <a:rPr lang="en-MY" dirty="0"/>
              <a:t>RMSE</a:t>
            </a:r>
          </a:p>
        </p:txBody>
      </p:sp>
      <p:sp>
        <p:nvSpPr>
          <p:cNvPr id="10" name="TextBox 9">
            <a:extLst>
              <a:ext uri="{FF2B5EF4-FFF2-40B4-BE49-F238E27FC236}">
                <a16:creationId xmlns:a16="http://schemas.microsoft.com/office/drawing/2014/main" id="{8DAFC307-F250-2ACD-751D-2E80FC9FBECD}"/>
              </a:ext>
            </a:extLst>
          </p:cNvPr>
          <p:cNvSpPr txBox="1"/>
          <p:nvPr/>
        </p:nvSpPr>
        <p:spPr>
          <a:xfrm>
            <a:off x="7196282" y="3192315"/>
            <a:ext cx="910040" cy="369332"/>
          </a:xfrm>
          <a:prstGeom prst="rect">
            <a:avLst/>
          </a:prstGeom>
          <a:solidFill>
            <a:schemeClr val="accent2">
              <a:lumMod val="20000"/>
              <a:lumOff val="80000"/>
            </a:schemeClr>
          </a:solidFill>
        </p:spPr>
        <p:txBody>
          <a:bodyPr wrap="square" rtlCol="0">
            <a:spAutoFit/>
          </a:bodyPr>
          <a:lstStyle/>
          <a:p>
            <a:r>
              <a:rPr lang="en-MY" dirty="0"/>
              <a:t>MAPE</a:t>
            </a:r>
          </a:p>
        </p:txBody>
      </p:sp>
      <p:sp>
        <p:nvSpPr>
          <p:cNvPr id="13" name="TextBox 12">
            <a:extLst>
              <a:ext uri="{FF2B5EF4-FFF2-40B4-BE49-F238E27FC236}">
                <a16:creationId xmlns:a16="http://schemas.microsoft.com/office/drawing/2014/main" id="{A4AAA73F-1B2C-6EC5-8F0E-034755285E79}"/>
              </a:ext>
            </a:extLst>
          </p:cNvPr>
          <p:cNvSpPr txBox="1"/>
          <p:nvPr/>
        </p:nvSpPr>
        <p:spPr>
          <a:xfrm>
            <a:off x="493411" y="3376981"/>
            <a:ext cx="3100487" cy="923330"/>
          </a:xfrm>
          <a:prstGeom prst="rect">
            <a:avLst/>
          </a:prstGeom>
          <a:noFill/>
        </p:spPr>
        <p:txBody>
          <a:bodyPr wrap="square">
            <a:spAutoFit/>
          </a:bodyPr>
          <a:lstStyle/>
          <a:p>
            <a:pPr marL="285750" indent="-285750">
              <a:buFont typeface="Arial" panose="020B0604020202020204" pitchFamily="34" charset="0"/>
              <a:buChar char="•"/>
            </a:pPr>
            <a:r>
              <a:rPr lang="en-US" dirty="0"/>
              <a:t>double the training data</a:t>
            </a:r>
          </a:p>
          <a:p>
            <a:pPr marL="285750" indent="-285750">
              <a:buFont typeface="Arial" panose="020B0604020202020204" pitchFamily="34" charset="0"/>
              <a:buChar char="•"/>
            </a:pPr>
            <a:r>
              <a:rPr lang="en-US" dirty="0"/>
              <a:t>longer propagation lowers the inaccuracy</a:t>
            </a:r>
            <a:endParaRPr lang="en-MY" dirty="0"/>
          </a:p>
        </p:txBody>
      </p:sp>
    </p:spTree>
    <p:extLst>
      <p:ext uri="{BB962C8B-B14F-4D97-AF65-F5344CB8AC3E}">
        <p14:creationId xmlns:p14="http://schemas.microsoft.com/office/powerpoint/2010/main" val="2994629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D95612E-83BD-D5CC-829E-FBC7BDD707D0}"/>
              </a:ext>
            </a:extLst>
          </p:cNvPr>
          <p:cNvSpPr/>
          <p:nvPr/>
        </p:nvSpPr>
        <p:spPr>
          <a:xfrm>
            <a:off x="319171" y="2326355"/>
            <a:ext cx="3446149" cy="3357980"/>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 name="Title 1">
            <a:extLst>
              <a:ext uri="{FF2B5EF4-FFF2-40B4-BE49-F238E27FC236}">
                <a16:creationId xmlns:a16="http://schemas.microsoft.com/office/drawing/2014/main" id="{5C6F16D7-8DC5-16EF-B0B3-6230AF6B6325}"/>
              </a:ext>
            </a:extLst>
          </p:cNvPr>
          <p:cNvSpPr>
            <a:spLocks noGrp="1"/>
          </p:cNvSpPr>
          <p:nvPr>
            <p:ph type="title" idx="4294967295"/>
          </p:nvPr>
        </p:nvSpPr>
        <p:spPr>
          <a:xfrm>
            <a:off x="190500" y="-441232"/>
            <a:ext cx="10058400" cy="1449387"/>
          </a:xfrm>
        </p:spPr>
        <p:txBody>
          <a:bodyPr/>
          <a:lstStyle/>
          <a:p>
            <a:r>
              <a:rPr lang="en-MY" dirty="0"/>
              <a:t>Increasing basis size</a:t>
            </a:r>
          </a:p>
        </p:txBody>
      </p:sp>
      <p:pic>
        <p:nvPicPr>
          <p:cNvPr id="6" name="Picture 5" descr="A graph with numbers and lines&#10;&#10;AI-generated content may be incorrect.">
            <a:extLst>
              <a:ext uri="{FF2B5EF4-FFF2-40B4-BE49-F238E27FC236}">
                <a16:creationId xmlns:a16="http://schemas.microsoft.com/office/drawing/2014/main" id="{C775A9A3-644D-AA44-AA29-EB59BCA4AC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6798" y="3253332"/>
            <a:ext cx="3243832" cy="2920123"/>
          </a:xfrm>
          <a:prstGeom prst="rect">
            <a:avLst/>
          </a:prstGeom>
        </p:spPr>
      </p:pic>
      <p:pic>
        <p:nvPicPr>
          <p:cNvPr id="10" name="Picture 9" descr="A graph of a test set&#10;&#10;AI-generated content may be incorrect.">
            <a:extLst>
              <a:ext uri="{FF2B5EF4-FFF2-40B4-BE49-F238E27FC236}">
                <a16:creationId xmlns:a16="http://schemas.microsoft.com/office/drawing/2014/main" id="{B878B00D-5454-6297-C774-05E2D88F34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3846" y="0"/>
            <a:ext cx="3446149" cy="2920123"/>
          </a:xfrm>
          <a:prstGeom prst="rect">
            <a:avLst/>
          </a:prstGeom>
        </p:spPr>
      </p:pic>
      <p:pic>
        <p:nvPicPr>
          <p:cNvPr id="13" name="Picture 12" descr="A graph with blue and orange lines&#10;&#10;AI-generated content may be incorrect.">
            <a:extLst>
              <a:ext uri="{FF2B5EF4-FFF2-40B4-BE49-F238E27FC236}">
                <a16:creationId xmlns:a16="http://schemas.microsoft.com/office/drawing/2014/main" id="{D9825796-14AA-4B41-A36E-30AA88B63A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14994" y="3253331"/>
            <a:ext cx="3304527" cy="2920123"/>
          </a:xfrm>
          <a:prstGeom prst="rect">
            <a:avLst/>
          </a:prstGeom>
        </p:spPr>
      </p:pic>
      <p:sp>
        <p:nvSpPr>
          <p:cNvPr id="3" name="TextBox 2">
            <a:extLst>
              <a:ext uri="{FF2B5EF4-FFF2-40B4-BE49-F238E27FC236}">
                <a16:creationId xmlns:a16="http://schemas.microsoft.com/office/drawing/2014/main" id="{7D3F605D-2F98-F42D-535A-39BAF0518FA2}"/>
              </a:ext>
            </a:extLst>
          </p:cNvPr>
          <p:cNvSpPr txBox="1"/>
          <p:nvPr/>
        </p:nvSpPr>
        <p:spPr>
          <a:xfrm>
            <a:off x="319171" y="2326355"/>
            <a:ext cx="3100487" cy="369332"/>
          </a:xfrm>
          <a:prstGeom prst="rect">
            <a:avLst/>
          </a:prstGeom>
          <a:noFill/>
        </p:spPr>
        <p:txBody>
          <a:bodyPr wrap="square" rtlCol="0">
            <a:spAutoFit/>
          </a:bodyPr>
          <a:lstStyle/>
          <a:p>
            <a:r>
              <a:rPr lang="en-MY" dirty="0"/>
              <a:t>STO-3G </a:t>
            </a:r>
            <a:r>
              <a:rPr lang="en-MY" dirty="0">
                <a:sym typeface="Wingdings" panose="05000000000000000000" pitchFamily="2" charset="2"/>
              </a:rPr>
              <a:t> 6-31G</a:t>
            </a:r>
            <a:endParaRPr lang="en-MY" dirty="0"/>
          </a:p>
        </p:txBody>
      </p:sp>
      <p:sp>
        <p:nvSpPr>
          <p:cNvPr id="4" name="TextBox 3">
            <a:extLst>
              <a:ext uri="{FF2B5EF4-FFF2-40B4-BE49-F238E27FC236}">
                <a16:creationId xmlns:a16="http://schemas.microsoft.com/office/drawing/2014/main" id="{D0461F51-270C-53AB-B5C0-26CE0F7B7421}"/>
              </a:ext>
            </a:extLst>
          </p:cNvPr>
          <p:cNvSpPr txBox="1"/>
          <p:nvPr/>
        </p:nvSpPr>
        <p:spPr>
          <a:xfrm>
            <a:off x="319171" y="1173665"/>
            <a:ext cx="3378002" cy="790473"/>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kern="100" dirty="0">
                <a:ea typeface="DengXian" panose="02010600030101010101" pitchFamily="2" charset="-122"/>
              </a:rPr>
              <a:t>H</a:t>
            </a:r>
            <a:r>
              <a:rPr lang="en-MY" kern="100" baseline="-25000" dirty="0">
                <a:ea typeface="DengXian" panose="02010600030101010101" pitchFamily="2" charset="-122"/>
              </a:rPr>
              <a:t>2</a:t>
            </a:r>
            <a:r>
              <a:rPr lang="en-MY" kern="100" dirty="0">
                <a:ea typeface="DengXian" panose="02010600030101010101" pitchFamily="2" charset="-122"/>
              </a:rPr>
              <a:t>O</a:t>
            </a:r>
          </a:p>
          <a:p>
            <a:r>
              <a:rPr lang="en-MY" dirty="0"/>
              <a:t>STO-3G 10000 time steps</a:t>
            </a:r>
          </a:p>
        </p:txBody>
      </p:sp>
      <p:sp>
        <p:nvSpPr>
          <p:cNvPr id="5" name="TextBox 4">
            <a:extLst>
              <a:ext uri="{FF2B5EF4-FFF2-40B4-BE49-F238E27FC236}">
                <a16:creationId xmlns:a16="http://schemas.microsoft.com/office/drawing/2014/main" id="{ED6625BC-E430-5AB1-39FE-D1D6F8795647}"/>
              </a:ext>
            </a:extLst>
          </p:cNvPr>
          <p:cNvSpPr txBox="1"/>
          <p:nvPr/>
        </p:nvSpPr>
        <p:spPr>
          <a:xfrm>
            <a:off x="10658697" y="98795"/>
            <a:ext cx="558549" cy="369332"/>
          </a:xfrm>
          <a:prstGeom prst="rect">
            <a:avLst/>
          </a:prstGeom>
          <a:solidFill>
            <a:schemeClr val="accent2">
              <a:lumMod val="20000"/>
              <a:lumOff val="80000"/>
            </a:schemeClr>
          </a:solidFill>
        </p:spPr>
        <p:txBody>
          <a:bodyPr wrap="square" rtlCol="0">
            <a:spAutoFit/>
          </a:bodyPr>
          <a:lstStyle/>
          <a:p>
            <a:r>
              <a:rPr lang="en-MY" dirty="0"/>
              <a:t>R</a:t>
            </a:r>
            <a:r>
              <a:rPr lang="en-MY" baseline="30000" dirty="0"/>
              <a:t>2</a:t>
            </a:r>
            <a:endParaRPr lang="en-MY" dirty="0"/>
          </a:p>
        </p:txBody>
      </p:sp>
      <p:sp>
        <p:nvSpPr>
          <p:cNvPr id="7" name="TextBox 6">
            <a:extLst>
              <a:ext uri="{FF2B5EF4-FFF2-40B4-BE49-F238E27FC236}">
                <a16:creationId xmlns:a16="http://schemas.microsoft.com/office/drawing/2014/main" id="{E2B18DB6-3784-D5AA-D5F0-4712AB88280D}"/>
              </a:ext>
            </a:extLst>
          </p:cNvPr>
          <p:cNvSpPr txBox="1"/>
          <p:nvPr/>
        </p:nvSpPr>
        <p:spPr>
          <a:xfrm>
            <a:off x="6917008" y="2955857"/>
            <a:ext cx="910040" cy="369332"/>
          </a:xfrm>
          <a:prstGeom prst="rect">
            <a:avLst/>
          </a:prstGeom>
          <a:solidFill>
            <a:schemeClr val="accent2">
              <a:lumMod val="20000"/>
              <a:lumOff val="80000"/>
            </a:schemeClr>
          </a:solidFill>
        </p:spPr>
        <p:txBody>
          <a:bodyPr wrap="square" rtlCol="0">
            <a:spAutoFit/>
          </a:bodyPr>
          <a:lstStyle/>
          <a:p>
            <a:r>
              <a:rPr lang="en-MY" dirty="0"/>
              <a:t>RMSE</a:t>
            </a:r>
          </a:p>
        </p:txBody>
      </p:sp>
      <p:sp>
        <p:nvSpPr>
          <p:cNvPr id="8" name="TextBox 7">
            <a:extLst>
              <a:ext uri="{FF2B5EF4-FFF2-40B4-BE49-F238E27FC236}">
                <a16:creationId xmlns:a16="http://schemas.microsoft.com/office/drawing/2014/main" id="{4935823C-D6F6-1AF8-B3FB-01B650542614}"/>
              </a:ext>
            </a:extLst>
          </p:cNvPr>
          <p:cNvSpPr txBox="1"/>
          <p:nvPr/>
        </p:nvSpPr>
        <p:spPr>
          <a:xfrm>
            <a:off x="10649995" y="3028842"/>
            <a:ext cx="910040" cy="369332"/>
          </a:xfrm>
          <a:prstGeom prst="rect">
            <a:avLst/>
          </a:prstGeom>
          <a:solidFill>
            <a:schemeClr val="accent2">
              <a:lumMod val="20000"/>
              <a:lumOff val="80000"/>
            </a:schemeClr>
          </a:solidFill>
        </p:spPr>
        <p:txBody>
          <a:bodyPr wrap="square" rtlCol="0">
            <a:spAutoFit/>
          </a:bodyPr>
          <a:lstStyle/>
          <a:p>
            <a:r>
              <a:rPr lang="en-MY" dirty="0"/>
              <a:t>MAPE</a:t>
            </a:r>
          </a:p>
        </p:txBody>
      </p:sp>
      <p:sp>
        <p:nvSpPr>
          <p:cNvPr id="9" name="TextBox 8">
            <a:extLst>
              <a:ext uri="{FF2B5EF4-FFF2-40B4-BE49-F238E27FC236}">
                <a16:creationId xmlns:a16="http://schemas.microsoft.com/office/drawing/2014/main" id="{BE35003C-F487-2D78-0B83-047B65534DA4}"/>
              </a:ext>
            </a:extLst>
          </p:cNvPr>
          <p:cNvSpPr txBox="1"/>
          <p:nvPr/>
        </p:nvSpPr>
        <p:spPr>
          <a:xfrm>
            <a:off x="386256" y="3002023"/>
            <a:ext cx="3243832" cy="646331"/>
          </a:xfrm>
          <a:prstGeom prst="rect">
            <a:avLst/>
          </a:prstGeom>
          <a:noFill/>
        </p:spPr>
        <p:txBody>
          <a:bodyPr wrap="square" rtlCol="0">
            <a:spAutoFit/>
          </a:bodyPr>
          <a:lstStyle/>
          <a:p>
            <a:r>
              <a:rPr lang="en-MY" dirty="0"/>
              <a:t>49 </a:t>
            </a:r>
            <a:r>
              <a:rPr lang="en-MY" dirty="0">
                <a:sym typeface="Wingdings" panose="05000000000000000000" pitchFamily="2" charset="2"/>
              </a:rPr>
              <a:t> 169 Fock matrix elements</a:t>
            </a:r>
            <a:endParaRPr lang="en-MY" dirty="0"/>
          </a:p>
        </p:txBody>
      </p:sp>
      <p:sp>
        <p:nvSpPr>
          <p:cNvPr id="12" name="TextBox 11">
            <a:extLst>
              <a:ext uri="{FF2B5EF4-FFF2-40B4-BE49-F238E27FC236}">
                <a16:creationId xmlns:a16="http://schemas.microsoft.com/office/drawing/2014/main" id="{A85F1301-EC90-8B28-B540-BE8C0396FD0D}"/>
              </a:ext>
            </a:extLst>
          </p:cNvPr>
          <p:cNvSpPr txBox="1"/>
          <p:nvPr/>
        </p:nvSpPr>
        <p:spPr>
          <a:xfrm>
            <a:off x="386256" y="4570697"/>
            <a:ext cx="3310917" cy="646331"/>
          </a:xfrm>
          <a:prstGeom prst="rect">
            <a:avLst/>
          </a:prstGeom>
          <a:noFill/>
        </p:spPr>
        <p:txBody>
          <a:bodyPr wrap="square">
            <a:spAutoFit/>
          </a:bodyPr>
          <a:lstStyle/>
          <a:p>
            <a:r>
              <a:rPr lang="en-MY" dirty="0" err="1"/>
              <a:t>aug</a:t>
            </a:r>
            <a:r>
              <a:rPr lang="en-MY" dirty="0"/>
              <a:t>-cc-</a:t>
            </a:r>
            <a:r>
              <a:rPr lang="en-MY" dirty="0" err="1"/>
              <a:t>pVDZ</a:t>
            </a:r>
            <a:r>
              <a:rPr lang="en-MY" dirty="0"/>
              <a:t>  </a:t>
            </a:r>
            <a:r>
              <a:rPr lang="en-MY" dirty="0">
                <a:sym typeface="Wingdings" panose="05000000000000000000" pitchFamily="2" charset="2"/>
              </a:rPr>
              <a:t> </a:t>
            </a:r>
            <a:r>
              <a:rPr lang="en-US" dirty="0"/>
              <a:t>41 × 41, </a:t>
            </a:r>
          </a:p>
          <a:p>
            <a:r>
              <a:rPr lang="en-US" dirty="0" err="1"/>
              <a:t>aug</a:t>
            </a:r>
            <a:r>
              <a:rPr lang="en-US" dirty="0"/>
              <a:t>-cc-</a:t>
            </a:r>
            <a:r>
              <a:rPr lang="en-US" dirty="0" err="1"/>
              <a:t>pVTZ</a:t>
            </a:r>
            <a:r>
              <a:rPr lang="en-US" dirty="0"/>
              <a:t> basis  </a:t>
            </a:r>
            <a:r>
              <a:rPr lang="en-US" dirty="0">
                <a:sym typeface="Wingdings" panose="05000000000000000000" pitchFamily="2" charset="2"/>
              </a:rPr>
              <a:t> </a:t>
            </a:r>
            <a:r>
              <a:rPr lang="en-US" dirty="0"/>
              <a:t>92 × 92</a:t>
            </a:r>
            <a:endParaRPr lang="en-MY" dirty="0"/>
          </a:p>
        </p:txBody>
      </p:sp>
      <p:sp>
        <p:nvSpPr>
          <p:cNvPr id="14" name="TextBox 13">
            <a:extLst>
              <a:ext uri="{FF2B5EF4-FFF2-40B4-BE49-F238E27FC236}">
                <a16:creationId xmlns:a16="http://schemas.microsoft.com/office/drawing/2014/main" id="{E84119B7-EC96-65A1-BFBC-B66C2E43CFE8}"/>
              </a:ext>
            </a:extLst>
          </p:cNvPr>
          <p:cNvSpPr txBox="1"/>
          <p:nvPr/>
        </p:nvSpPr>
        <p:spPr>
          <a:xfrm>
            <a:off x="319171" y="4247152"/>
            <a:ext cx="3243832" cy="369332"/>
          </a:xfrm>
          <a:prstGeom prst="rect">
            <a:avLst/>
          </a:prstGeom>
          <a:noFill/>
        </p:spPr>
        <p:txBody>
          <a:bodyPr wrap="square" rtlCol="0">
            <a:spAutoFit/>
          </a:bodyPr>
          <a:lstStyle/>
          <a:p>
            <a:r>
              <a:rPr lang="en-MY" u="sng" dirty="0"/>
              <a:t>Limitation of method: </a:t>
            </a:r>
          </a:p>
        </p:txBody>
      </p:sp>
    </p:spTree>
    <p:extLst>
      <p:ext uri="{BB962C8B-B14F-4D97-AF65-F5344CB8AC3E}">
        <p14:creationId xmlns:p14="http://schemas.microsoft.com/office/powerpoint/2010/main" val="2473143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18F1E-A978-08DC-26D0-E5FFC5175CF7}"/>
              </a:ext>
            </a:extLst>
          </p:cNvPr>
          <p:cNvSpPr>
            <a:spLocks noGrp="1"/>
          </p:cNvSpPr>
          <p:nvPr>
            <p:ph type="title" idx="4294967295"/>
          </p:nvPr>
        </p:nvSpPr>
        <p:spPr>
          <a:xfrm>
            <a:off x="673079" y="-511684"/>
            <a:ext cx="10058400" cy="1449387"/>
          </a:xfrm>
        </p:spPr>
        <p:txBody>
          <a:bodyPr/>
          <a:lstStyle/>
          <a:p>
            <a:r>
              <a:rPr lang="en-MY" dirty="0"/>
              <a:t>Changing orientation </a:t>
            </a:r>
          </a:p>
        </p:txBody>
      </p:sp>
      <p:pic>
        <p:nvPicPr>
          <p:cNvPr id="5" name="Picture 4">
            <a:extLst>
              <a:ext uri="{FF2B5EF4-FFF2-40B4-BE49-F238E27FC236}">
                <a16:creationId xmlns:a16="http://schemas.microsoft.com/office/drawing/2014/main" id="{14A9D800-BE71-A3EE-7E2B-90D372F844DA}"/>
              </a:ext>
            </a:extLst>
          </p:cNvPr>
          <p:cNvPicPr>
            <a:picLocks noChangeAspect="1"/>
          </p:cNvPicPr>
          <p:nvPr/>
        </p:nvPicPr>
        <p:blipFill>
          <a:blip r:embed="rId3"/>
          <a:stretch>
            <a:fillRect/>
          </a:stretch>
        </p:blipFill>
        <p:spPr>
          <a:xfrm>
            <a:off x="8236402" y="151388"/>
            <a:ext cx="3599979" cy="2773221"/>
          </a:xfrm>
          <a:prstGeom prst="rect">
            <a:avLst/>
          </a:prstGeom>
        </p:spPr>
      </p:pic>
      <p:pic>
        <p:nvPicPr>
          <p:cNvPr id="7" name="Picture 6">
            <a:extLst>
              <a:ext uri="{FF2B5EF4-FFF2-40B4-BE49-F238E27FC236}">
                <a16:creationId xmlns:a16="http://schemas.microsoft.com/office/drawing/2014/main" id="{80CD8EB3-7B4D-1102-F82B-BEF7B21DD613}"/>
              </a:ext>
            </a:extLst>
          </p:cNvPr>
          <p:cNvPicPr>
            <a:picLocks noChangeAspect="1"/>
          </p:cNvPicPr>
          <p:nvPr/>
        </p:nvPicPr>
        <p:blipFill>
          <a:blip r:embed="rId4"/>
          <a:stretch>
            <a:fillRect/>
          </a:stretch>
        </p:blipFill>
        <p:spPr>
          <a:xfrm>
            <a:off x="4455637" y="3408551"/>
            <a:ext cx="3706357" cy="2868799"/>
          </a:xfrm>
          <a:prstGeom prst="rect">
            <a:avLst/>
          </a:prstGeom>
        </p:spPr>
      </p:pic>
      <p:pic>
        <p:nvPicPr>
          <p:cNvPr id="9" name="Picture 8">
            <a:extLst>
              <a:ext uri="{FF2B5EF4-FFF2-40B4-BE49-F238E27FC236}">
                <a16:creationId xmlns:a16="http://schemas.microsoft.com/office/drawing/2014/main" id="{1E32F3DF-8045-542D-61E3-D090ABAF333B}"/>
              </a:ext>
            </a:extLst>
          </p:cNvPr>
          <p:cNvPicPr>
            <a:picLocks noChangeAspect="1"/>
          </p:cNvPicPr>
          <p:nvPr/>
        </p:nvPicPr>
        <p:blipFill>
          <a:blip r:embed="rId5"/>
          <a:stretch>
            <a:fillRect/>
          </a:stretch>
        </p:blipFill>
        <p:spPr>
          <a:xfrm>
            <a:off x="8268345" y="3334493"/>
            <a:ext cx="3811056" cy="2908608"/>
          </a:xfrm>
          <a:prstGeom prst="rect">
            <a:avLst/>
          </a:prstGeom>
        </p:spPr>
      </p:pic>
      <p:sp>
        <p:nvSpPr>
          <p:cNvPr id="10" name="Arrow: Right 9">
            <a:extLst>
              <a:ext uri="{FF2B5EF4-FFF2-40B4-BE49-F238E27FC236}">
                <a16:creationId xmlns:a16="http://schemas.microsoft.com/office/drawing/2014/main" id="{C08D394A-0A87-36FC-A2D2-394D49D75C42}"/>
              </a:ext>
            </a:extLst>
          </p:cNvPr>
          <p:cNvSpPr/>
          <p:nvPr/>
        </p:nvSpPr>
        <p:spPr>
          <a:xfrm>
            <a:off x="877616" y="2393523"/>
            <a:ext cx="760071" cy="243069"/>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Arrow: Right 10">
            <a:extLst>
              <a:ext uri="{FF2B5EF4-FFF2-40B4-BE49-F238E27FC236}">
                <a16:creationId xmlns:a16="http://schemas.microsoft.com/office/drawing/2014/main" id="{E2010B11-E8E0-318A-C6D6-23553E062C50}"/>
              </a:ext>
            </a:extLst>
          </p:cNvPr>
          <p:cNvSpPr/>
          <p:nvPr/>
        </p:nvSpPr>
        <p:spPr>
          <a:xfrm>
            <a:off x="845238" y="3787598"/>
            <a:ext cx="760071" cy="243069"/>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 name="Arrow: Right 11">
            <a:extLst>
              <a:ext uri="{FF2B5EF4-FFF2-40B4-BE49-F238E27FC236}">
                <a16:creationId xmlns:a16="http://schemas.microsoft.com/office/drawing/2014/main" id="{C380BC3F-9BE1-4544-5D96-D99BD32EFEB1}"/>
              </a:ext>
            </a:extLst>
          </p:cNvPr>
          <p:cNvSpPr/>
          <p:nvPr/>
        </p:nvSpPr>
        <p:spPr>
          <a:xfrm>
            <a:off x="845238" y="5063058"/>
            <a:ext cx="760071" cy="243069"/>
          </a:xfrm>
          <a:prstGeom prst="rightArrow">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grpSp>
        <p:nvGrpSpPr>
          <p:cNvPr id="17" name="Group 16">
            <a:extLst>
              <a:ext uri="{FF2B5EF4-FFF2-40B4-BE49-F238E27FC236}">
                <a16:creationId xmlns:a16="http://schemas.microsoft.com/office/drawing/2014/main" id="{A655CCB3-55C1-4969-1D16-5B1A88D2B2A3}"/>
              </a:ext>
            </a:extLst>
          </p:cNvPr>
          <p:cNvGrpSpPr/>
          <p:nvPr/>
        </p:nvGrpSpPr>
        <p:grpSpPr>
          <a:xfrm>
            <a:off x="2057383" y="2192012"/>
            <a:ext cx="1434361" cy="601594"/>
            <a:chOff x="1852849" y="1869804"/>
            <a:chExt cx="1682046" cy="705477"/>
          </a:xfrm>
        </p:grpSpPr>
        <p:sp>
          <p:nvSpPr>
            <p:cNvPr id="13" name="Oval 12">
              <a:extLst>
                <a:ext uri="{FF2B5EF4-FFF2-40B4-BE49-F238E27FC236}">
                  <a16:creationId xmlns:a16="http://schemas.microsoft.com/office/drawing/2014/main" id="{78E1AF18-0084-70BE-C1E2-A054DADFA001}"/>
                </a:ext>
              </a:extLst>
            </p:cNvPr>
            <p:cNvSpPr/>
            <p:nvPr/>
          </p:nvSpPr>
          <p:spPr>
            <a:xfrm>
              <a:off x="3118206" y="2019108"/>
              <a:ext cx="416689" cy="4166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4" name="Oval 13">
              <a:extLst>
                <a:ext uri="{FF2B5EF4-FFF2-40B4-BE49-F238E27FC236}">
                  <a16:creationId xmlns:a16="http://schemas.microsoft.com/office/drawing/2014/main" id="{622F973D-AA28-3E43-E875-365ED6A18989}"/>
                </a:ext>
              </a:extLst>
            </p:cNvPr>
            <p:cNvSpPr/>
            <p:nvPr/>
          </p:nvSpPr>
          <p:spPr>
            <a:xfrm>
              <a:off x="1852849" y="1869804"/>
              <a:ext cx="705477" cy="705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16" name="Straight Connector 15">
              <a:extLst>
                <a:ext uri="{FF2B5EF4-FFF2-40B4-BE49-F238E27FC236}">
                  <a16:creationId xmlns:a16="http://schemas.microsoft.com/office/drawing/2014/main" id="{DAC4CDD1-6DBD-90C9-773E-336AAA525213}"/>
                </a:ext>
              </a:extLst>
            </p:cNvPr>
            <p:cNvCxnSpPr>
              <a:stCxn id="14" idx="6"/>
              <a:endCxn id="13" idx="2"/>
            </p:cNvCxnSpPr>
            <p:nvPr/>
          </p:nvCxnSpPr>
          <p:spPr>
            <a:xfrm>
              <a:off x="2558326" y="2222543"/>
              <a:ext cx="559880" cy="4910"/>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18" name="Group 17">
            <a:extLst>
              <a:ext uri="{FF2B5EF4-FFF2-40B4-BE49-F238E27FC236}">
                <a16:creationId xmlns:a16="http://schemas.microsoft.com/office/drawing/2014/main" id="{BB6E361F-A9DE-8487-9088-555A45A1AC23}"/>
              </a:ext>
            </a:extLst>
          </p:cNvPr>
          <p:cNvGrpSpPr/>
          <p:nvPr/>
        </p:nvGrpSpPr>
        <p:grpSpPr>
          <a:xfrm rot="16200000">
            <a:off x="1878808" y="3625864"/>
            <a:ext cx="1305745" cy="547650"/>
            <a:chOff x="1852849" y="1869804"/>
            <a:chExt cx="1682046" cy="705477"/>
          </a:xfrm>
        </p:grpSpPr>
        <p:sp>
          <p:nvSpPr>
            <p:cNvPr id="19" name="Oval 18">
              <a:extLst>
                <a:ext uri="{FF2B5EF4-FFF2-40B4-BE49-F238E27FC236}">
                  <a16:creationId xmlns:a16="http://schemas.microsoft.com/office/drawing/2014/main" id="{039D1567-62DB-5B34-84CB-B8DC3188F077}"/>
                </a:ext>
              </a:extLst>
            </p:cNvPr>
            <p:cNvSpPr/>
            <p:nvPr/>
          </p:nvSpPr>
          <p:spPr>
            <a:xfrm>
              <a:off x="3118206" y="2019108"/>
              <a:ext cx="416689" cy="4166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0" name="Oval 19">
              <a:extLst>
                <a:ext uri="{FF2B5EF4-FFF2-40B4-BE49-F238E27FC236}">
                  <a16:creationId xmlns:a16="http://schemas.microsoft.com/office/drawing/2014/main" id="{2C304565-5253-CAC6-2E14-A575E42E0983}"/>
                </a:ext>
              </a:extLst>
            </p:cNvPr>
            <p:cNvSpPr/>
            <p:nvPr/>
          </p:nvSpPr>
          <p:spPr>
            <a:xfrm>
              <a:off x="1852849" y="1869804"/>
              <a:ext cx="705477" cy="705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21" name="Straight Connector 20">
              <a:extLst>
                <a:ext uri="{FF2B5EF4-FFF2-40B4-BE49-F238E27FC236}">
                  <a16:creationId xmlns:a16="http://schemas.microsoft.com/office/drawing/2014/main" id="{FF03CF23-8F87-CED4-4867-CED2A08C1B5A}"/>
                </a:ext>
              </a:extLst>
            </p:cNvPr>
            <p:cNvCxnSpPr>
              <a:stCxn id="20" idx="6"/>
              <a:endCxn id="19" idx="2"/>
            </p:cNvCxnSpPr>
            <p:nvPr/>
          </p:nvCxnSpPr>
          <p:spPr>
            <a:xfrm>
              <a:off x="2558326" y="2222543"/>
              <a:ext cx="559880" cy="4910"/>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3ED48671-3796-23EC-473B-24BF1D7953EF}"/>
              </a:ext>
            </a:extLst>
          </p:cNvPr>
          <p:cNvGrpSpPr/>
          <p:nvPr/>
        </p:nvGrpSpPr>
        <p:grpSpPr>
          <a:xfrm rot="13013584">
            <a:off x="1732280" y="5037977"/>
            <a:ext cx="1305745" cy="547650"/>
            <a:chOff x="1852849" y="1869804"/>
            <a:chExt cx="1682046" cy="705477"/>
          </a:xfrm>
        </p:grpSpPr>
        <p:sp>
          <p:nvSpPr>
            <p:cNvPr id="23" name="Oval 22">
              <a:extLst>
                <a:ext uri="{FF2B5EF4-FFF2-40B4-BE49-F238E27FC236}">
                  <a16:creationId xmlns:a16="http://schemas.microsoft.com/office/drawing/2014/main" id="{E53D197C-1880-1D01-401E-4CF0B3317EFE}"/>
                </a:ext>
              </a:extLst>
            </p:cNvPr>
            <p:cNvSpPr/>
            <p:nvPr/>
          </p:nvSpPr>
          <p:spPr>
            <a:xfrm>
              <a:off x="3118206" y="2019108"/>
              <a:ext cx="416689" cy="41668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4" name="Oval 23">
              <a:extLst>
                <a:ext uri="{FF2B5EF4-FFF2-40B4-BE49-F238E27FC236}">
                  <a16:creationId xmlns:a16="http://schemas.microsoft.com/office/drawing/2014/main" id="{8B2163BD-B347-6068-2BFF-8086A7DB1711}"/>
                </a:ext>
              </a:extLst>
            </p:cNvPr>
            <p:cNvSpPr/>
            <p:nvPr/>
          </p:nvSpPr>
          <p:spPr>
            <a:xfrm>
              <a:off x="1852849" y="1869804"/>
              <a:ext cx="705477" cy="70547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25" name="Straight Connector 24">
              <a:extLst>
                <a:ext uri="{FF2B5EF4-FFF2-40B4-BE49-F238E27FC236}">
                  <a16:creationId xmlns:a16="http://schemas.microsoft.com/office/drawing/2014/main" id="{C9E92299-EFF2-2ACF-BC08-ED176CE999B2}"/>
                </a:ext>
              </a:extLst>
            </p:cNvPr>
            <p:cNvCxnSpPr>
              <a:stCxn id="24" idx="6"/>
              <a:endCxn id="23" idx="2"/>
            </p:cNvCxnSpPr>
            <p:nvPr/>
          </p:nvCxnSpPr>
          <p:spPr>
            <a:xfrm>
              <a:off x="2558326" y="2222543"/>
              <a:ext cx="559880" cy="4910"/>
            </a:xfrm>
            <a:prstGeom prst="line">
              <a:avLst/>
            </a:prstGeom>
            <a:ln w="57150"/>
          </p:spPr>
          <p:style>
            <a:lnRef idx="1">
              <a:schemeClr val="accent1"/>
            </a:lnRef>
            <a:fillRef idx="0">
              <a:schemeClr val="accent1"/>
            </a:fillRef>
            <a:effectRef idx="0">
              <a:schemeClr val="accent1"/>
            </a:effectRef>
            <a:fontRef idx="minor">
              <a:schemeClr val="tx1"/>
            </a:fontRef>
          </p:style>
        </p:cxnSp>
      </p:grpSp>
      <p:sp>
        <p:nvSpPr>
          <p:cNvPr id="4" name="TextBox 3">
            <a:extLst>
              <a:ext uri="{FF2B5EF4-FFF2-40B4-BE49-F238E27FC236}">
                <a16:creationId xmlns:a16="http://schemas.microsoft.com/office/drawing/2014/main" id="{BAE8E04F-9FFD-F0C7-220F-70A0C20BD813}"/>
              </a:ext>
            </a:extLst>
          </p:cNvPr>
          <p:cNvSpPr txBox="1"/>
          <p:nvPr/>
        </p:nvSpPr>
        <p:spPr>
          <a:xfrm>
            <a:off x="181434" y="2330391"/>
            <a:ext cx="606308" cy="369332"/>
          </a:xfrm>
          <a:prstGeom prst="rect">
            <a:avLst/>
          </a:prstGeom>
          <a:noFill/>
        </p:spPr>
        <p:txBody>
          <a:bodyPr wrap="square">
            <a:spAutoFit/>
          </a:bodyPr>
          <a:lstStyle/>
          <a:p>
            <a:r>
              <a:rPr lang="en-MY" dirty="0"/>
              <a:t>field</a:t>
            </a:r>
          </a:p>
        </p:txBody>
      </p:sp>
      <p:sp>
        <p:nvSpPr>
          <p:cNvPr id="6" name="TextBox 5">
            <a:extLst>
              <a:ext uri="{FF2B5EF4-FFF2-40B4-BE49-F238E27FC236}">
                <a16:creationId xmlns:a16="http://schemas.microsoft.com/office/drawing/2014/main" id="{38C94065-BCF2-9B58-6D0E-F4F5C02E2831}"/>
              </a:ext>
            </a:extLst>
          </p:cNvPr>
          <p:cNvSpPr txBox="1"/>
          <p:nvPr/>
        </p:nvSpPr>
        <p:spPr>
          <a:xfrm>
            <a:off x="131390" y="3751207"/>
            <a:ext cx="606308" cy="369332"/>
          </a:xfrm>
          <a:prstGeom prst="rect">
            <a:avLst/>
          </a:prstGeom>
          <a:noFill/>
        </p:spPr>
        <p:txBody>
          <a:bodyPr wrap="square">
            <a:spAutoFit/>
          </a:bodyPr>
          <a:lstStyle/>
          <a:p>
            <a:r>
              <a:rPr lang="en-MY" dirty="0"/>
              <a:t>field</a:t>
            </a:r>
          </a:p>
        </p:txBody>
      </p:sp>
      <p:sp>
        <p:nvSpPr>
          <p:cNvPr id="8" name="TextBox 7">
            <a:extLst>
              <a:ext uri="{FF2B5EF4-FFF2-40B4-BE49-F238E27FC236}">
                <a16:creationId xmlns:a16="http://schemas.microsoft.com/office/drawing/2014/main" id="{E9CBDBBF-5C45-F10C-4952-7531D3C6EAC0}"/>
              </a:ext>
            </a:extLst>
          </p:cNvPr>
          <p:cNvSpPr txBox="1"/>
          <p:nvPr/>
        </p:nvSpPr>
        <p:spPr>
          <a:xfrm>
            <a:off x="197409" y="4977866"/>
            <a:ext cx="606308" cy="369332"/>
          </a:xfrm>
          <a:prstGeom prst="rect">
            <a:avLst/>
          </a:prstGeom>
          <a:noFill/>
        </p:spPr>
        <p:txBody>
          <a:bodyPr wrap="square">
            <a:spAutoFit/>
          </a:bodyPr>
          <a:lstStyle/>
          <a:p>
            <a:r>
              <a:rPr lang="en-MY" dirty="0"/>
              <a:t>field</a:t>
            </a:r>
          </a:p>
        </p:txBody>
      </p:sp>
      <p:sp>
        <p:nvSpPr>
          <p:cNvPr id="15" name="TextBox 14">
            <a:extLst>
              <a:ext uri="{FF2B5EF4-FFF2-40B4-BE49-F238E27FC236}">
                <a16:creationId xmlns:a16="http://schemas.microsoft.com/office/drawing/2014/main" id="{85914C56-2793-27CD-1CFC-00D39F99957A}"/>
              </a:ext>
            </a:extLst>
          </p:cNvPr>
          <p:cNvSpPr txBox="1"/>
          <p:nvPr/>
        </p:nvSpPr>
        <p:spPr>
          <a:xfrm>
            <a:off x="2054822" y="1800195"/>
            <a:ext cx="606308" cy="369332"/>
          </a:xfrm>
          <a:prstGeom prst="rect">
            <a:avLst/>
          </a:prstGeom>
          <a:noFill/>
        </p:spPr>
        <p:txBody>
          <a:bodyPr wrap="square">
            <a:spAutoFit/>
          </a:bodyPr>
          <a:lstStyle/>
          <a:p>
            <a:r>
              <a:rPr lang="en-MY" dirty="0"/>
              <a:t>z</a:t>
            </a:r>
          </a:p>
        </p:txBody>
      </p:sp>
      <p:sp>
        <p:nvSpPr>
          <p:cNvPr id="26" name="TextBox 25">
            <a:extLst>
              <a:ext uri="{FF2B5EF4-FFF2-40B4-BE49-F238E27FC236}">
                <a16:creationId xmlns:a16="http://schemas.microsoft.com/office/drawing/2014/main" id="{A78EBE89-546A-6855-8BE7-4AE34EB0320E}"/>
              </a:ext>
            </a:extLst>
          </p:cNvPr>
          <p:cNvSpPr txBox="1"/>
          <p:nvPr/>
        </p:nvSpPr>
        <p:spPr>
          <a:xfrm>
            <a:off x="2052669" y="3007927"/>
            <a:ext cx="606308" cy="369332"/>
          </a:xfrm>
          <a:prstGeom prst="rect">
            <a:avLst/>
          </a:prstGeom>
          <a:noFill/>
        </p:spPr>
        <p:txBody>
          <a:bodyPr wrap="square">
            <a:spAutoFit/>
          </a:bodyPr>
          <a:lstStyle/>
          <a:p>
            <a:r>
              <a:rPr lang="en-MY" dirty="0"/>
              <a:t>y</a:t>
            </a:r>
          </a:p>
        </p:txBody>
      </p:sp>
      <p:sp>
        <p:nvSpPr>
          <p:cNvPr id="27" name="TextBox 26">
            <a:extLst>
              <a:ext uri="{FF2B5EF4-FFF2-40B4-BE49-F238E27FC236}">
                <a16:creationId xmlns:a16="http://schemas.microsoft.com/office/drawing/2014/main" id="{B8E26B3F-BD0E-4EA8-22F9-A5C09B8BDD96}"/>
              </a:ext>
            </a:extLst>
          </p:cNvPr>
          <p:cNvSpPr txBox="1"/>
          <p:nvPr/>
        </p:nvSpPr>
        <p:spPr>
          <a:xfrm>
            <a:off x="2463112" y="4703740"/>
            <a:ext cx="606308" cy="369332"/>
          </a:xfrm>
          <a:prstGeom prst="rect">
            <a:avLst/>
          </a:prstGeom>
          <a:noFill/>
        </p:spPr>
        <p:txBody>
          <a:bodyPr wrap="square">
            <a:spAutoFit/>
          </a:bodyPr>
          <a:lstStyle/>
          <a:p>
            <a:r>
              <a:rPr lang="en-MY" dirty="0"/>
              <a:t>x</a:t>
            </a:r>
          </a:p>
        </p:txBody>
      </p:sp>
      <p:sp>
        <p:nvSpPr>
          <p:cNvPr id="28" name="TextBox 27">
            <a:extLst>
              <a:ext uri="{FF2B5EF4-FFF2-40B4-BE49-F238E27FC236}">
                <a16:creationId xmlns:a16="http://schemas.microsoft.com/office/drawing/2014/main" id="{C72DD3DE-746C-7292-AA20-B437E6393419}"/>
              </a:ext>
            </a:extLst>
          </p:cNvPr>
          <p:cNvSpPr txBox="1"/>
          <p:nvPr/>
        </p:nvSpPr>
        <p:spPr>
          <a:xfrm>
            <a:off x="2385144" y="6060476"/>
            <a:ext cx="606308" cy="369332"/>
          </a:xfrm>
          <a:prstGeom prst="rect">
            <a:avLst/>
          </a:prstGeom>
          <a:noFill/>
        </p:spPr>
        <p:txBody>
          <a:bodyPr wrap="square">
            <a:spAutoFit/>
          </a:bodyPr>
          <a:lstStyle/>
          <a:p>
            <a:r>
              <a:rPr lang="en-MY" dirty="0" err="1"/>
              <a:t>LiH</a:t>
            </a:r>
            <a:endParaRPr lang="en-MY" dirty="0"/>
          </a:p>
        </p:txBody>
      </p:sp>
      <p:sp>
        <p:nvSpPr>
          <p:cNvPr id="29" name="TextBox 28">
            <a:extLst>
              <a:ext uri="{FF2B5EF4-FFF2-40B4-BE49-F238E27FC236}">
                <a16:creationId xmlns:a16="http://schemas.microsoft.com/office/drawing/2014/main" id="{DC5C3891-8188-C58B-C100-09A75BB3E57C}"/>
              </a:ext>
            </a:extLst>
          </p:cNvPr>
          <p:cNvSpPr txBox="1"/>
          <p:nvPr/>
        </p:nvSpPr>
        <p:spPr>
          <a:xfrm>
            <a:off x="456013" y="984621"/>
            <a:ext cx="2979261" cy="1067472"/>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kern="100" dirty="0" err="1">
                <a:ea typeface="DengXian" panose="02010600030101010101" pitchFamily="2" charset="-122"/>
              </a:rPr>
              <a:t>LiH</a:t>
            </a:r>
            <a:endParaRPr lang="en-MY" kern="100" dirty="0">
              <a:ea typeface="DengXian" panose="02010600030101010101" pitchFamily="2" charset="-122"/>
            </a:endParaRPr>
          </a:p>
          <a:p>
            <a:r>
              <a:rPr lang="en-MY" dirty="0"/>
              <a:t>STO-3G 10000 time steps (z, y, x direction ) </a:t>
            </a:r>
          </a:p>
        </p:txBody>
      </p:sp>
      <p:sp>
        <p:nvSpPr>
          <p:cNvPr id="30" name="Rectangle 29">
            <a:extLst>
              <a:ext uri="{FF2B5EF4-FFF2-40B4-BE49-F238E27FC236}">
                <a16:creationId xmlns:a16="http://schemas.microsoft.com/office/drawing/2014/main" id="{36101783-53A1-C47B-F170-A03A90DEC2D9}"/>
              </a:ext>
            </a:extLst>
          </p:cNvPr>
          <p:cNvSpPr/>
          <p:nvPr/>
        </p:nvSpPr>
        <p:spPr>
          <a:xfrm>
            <a:off x="3969180" y="937703"/>
            <a:ext cx="4056738" cy="2410749"/>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2" name="TextBox 31">
            <a:extLst>
              <a:ext uri="{FF2B5EF4-FFF2-40B4-BE49-F238E27FC236}">
                <a16:creationId xmlns:a16="http://schemas.microsoft.com/office/drawing/2014/main" id="{99B208C3-94E8-3E75-A9E7-114A0A0B12B5}"/>
              </a:ext>
            </a:extLst>
          </p:cNvPr>
          <p:cNvSpPr txBox="1"/>
          <p:nvPr/>
        </p:nvSpPr>
        <p:spPr>
          <a:xfrm>
            <a:off x="4113626" y="1268682"/>
            <a:ext cx="3265742" cy="923330"/>
          </a:xfrm>
          <a:prstGeom prst="rect">
            <a:avLst/>
          </a:prstGeom>
          <a:noFill/>
        </p:spPr>
        <p:txBody>
          <a:bodyPr wrap="square">
            <a:spAutoFit/>
          </a:bodyPr>
          <a:lstStyle/>
          <a:p>
            <a:pPr marL="285750" indent="-285750" algn="just">
              <a:buFont typeface="Arial" panose="020B0604020202020204" pitchFamily="34" charset="0"/>
              <a:buChar char="•"/>
            </a:pPr>
            <a:r>
              <a:rPr lang="en-US" dirty="0"/>
              <a:t>no significant effect and performs good predictions for different orientations</a:t>
            </a:r>
            <a:endParaRPr lang="en-MY" dirty="0"/>
          </a:p>
        </p:txBody>
      </p:sp>
    </p:spTree>
    <p:extLst>
      <p:ext uri="{BB962C8B-B14F-4D97-AF65-F5344CB8AC3E}">
        <p14:creationId xmlns:p14="http://schemas.microsoft.com/office/powerpoint/2010/main" val="2110381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5C1E2-BFB3-803D-68A6-38A9A7B86AC9}"/>
              </a:ext>
            </a:extLst>
          </p:cNvPr>
          <p:cNvSpPr>
            <a:spLocks noGrp="1"/>
          </p:cNvSpPr>
          <p:nvPr>
            <p:ph type="title" idx="4294967295"/>
          </p:nvPr>
        </p:nvSpPr>
        <p:spPr>
          <a:xfrm>
            <a:off x="339153" y="-142827"/>
            <a:ext cx="8068923" cy="1449387"/>
          </a:xfrm>
        </p:spPr>
        <p:txBody>
          <a:bodyPr>
            <a:normAutofit/>
          </a:bodyPr>
          <a:lstStyle/>
          <a:p>
            <a:r>
              <a:rPr lang="en-MY" sz="4400" dirty="0"/>
              <a:t>Removing value experienced perturbation </a:t>
            </a:r>
            <a:r>
              <a:rPr lang="en-MY" sz="4400" dirty="0" err="1"/>
              <a:t>LiH</a:t>
            </a:r>
            <a:r>
              <a:rPr lang="en-MY" sz="4400" dirty="0"/>
              <a:t> /H2O</a:t>
            </a:r>
          </a:p>
        </p:txBody>
      </p:sp>
      <p:graphicFrame>
        <p:nvGraphicFramePr>
          <p:cNvPr id="6" name="Table 5">
            <a:extLst>
              <a:ext uri="{FF2B5EF4-FFF2-40B4-BE49-F238E27FC236}">
                <a16:creationId xmlns:a16="http://schemas.microsoft.com/office/drawing/2014/main" id="{5295EC43-0E62-903A-D2EB-DCE7942C119F}"/>
              </a:ext>
            </a:extLst>
          </p:cNvPr>
          <p:cNvGraphicFramePr>
            <a:graphicFrameLocks noGrp="1"/>
          </p:cNvGraphicFramePr>
          <p:nvPr>
            <p:extLst>
              <p:ext uri="{D42A27DB-BD31-4B8C-83A1-F6EECF244321}">
                <p14:modId xmlns:p14="http://schemas.microsoft.com/office/powerpoint/2010/main" val="1408655752"/>
              </p:ext>
            </p:extLst>
          </p:nvPr>
        </p:nvGraphicFramePr>
        <p:xfrm>
          <a:off x="559443" y="2114261"/>
          <a:ext cx="2276355" cy="3291840"/>
        </p:xfrm>
        <a:graphic>
          <a:graphicData uri="http://schemas.openxmlformats.org/drawingml/2006/table">
            <a:tbl>
              <a:tblPr firstRow="1" bandRow="1">
                <a:tableStyleId>{5C22544A-7EE6-4342-B048-85BDC9FD1C3A}</a:tableStyleId>
              </a:tblPr>
              <a:tblGrid>
                <a:gridCol w="569089">
                  <a:extLst>
                    <a:ext uri="{9D8B030D-6E8A-4147-A177-3AD203B41FA5}">
                      <a16:colId xmlns:a16="http://schemas.microsoft.com/office/drawing/2014/main" val="1910920610"/>
                    </a:ext>
                  </a:extLst>
                </a:gridCol>
                <a:gridCol w="569089">
                  <a:extLst>
                    <a:ext uri="{9D8B030D-6E8A-4147-A177-3AD203B41FA5}">
                      <a16:colId xmlns:a16="http://schemas.microsoft.com/office/drawing/2014/main" val="1215105440"/>
                    </a:ext>
                  </a:extLst>
                </a:gridCol>
                <a:gridCol w="533389">
                  <a:extLst>
                    <a:ext uri="{9D8B030D-6E8A-4147-A177-3AD203B41FA5}">
                      <a16:colId xmlns:a16="http://schemas.microsoft.com/office/drawing/2014/main" val="789810215"/>
                    </a:ext>
                  </a:extLst>
                </a:gridCol>
                <a:gridCol w="604788">
                  <a:extLst>
                    <a:ext uri="{9D8B030D-6E8A-4147-A177-3AD203B41FA5}">
                      <a16:colId xmlns:a16="http://schemas.microsoft.com/office/drawing/2014/main" val="3690653509"/>
                    </a:ext>
                  </a:extLst>
                </a:gridCol>
              </a:tblGrid>
              <a:tr h="227576">
                <a:tc>
                  <a:txBody>
                    <a:bodyPr/>
                    <a:lstStyle/>
                    <a:p>
                      <a:endParaRPr lang="en-MY" dirty="0"/>
                    </a:p>
                  </a:txBody>
                  <a:tcPr/>
                </a:tc>
                <a:tc>
                  <a:txBody>
                    <a:bodyPr/>
                    <a:lstStyle/>
                    <a:p>
                      <a:endParaRPr lang="en-MY"/>
                    </a:p>
                  </a:txBody>
                  <a:tcPr/>
                </a:tc>
                <a:tc>
                  <a:txBody>
                    <a:bodyPr/>
                    <a:lstStyle/>
                    <a:p>
                      <a:endParaRPr lang="en-MY"/>
                    </a:p>
                  </a:txBody>
                  <a:tcPr/>
                </a:tc>
                <a:tc>
                  <a:txBody>
                    <a:bodyPr/>
                    <a:lstStyle/>
                    <a:p>
                      <a:endParaRPr lang="en-MY"/>
                    </a:p>
                  </a:txBody>
                  <a:tcPr/>
                </a:tc>
                <a:extLst>
                  <a:ext uri="{0D108BD9-81ED-4DB2-BD59-A6C34878D82A}">
                    <a16:rowId xmlns:a16="http://schemas.microsoft.com/office/drawing/2014/main" val="419673597"/>
                  </a:ext>
                </a:extLst>
              </a:tr>
              <a:tr h="227576">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2024314838"/>
                  </a:ext>
                </a:extLst>
              </a:tr>
              <a:tr h="227576">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a:p>
                  </a:txBody>
                  <a:tcPr/>
                </a:tc>
                <a:extLst>
                  <a:ext uri="{0D108BD9-81ED-4DB2-BD59-A6C34878D82A}">
                    <a16:rowId xmlns:a16="http://schemas.microsoft.com/office/drawing/2014/main" val="1666453122"/>
                  </a:ext>
                </a:extLst>
              </a:tr>
              <a:tr h="227576">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a:p>
                  </a:txBody>
                  <a:tcPr/>
                </a:tc>
                <a:extLst>
                  <a:ext uri="{0D108BD9-81ED-4DB2-BD59-A6C34878D82A}">
                    <a16:rowId xmlns:a16="http://schemas.microsoft.com/office/drawing/2014/main" val="3496486223"/>
                  </a:ext>
                </a:extLst>
              </a:tr>
              <a:tr h="227576">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a:p>
                  </a:txBody>
                  <a:tcPr/>
                </a:tc>
                <a:extLst>
                  <a:ext uri="{0D108BD9-81ED-4DB2-BD59-A6C34878D82A}">
                    <a16:rowId xmlns:a16="http://schemas.microsoft.com/office/drawing/2014/main" val="2963782704"/>
                  </a:ext>
                </a:extLst>
              </a:tr>
              <a:tr h="227576">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2110369825"/>
                  </a:ext>
                </a:extLst>
              </a:tr>
              <a:tr h="227576">
                <a:tc>
                  <a:txBody>
                    <a:bodyPr/>
                    <a:lstStyle/>
                    <a:p>
                      <a:endParaRPr lang="en-MY"/>
                    </a:p>
                  </a:txBody>
                  <a:tcPr/>
                </a:tc>
                <a:tc>
                  <a:txBody>
                    <a:bodyPr/>
                    <a:lstStyle/>
                    <a:p>
                      <a:endParaRPr lang="en-MY"/>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1334725993"/>
                  </a:ext>
                </a:extLst>
              </a:tr>
              <a:tr h="227576">
                <a:tc>
                  <a:txBody>
                    <a:bodyPr/>
                    <a:lstStyle/>
                    <a:p>
                      <a:endParaRPr lang="en-MY"/>
                    </a:p>
                  </a:txBody>
                  <a:tcPr/>
                </a:tc>
                <a:tc>
                  <a:txBody>
                    <a:bodyPr/>
                    <a:lstStyle/>
                    <a:p>
                      <a:endParaRPr lang="en-MY" dirty="0"/>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412987809"/>
                  </a:ext>
                </a:extLst>
              </a:tr>
              <a:tr h="227576">
                <a:tc>
                  <a:txBody>
                    <a:bodyPr/>
                    <a:lstStyle/>
                    <a:p>
                      <a:endParaRPr lang="en-MY"/>
                    </a:p>
                  </a:txBody>
                  <a:tcPr/>
                </a:tc>
                <a:tc>
                  <a:txBody>
                    <a:bodyPr/>
                    <a:lstStyle/>
                    <a:p>
                      <a:endParaRPr lang="en-MY" dirty="0"/>
                    </a:p>
                  </a:txBody>
                  <a:tcPr/>
                </a:tc>
                <a:tc>
                  <a:txBody>
                    <a:bodyPr/>
                    <a:lstStyle/>
                    <a:p>
                      <a:endParaRPr lang="en-MY"/>
                    </a:p>
                  </a:txBody>
                  <a:tcPr/>
                </a:tc>
                <a:tc>
                  <a:txBody>
                    <a:bodyPr/>
                    <a:lstStyle/>
                    <a:p>
                      <a:endParaRPr lang="en-MY" dirty="0"/>
                    </a:p>
                  </a:txBody>
                  <a:tcPr/>
                </a:tc>
                <a:extLst>
                  <a:ext uri="{0D108BD9-81ED-4DB2-BD59-A6C34878D82A}">
                    <a16:rowId xmlns:a16="http://schemas.microsoft.com/office/drawing/2014/main" val="2657600440"/>
                  </a:ext>
                </a:extLst>
              </a:tr>
            </a:tbl>
          </a:graphicData>
        </a:graphic>
      </p:graphicFrame>
      <p:sp>
        <p:nvSpPr>
          <p:cNvPr id="10" name="Right Brace 9">
            <a:extLst>
              <a:ext uri="{FF2B5EF4-FFF2-40B4-BE49-F238E27FC236}">
                <a16:creationId xmlns:a16="http://schemas.microsoft.com/office/drawing/2014/main" id="{B9B19F58-5211-603B-CFDF-6EEDAF3558A3}"/>
              </a:ext>
            </a:extLst>
          </p:cNvPr>
          <p:cNvSpPr/>
          <p:nvPr/>
        </p:nvSpPr>
        <p:spPr>
          <a:xfrm>
            <a:off x="3171958" y="2471866"/>
            <a:ext cx="451413" cy="767467"/>
          </a:xfrm>
          <a:prstGeom prst="rightBrace">
            <a:avLst>
              <a:gd name="adj1" fmla="val 33974"/>
              <a:gd name="adj2" fmla="val 5198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11" name="Right Brace 10">
            <a:extLst>
              <a:ext uri="{FF2B5EF4-FFF2-40B4-BE49-F238E27FC236}">
                <a16:creationId xmlns:a16="http://schemas.microsoft.com/office/drawing/2014/main" id="{29636EA9-B977-017F-B725-59D45433E016}"/>
              </a:ext>
            </a:extLst>
          </p:cNvPr>
          <p:cNvSpPr/>
          <p:nvPr/>
        </p:nvSpPr>
        <p:spPr>
          <a:xfrm>
            <a:off x="3003878" y="2482004"/>
            <a:ext cx="451413" cy="1449387"/>
          </a:xfrm>
          <a:prstGeom prst="rightBrace">
            <a:avLst>
              <a:gd name="adj1" fmla="val 33974"/>
              <a:gd name="adj2" fmla="val 5198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pic>
        <p:nvPicPr>
          <p:cNvPr id="13" name="Picture 12" descr="A graph of a test set&#10;&#10;AI-generated content may be incorrect.">
            <a:extLst>
              <a:ext uri="{FF2B5EF4-FFF2-40B4-BE49-F238E27FC236}">
                <a16:creationId xmlns:a16="http://schemas.microsoft.com/office/drawing/2014/main" id="{0F29CBFA-031B-DF94-DF54-5F18D4DDA7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8896" y="3523727"/>
            <a:ext cx="3079419" cy="2656153"/>
          </a:xfrm>
          <a:prstGeom prst="rect">
            <a:avLst/>
          </a:prstGeom>
        </p:spPr>
      </p:pic>
      <p:pic>
        <p:nvPicPr>
          <p:cNvPr id="15" name="Picture 14" descr="A graph with numbers and lines&#10;&#10;AI-generated content may be incorrect.">
            <a:extLst>
              <a:ext uri="{FF2B5EF4-FFF2-40B4-BE49-F238E27FC236}">
                <a16:creationId xmlns:a16="http://schemas.microsoft.com/office/drawing/2014/main" id="{86509AC2-8F34-9826-1ED9-2B17464404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58202" y="375595"/>
            <a:ext cx="2865295" cy="2531985"/>
          </a:xfrm>
          <a:prstGeom prst="rect">
            <a:avLst/>
          </a:prstGeom>
        </p:spPr>
      </p:pic>
      <p:pic>
        <p:nvPicPr>
          <p:cNvPr id="17" name="Picture 16" descr="A graph of a test set&#10;&#10;AI-generated content may be incorrect.">
            <a:extLst>
              <a:ext uri="{FF2B5EF4-FFF2-40B4-BE49-F238E27FC236}">
                <a16:creationId xmlns:a16="http://schemas.microsoft.com/office/drawing/2014/main" id="{7D58AF44-AD6B-9525-77D2-2EDB49B18D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96256" y="3520901"/>
            <a:ext cx="2953740" cy="2658980"/>
          </a:xfrm>
          <a:prstGeom prst="rect">
            <a:avLst/>
          </a:prstGeom>
        </p:spPr>
      </p:pic>
      <p:sp>
        <p:nvSpPr>
          <p:cNvPr id="18" name="TextBox 17">
            <a:extLst>
              <a:ext uri="{FF2B5EF4-FFF2-40B4-BE49-F238E27FC236}">
                <a16:creationId xmlns:a16="http://schemas.microsoft.com/office/drawing/2014/main" id="{BDF4883F-234F-814F-8526-5B74801279DD}"/>
              </a:ext>
            </a:extLst>
          </p:cNvPr>
          <p:cNvSpPr txBox="1"/>
          <p:nvPr/>
        </p:nvSpPr>
        <p:spPr>
          <a:xfrm>
            <a:off x="500968" y="5533549"/>
            <a:ext cx="3378002" cy="646331"/>
          </a:xfrm>
          <a:prstGeom prst="rect">
            <a:avLst/>
          </a:prstGeom>
          <a:noFill/>
        </p:spPr>
        <p:txBody>
          <a:bodyPr wrap="square" rtlCol="0">
            <a:spAutoFit/>
          </a:bodyPr>
          <a:lstStyle/>
          <a:p>
            <a:r>
              <a:rPr lang="en-MY" dirty="0"/>
              <a:t>Current dataset: H2O STO-3G 10000 time steps</a:t>
            </a:r>
          </a:p>
        </p:txBody>
      </p:sp>
      <p:sp>
        <p:nvSpPr>
          <p:cNvPr id="19" name="TextBox 18">
            <a:extLst>
              <a:ext uri="{FF2B5EF4-FFF2-40B4-BE49-F238E27FC236}">
                <a16:creationId xmlns:a16="http://schemas.microsoft.com/office/drawing/2014/main" id="{5CB2FFFC-9ADD-67B4-252D-20740AD4FC61}"/>
              </a:ext>
            </a:extLst>
          </p:cNvPr>
          <p:cNvSpPr txBox="1"/>
          <p:nvPr/>
        </p:nvSpPr>
        <p:spPr>
          <a:xfrm>
            <a:off x="3455291" y="3390849"/>
            <a:ext cx="910041" cy="646331"/>
          </a:xfrm>
          <a:prstGeom prst="rect">
            <a:avLst/>
          </a:prstGeom>
          <a:noFill/>
        </p:spPr>
        <p:txBody>
          <a:bodyPr wrap="square" rtlCol="0">
            <a:spAutoFit/>
          </a:bodyPr>
          <a:lstStyle/>
          <a:p>
            <a:r>
              <a:rPr lang="en-MY" dirty="0"/>
              <a:t>1000 </a:t>
            </a:r>
          </a:p>
          <a:p>
            <a:r>
              <a:rPr lang="en-MY" dirty="0"/>
              <a:t>values</a:t>
            </a:r>
          </a:p>
        </p:txBody>
      </p:sp>
      <p:sp>
        <p:nvSpPr>
          <p:cNvPr id="20" name="TextBox 19">
            <a:extLst>
              <a:ext uri="{FF2B5EF4-FFF2-40B4-BE49-F238E27FC236}">
                <a16:creationId xmlns:a16="http://schemas.microsoft.com/office/drawing/2014/main" id="{B820FABE-068F-34A8-17D9-5EA7FB6942AC}"/>
              </a:ext>
            </a:extLst>
          </p:cNvPr>
          <p:cNvSpPr txBox="1"/>
          <p:nvPr/>
        </p:nvSpPr>
        <p:spPr>
          <a:xfrm>
            <a:off x="3623372" y="2662681"/>
            <a:ext cx="910040" cy="646331"/>
          </a:xfrm>
          <a:prstGeom prst="rect">
            <a:avLst/>
          </a:prstGeom>
          <a:noFill/>
        </p:spPr>
        <p:txBody>
          <a:bodyPr wrap="square" rtlCol="0">
            <a:spAutoFit/>
          </a:bodyPr>
          <a:lstStyle/>
          <a:p>
            <a:r>
              <a:rPr lang="en-MY" dirty="0"/>
              <a:t>500</a:t>
            </a:r>
          </a:p>
          <a:p>
            <a:r>
              <a:rPr lang="en-MY" dirty="0"/>
              <a:t>values</a:t>
            </a:r>
          </a:p>
        </p:txBody>
      </p:sp>
      <p:sp>
        <p:nvSpPr>
          <p:cNvPr id="21" name="Right Brace 20">
            <a:extLst>
              <a:ext uri="{FF2B5EF4-FFF2-40B4-BE49-F238E27FC236}">
                <a16:creationId xmlns:a16="http://schemas.microsoft.com/office/drawing/2014/main" id="{3565EE9D-6BF7-ABFF-3B6C-6AB07CDF8BB2}"/>
              </a:ext>
            </a:extLst>
          </p:cNvPr>
          <p:cNvSpPr/>
          <p:nvPr/>
        </p:nvSpPr>
        <p:spPr>
          <a:xfrm>
            <a:off x="3004372" y="4119017"/>
            <a:ext cx="451413" cy="1287084"/>
          </a:xfrm>
          <a:prstGeom prst="rightBrace">
            <a:avLst>
              <a:gd name="adj1" fmla="val 33974"/>
              <a:gd name="adj2" fmla="val 5198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22" name="TextBox 21">
            <a:extLst>
              <a:ext uri="{FF2B5EF4-FFF2-40B4-BE49-F238E27FC236}">
                <a16:creationId xmlns:a16="http://schemas.microsoft.com/office/drawing/2014/main" id="{932311CD-28B5-C6D1-B638-3B4458568601}"/>
              </a:ext>
            </a:extLst>
          </p:cNvPr>
          <p:cNvSpPr txBox="1"/>
          <p:nvPr/>
        </p:nvSpPr>
        <p:spPr>
          <a:xfrm>
            <a:off x="3583724" y="4511946"/>
            <a:ext cx="1657233" cy="646331"/>
          </a:xfrm>
          <a:prstGeom prst="rect">
            <a:avLst/>
          </a:prstGeom>
          <a:noFill/>
        </p:spPr>
        <p:txBody>
          <a:bodyPr wrap="square" rtlCol="0">
            <a:spAutoFit/>
          </a:bodyPr>
          <a:lstStyle/>
          <a:p>
            <a:r>
              <a:rPr lang="en-MY" dirty="0"/>
              <a:t>Training and testing</a:t>
            </a:r>
          </a:p>
        </p:txBody>
      </p:sp>
      <p:sp>
        <p:nvSpPr>
          <p:cNvPr id="23" name="TextBox 22">
            <a:extLst>
              <a:ext uri="{FF2B5EF4-FFF2-40B4-BE49-F238E27FC236}">
                <a16:creationId xmlns:a16="http://schemas.microsoft.com/office/drawing/2014/main" id="{2D7332E3-5A95-9B0F-2945-A02E5F8E39DA}"/>
              </a:ext>
            </a:extLst>
          </p:cNvPr>
          <p:cNvSpPr txBox="1"/>
          <p:nvPr/>
        </p:nvSpPr>
        <p:spPr>
          <a:xfrm>
            <a:off x="1109569" y="2112672"/>
            <a:ext cx="1657233" cy="369332"/>
          </a:xfrm>
          <a:prstGeom prst="rect">
            <a:avLst/>
          </a:prstGeom>
          <a:noFill/>
        </p:spPr>
        <p:txBody>
          <a:bodyPr wrap="square" rtlCol="0">
            <a:spAutoFit/>
          </a:bodyPr>
          <a:lstStyle/>
          <a:p>
            <a:r>
              <a:rPr lang="en-MY" dirty="0"/>
              <a:t>Dataset</a:t>
            </a:r>
          </a:p>
        </p:txBody>
      </p:sp>
      <p:sp>
        <p:nvSpPr>
          <p:cNvPr id="3" name="TextBox 2">
            <a:extLst>
              <a:ext uri="{FF2B5EF4-FFF2-40B4-BE49-F238E27FC236}">
                <a16:creationId xmlns:a16="http://schemas.microsoft.com/office/drawing/2014/main" id="{0D646E01-1DBB-158B-5712-20AD34DF68F6}"/>
              </a:ext>
            </a:extLst>
          </p:cNvPr>
          <p:cNvSpPr txBox="1"/>
          <p:nvPr/>
        </p:nvSpPr>
        <p:spPr>
          <a:xfrm>
            <a:off x="500968" y="1246352"/>
            <a:ext cx="3886912" cy="790473"/>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kern="100" dirty="0" err="1">
                <a:ea typeface="DengXian" panose="02010600030101010101" pitchFamily="2" charset="-122"/>
              </a:rPr>
              <a:t>LiH</a:t>
            </a:r>
            <a:r>
              <a:rPr lang="en-MY" kern="100" dirty="0">
                <a:ea typeface="DengXian" panose="02010600030101010101" pitchFamily="2" charset="-122"/>
              </a:rPr>
              <a:t>, H</a:t>
            </a:r>
            <a:r>
              <a:rPr lang="en-MY" kern="100" baseline="-25000" dirty="0">
                <a:ea typeface="DengXian" panose="02010600030101010101" pitchFamily="2" charset="-122"/>
              </a:rPr>
              <a:t>2</a:t>
            </a:r>
            <a:r>
              <a:rPr lang="en-MY" kern="100" dirty="0">
                <a:ea typeface="DengXian" panose="02010600030101010101" pitchFamily="2" charset="-122"/>
              </a:rPr>
              <a:t>O</a:t>
            </a:r>
          </a:p>
          <a:p>
            <a:r>
              <a:rPr lang="en-MY" dirty="0"/>
              <a:t>STO-3G 10000 time steps</a:t>
            </a:r>
          </a:p>
        </p:txBody>
      </p:sp>
      <p:sp>
        <p:nvSpPr>
          <p:cNvPr id="4" name="TextBox 3">
            <a:extLst>
              <a:ext uri="{FF2B5EF4-FFF2-40B4-BE49-F238E27FC236}">
                <a16:creationId xmlns:a16="http://schemas.microsoft.com/office/drawing/2014/main" id="{9F6023B8-6018-E9ED-43EA-AE30B2290C98}"/>
              </a:ext>
            </a:extLst>
          </p:cNvPr>
          <p:cNvSpPr txBox="1"/>
          <p:nvPr/>
        </p:nvSpPr>
        <p:spPr>
          <a:xfrm>
            <a:off x="9275197" y="227199"/>
            <a:ext cx="558549" cy="369332"/>
          </a:xfrm>
          <a:prstGeom prst="rect">
            <a:avLst/>
          </a:prstGeom>
          <a:solidFill>
            <a:schemeClr val="accent2">
              <a:lumMod val="20000"/>
              <a:lumOff val="80000"/>
            </a:schemeClr>
          </a:solidFill>
        </p:spPr>
        <p:txBody>
          <a:bodyPr wrap="square" rtlCol="0">
            <a:spAutoFit/>
          </a:bodyPr>
          <a:lstStyle/>
          <a:p>
            <a:r>
              <a:rPr lang="en-MY" dirty="0"/>
              <a:t>R</a:t>
            </a:r>
            <a:r>
              <a:rPr lang="en-MY" baseline="30000" dirty="0"/>
              <a:t>2</a:t>
            </a:r>
            <a:endParaRPr lang="en-MY" dirty="0"/>
          </a:p>
        </p:txBody>
      </p:sp>
      <p:sp>
        <p:nvSpPr>
          <p:cNvPr id="5" name="TextBox 4">
            <a:extLst>
              <a:ext uri="{FF2B5EF4-FFF2-40B4-BE49-F238E27FC236}">
                <a16:creationId xmlns:a16="http://schemas.microsoft.com/office/drawing/2014/main" id="{E79FAB7B-DEAC-A87F-44B1-FB7B0D1FDCE9}"/>
              </a:ext>
            </a:extLst>
          </p:cNvPr>
          <p:cNvSpPr txBox="1"/>
          <p:nvPr/>
        </p:nvSpPr>
        <p:spPr>
          <a:xfrm>
            <a:off x="10602049" y="3068666"/>
            <a:ext cx="910040" cy="369332"/>
          </a:xfrm>
          <a:prstGeom prst="rect">
            <a:avLst/>
          </a:prstGeom>
          <a:solidFill>
            <a:schemeClr val="accent2">
              <a:lumMod val="20000"/>
              <a:lumOff val="80000"/>
            </a:schemeClr>
          </a:solidFill>
        </p:spPr>
        <p:txBody>
          <a:bodyPr wrap="square" rtlCol="0">
            <a:spAutoFit/>
          </a:bodyPr>
          <a:lstStyle/>
          <a:p>
            <a:r>
              <a:rPr lang="en-MY" dirty="0"/>
              <a:t>RMSE</a:t>
            </a:r>
          </a:p>
        </p:txBody>
      </p:sp>
      <p:sp>
        <p:nvSpPr>
          <p:cNvPr id="7" name="TextBox 6">
            <a:extLst>
              <a:ext uri="{FF2B5EF4-FFF2-40B4-BE49-F238E27FC236}">
                <a16:creationId xmlns:a16="http://schemas.microsoft.com/office/drawing/2014/main" id="{E75AAE1A-044F-5DE2-686B-0D4EB4325423}"/>
              </a:ext>
            </a:extLst>
          </p:cNvPr>
          <p:cNvSpPr txBox="1"/>
          <p:nvPr/>
        </p:nvSpPr>
        <p:spPr>
          <a:xfrm>
            <a:off x="7531195" y="3189618"/>
            <a:ext cx="910040" cy="369332"/>
          </a:xfrm>
          <a:prstGeom prst="rect">
            <a:avLst/>
          </a:prstGeom>
          <a:solidFill>
            <a:schemeClr val="accent2">
              <a:lumMod val="20000"/>
              <a:lumOff val="80000"/>
            </a:schemeClr>
          </a:solidFill>
        </p:spPr>
        <p:txBody>
          <a:bodyPr wrap="square" rtlCol="0">
            <a:spAutoFit/>
          </a:bodyPr>
          <a:lstStyle/>
          <a:p>
            <a:r>
              <a:rPr lang="en-MY" dirty="0"/>
              <a:t>MAPE</a:t>
            </a:r>
          </a:p>
        </p:txBody>
      </p:sp>
      <p:cxnSp>
        <p:nvCxnSpPr>
          <p:cNvPr id="8" name="Straight Arrow Connector 7">
            <a:extLst>
              <a:ext uri="{FF2B5EF4-FFF2-40B4-BE49-F238E27FC236}">
                <a16:creationId xmlns:a16="http://schemas.microsoft.com/office/drawing/2014/main" id="{5899B41E-52B8-7F3F-C923-8D3C1FBCAF65}"/>
              </a:ext>
            </a:extLst>
          </p:cNvPr>
          <p:cNvCxnSpPr>
            <a:cxnSpLocks/>
          </p:cNvCxnSpPr>
          <p:nvPr/>
        </p:nvCxnSpPr>
        <p:spPr>
          <a:xfrm>
            <a:off x="342004" y="2633670"/>
            <a:ext cx="0" cy="1820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5C951B0-8B86-6587-1609-29B7DF3A7561}"/>
              </a:ext>
            </a:extLst>
          </p:cNvPr>
          <p:cNvSpPr txBox="1">
            <a:spLocks/>
          </p:cNvSpPr>
          <p:nvPr/>
        </p:nvSpPr>
        <p:spPr>
          <a:xfrm>
            <a:off x="-70261" y="4624724"/>
            <a:ext cx="766344" cy="1162584"/>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MY" i="1" dirty="0"/>
              <a:t>Time step</a:t>
            </a:r>
          </a:p>
        </p:txBody>
      </p:sp>
      <p:sp>
        <p:nvSpPr>
          <p:cNvPr id="12" name="Rectangle 11">
            <a:extLst>
              <a:ext uri="{FF2B5EF4-FFF2-40B4-BE49-F238E27FC236}">
                <a16:creationId xmlns:a16="http://schemas.microsoft.com/office/drawing/2014/main" id="{5A1DF36C-0B3F-1028-DAB4-CF650AA7A5FB}"/>
              </a:ext>
            </a:extLst>
          </p:cNvPr>
          <p:cNvSpPr/>
          <p:nvPr/>
        </p:nvSpPr>
        <p:spPr>
          <a:xfrm>
            <a:off x="4605318" y="1246351"/>
            <a:ext cx="4138918" cy="1822315"/>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TextBox 15">
            <a:extLst>
              <a:ext uri="{FF2B5EF4-FFF2-40B4-BE49-F238E27FC236}">
                <a16:creationId xmlns:a16="http://schemas.microsoft.com/office/drawing/2014/main" id="{1C97BF07-855D-3FC2-2DEE-8D519FBAF1E1}"/>
              </a:ext>
            </a:extLst>
          </p:cNvPr>
          <p:cNvSpPr txBox="1"/>
          <p:nvPr/>
        </p:nvSpPr>
        <p:spPr>
          <a:xfrm>
            <a:off x="4938006" y="1409892"/>
            <a:ext cx="3510309"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when increase the number of training data, initial values effect not significant</a:t>
            </a:r>
            <a:endParaRPr lang="en-MY" dirty="0"/>
          </a:p>
          <a:p>
            <a:pPr marL="285750" indent="-285750" algn="just">
              <a:buFont typeface="Arial" panose="020B0604020202020204" pitchFamily="34" charset="0"/>
              <a:buChar char="•"/>
            </a:pPr>
            <a:r>
              <a:rPr lang="en-MY" dirty="0"/>
              <a:t>might caused by other factors</a:t>
            </a:r>
          </a:p>
        </p:txBody>
      </p:sp>
    </p:spTree>
    <p:extLst>
      <p:ext uri="{BB962C8B-B14F-4D97-AF65-F5344CB8AC3E}">
        <p14:creationId xmlns:p14="http://schemas.microsoft.com/office/powerpoint/2010/main" val="8816870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D8C3A12-B805-D4D3-B284-C4704E0BE215}"/>
              </a:ext>
            </a:extLst>
          </p:cNvPr>
          <p:cNvSpPr/>
          <p:nvPr/>
        </p:nvSpPr>
        <p:spPr>
          <a:xfrm>
            <a:off x="478675" y="1690683"/>
            <a:ext cx="4201609" cy="1477328"/>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2" name="Title 1">
            <a:extLst>
              <a:ext uri="{FF2B5EF4-FFF2-40B4-BE49-F238E27FC236}">
                <a16:creationId xmlns:a16="http://schemas.microsoft.com/office/drawing/2014/main" id="{48E2798D-62F3-D0B9-557E-9E7096E097CF}"/>
              </a:ext>
            </a:extLst>
          </p:cNvPr>
          <p:cNvSpPr>
            <a:spLocks noGrp="1"/>
          </p:cNvSpPr>
          <p:nvPr>
            <p:ph type="title" idx="4294967295"/>
          </p:nvPr>
        </p:nvSpPr>
        <p:spPr>
          <a:xfrm>
            <a:off x="352888" y="-669314"/>
            <a:ext cx="10058400" cy="1449387"/>
          </a:xfrm>
        </p:spPr>
        <p:txBody>
          <a:bodyPr/>
          <a:lstStyle/>
          <a:p>
            <a:r>
              <a:rPr lang="en-MY" dirty="0"/>
              <a:t>Removing noise</a:t>
            </a:r>
          </a:p>
        </p:txBody>
      </p:sp>
      <p:pic>
        <p:nvPicPr>
          <p:cNvPr id="6" name="Picture 5" descr="A graph with a line and a blue line&#10;&#10;AI-generated content may be incorrect.">
            <a:extLst>
              <a:ext uri="{FF2B5EF4-FFF2-40B4-BE49-F238E27FC236}">
                <a16:creationId xmlns:a16="http://schemas.microsoft.com/office/drawing/2014/main" id="{DE100981-CCC1-3039-1FB3-B85CE2A837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4082" y="835635"/>
            <a:ext cx="2923926" cy="2583796"/>
          </a:xfrm>
          <a:prstGeom prst="rect">
            <a:avLst/>
          </a:prstGeom>
        </p:spPr>
      </p:pic>
      <p:pic>
        <p:nvPicPr>
          <p:cNvPr id="10" name="Picture 9" descr="A graph with blue and orange lines&#10;&#10;AI-generated content may be incorrect.">
            <a:extLst>
              <a:ext uri="{FF2B5EF4-FFF2-40B4-BE49-F238E27FC236}">
                <a16:creationId xmlns:a16="http://schemas.microsoft.com/office/drawing/2014/main" id="{0F6E96E2-778A-5579-F451-223FC3C93A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1779" y="3801411"/>
            <a:ext cx="2870221" cy="2583796"/>
          </a:xfrm>
          <a:prstGeom prst="rect">
            <a:avLst/>
          </a:prstGeom>
        </p:spPr>
      </p:pic>
      <p:pic>
        <p:nvPicPr>
          <p:cNvPr id="13" name="Picture 12" descr="A graph of a test set&#10;&#10;AI-generated content may be incorrect.">
            <a:extLst>
              <a:ext uri="{FF2B5EF4-FFF2-40B4-BE49-F238E27FC236}">
                <a16:creationId xmlns:a16="http://schemas.microsoft.com/office/drawing/2014/main" id="{7420AFEF-4E11-FB89-DC92-E2ACBA010F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81994" y="827574"/>
            <a:ext cx="3049237" cy="2583796"/>
          </a:xfrm>
          <a:prstGeom prst="rect">
            <a:avLst/>
          </a:prstGeom>
        </p:spPr>
      </p:pic>
      <p:pic>
        <p:nvPicPr>
          <p:cNvPr id="18" name="Picture 17" descr="A graph of a graph&#10;&#10;AI-generated content may be incorrect.">
            <a:extLst>
              <a:ext uri="{FF2B5EF4-FFF2-40B4-BE49-F238E27FC236}">
                <a16:creationId xmlns:a16="http://schemas.microsoft.com/office/drawing/2014/main" id="{2FB5C2C9-1801-74CC-56AF-0AB3682D6B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7872" y="3544767"/>
            <a:ext cx="7567863" cy="3128706"/>
          </a:xfrm>
          <a:prstGeom prst="rect">
            <a:avLst/>
          </a:prstGeom>
        </p:spPr>
      </p:pic>
      <p:sp>
        <p:nvSpPr>
          <p:cNvPr id="3" name="TextBox 2">
            <a:extLst>
              <a:ext uri="{FF2B5EF4-FFF2-40B4-BE49-F238E27FC236}">
                <a16:creationId xmlns:a16="http://schemas.microsoft.com/office/drawing/2014/main" id="{45EAA1E0-A940-09D1-90C8-75EA967EA953}"/>
              </a:ext>
            </a:extLst>
          </p:cNvPr>
          <p:cNvSpPr txBox="1"/>
          <p:nvPr/>
        </p:nvSpPr>
        <p:spPr>
          <a:xfrm>
            <a:off x="478675" y="752127"/>
            <a:ext cx="4201608" cy="790473"/>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kern="100" dirty="0">
                <a:ea typeface="DengXian" panose="02010600030101010101" pitchFamily="2" charset="-122"/>
              </a:rPr>
              <a:t>H</a:t>
            </a:r>
            <a:r>
              <a:rPr lang="en-MY" kern="100" baseline="-25000" dirty="0">
                <a:ea typeface="DengXian" panose="02010600030101010101" pitchFamily="2" charset="-122"/>
              </a:rPr>
              <a:t>2 </a:t>
            </a:r>
            <a:r>
              <a:rPr lang="en-MY" kern="100" dirty="0">
                <a:ea typeface="DengXian" panose="02010600030101010101" pitchFamily="2" charset="-122"/>
              </a:rPr>
              <a:t>, </a:t>
            </a:r>
            <a:r>
              <a:rPr lang="en-MY" kern="100" dirty="0" err="1">
                <a:ea typeface="DengXian" panose="02010600030101010101" pitchFamily="2" charset="-122"/>
              </a:rPr>
              <a:t>LiH</a:t>
            </a:r>
            <a:r>
              <a:rPr lang="en-MY" kern="100" dirty="0">
                <a:ea typeface="DengXian" panose="02010600030101010101" pitchFamily="2" charset="-122"/>
              </a:rPr>
              <a:t>, H</a:t>
            </a:r>
            <a:r>
              <a:rPr lang="en-MY" kern="100" baseline="-25000" dirty="0">
                <a:ea typeface="DengXian" panose="02010600030101010101" pitchFamily="2" charset="-122"/>
              </a:rPr>
              <a:t>2</a:t>
            </a:r>
            <a:r>
              <a:rPr lang="en-MY" kern="100" dirty="0">
                <a:ea typeface="DengXian" panose="02010600030101010101" pitchFamily="2" charset="-122"/>
              </a:rPr>
              <a:t>O</a:t>
            </a:r>
          </a:p>
          <a:p>
            <a:r>
              <a:rPr lang="en-MY" dirty="0"/>
              <a:t>STO-3G 10000 time steps</a:t>
            </a:r>
          </a:p>
        </p:txBody>
      </p:sp>
      <p:sp>
        <p:nvSpPr>
          <p:cNvPr id="4" name="TextBox 3">
            <a:extLst>
              <a:ext uri="{FF2B5EF4-FFF2-40B4-BE49-F238E27FC236}">
                <a16:creationId xmlns:a16="http://schemas.microsoft.com/office/drawing/2014/main" id="{A9D3563B-FF83-387C-9917-E4F5F12E3417}"/>
              </a:ext>
            </a:extLst>
          </p:cNvPr>
          <p:cNvSpPr txBox="1"/>
          <p:nvPr/>
        </p:nvSpPr>
        <p:spPr>
          <a:xfrm>
            <a:off x="11434050" y="583771"/>
            <a:ext cx="558549" cy="369332"/>
          </a:xfrm>
          <a:prstGeom prst="rect">
            <a:avLst/>
          </a:prstGeom>
          <a:solidFill>
            <a:schemeClr val="accent2">
              <a:lumMod val="20000"/>
              <a:lumOff val="80000"/>
            </a:schemeClr>
          </a:solidFill>
        </p:spPr>
        <p:txBody>
          <a:bodyPr wrap="square" rtlCol="0">
            <a:spAutoFit/>
          </a:bodyPr>
          <a:lstStyle/>
          <a:p>
            <a:r>
              <a:rPr lang="en-MY" dirty="0"/>
              <a:t>R</a:t>
            </a:r>
            <a:r>
              <a:rPr lang="en-MY" baseline="30000" dirty="0"/>
              <a:t>2</a:t>
            </a:r>
            <a:endParaRPr lang="en-MY" dirty="0"/>
          </a:p>
        </p:txBody>
      </p:sp>
      <p:sp>
        <p:nvSpPr>
          <p:cNvPr id="5" name="TextBox 4">
            <a:extLst>
              <a:ext uri="{FF2B5EF4-FFF2-40B4-BE49-F238E27FC236}">
                <a16:creationId xmlns:a16="http://schemas.microsoft.com/office/drawing/2014/main" id="{5E375A65-42AB-4054-CE62-70F9DD5E4A4F}"/>
              </a:ext>
            </a:extLst>
          </p:cNvPr>
          <p:cNvSpPr txBox="1"/>
          <p:nvPr/>
        </p:nvSpPr>
        <p:spPr>
          <a:xfrm>
            <a:off x="11281960" y="3592212"/>
            <a:ext cx="910040" cy="369332"/>
          </a:xfrm>
          <a:prstGeom prst="rect">
            <a:avLst/>
          </a:prstGeom>
          <a:solidFill>
            <a:schemeClr val="accent2">
              <a:lumMod val="20000"/>
              <a:lumOff val="80000"/>
            </a:schemeClr>
          </a:solidFill>
        </p:spPr>
        <p:txBody>
          <a:bodyPr wrap="square" rtlCol="0">
            <a:spAutoFit/>
          </a:bodyPr>
          <a:lstStyle/>
          <a:p>
            <a:r>
              <a:rPr lang="en-MY" dirty="0"/>
              <a:t>RMSE</a:t>
            </a:r>
          </a:p>
        </p:txBody>
      </p:sp>
      <p:sp>
        <p:nvSpPr>
          <p:cNvPr id="7" name="TextBox 6">
            <a:extLst>
              <a:ext uri="{FF2B5EF4-FFF2-40B4-BE49-F238E27FC236}">
                <a16:creationId xmlns:a16="http://schemas.microsoft.com/office/drawing/2014/main" id="{22FC3AA1-A9FB-94CA-EBB0-C82C3CB27F94}"/>
              </a:ext>
            </a:extLst>
          </p:cNvPr>
          <p:cNvSpPr txBox="1"/>
          <p:nvPr/>
        </p:nvSpPr>
        <p:spPr>
          <a:xfrm>
            <a:off x="7767504" y="642908"/>
            <a:ext cx="910040" cy="369332"/>
          </a:xfrm>
          <a:prstGeom prst="rect">
            <a:avLst/>
          </a:prstGeom>
          <a:solidFill>
            <a:schemeClr val="accent2">
              <a:lumMod val="20000"/>
              <a:lumOff val="80000"/>
            </a:schemeClr>
          </a:solidFill>
        </p:spPr>
        <p:txBody>
          <a:bodyPr wrap="square" rtlCol="0">
            <a:spAutoFit/>
          </a:bodyPr>
          <a:lstStyle/>
          <a:p>
            <a:r>
              <a:rPr lang="en-MY" dirty="0"/>
              <a:t>MAPE</a:t>
            </a:r>
          </a:p>
        </p:txBody>
      </p:sp>
      <p:sp>
        <p:nvSpPr>
          <p:cNvPr id="14" name="TextBox 13">
            <a:extLst>
              <a:ext uri="{FF2B5EF4-FFF2-40B4-BE49-F238E27FC236}">
                <a16:creationId xmlns:a16="http://schemas.microsoft.com/office/drawing/2014/main" id="{8C979479-6C44-5497-3A97-F5D60EBD061E}"/>
              </a:ext>
            </a:extLst>
          </p:cNvPr>
          <p:cNvSpPr txBox="1"/>
          <p:nvPr/>
        </p:nvSpPr>
        <p:spPr>
          <a:xfrm>
            <a:off x="2914964" y="3305808"/>
            <a:ext cx="2110868" cy="369332"/>
          </a:xfrm>
          <a:prstGeom prst="rect">
            <a:avLst/>
          </a:prstGeom>
          <a:solidFill>
            <a:schemeClr val="accent2">
              <a:lumMod val="20000"/>
              <a:lumOff val="80000"/>
            </a:schemeClr>
          </a:solidFill>
        </p:spPr>
        <p:txBody>
          <a:bodyPr wrap="square" rtlCol="0">
            <a:spAutoFit/>
          </a:bodyPr>
          <a:lstStyle/>
          <a:p>
            <a:r>
              <a:rPr lang="en-MY" dirty="0"/>
              <a:t>Test set (Re(2,3))</a:t>
            </a:r>
          </a:p>
        </p:txBody>
      </p:sp>
      <p:sp>
        <p:nvSpPr>
          <p:cNvPr id="17" name="TextBox 16">
            <a:extLst>
              <a:ext uri="{FF2B5EF4-FFF2-40B4-BE49-F238E27FC236}">
                <a16:creationId xmlns:a16="http://schemas.microsoft.com/office/drawing/2014/main" id="{4D5E98E0-7AE2-9E66-EFAC-831BA1637D35}"/>
              </a:ext>
            </a:extLst>
          </p:cNvPr>
          <p:cNvSpPr txBox="1"/>
          <p:nvPr/>
        </p:nvSpPr>
        <p:spPr>
          <a:xfrm>
            <a:off x="478675" y="1803124"/>
            <a:ext cx="4201609" cy="1477328"/>
          </a:xfrm>
          <a:prstGeom prst="rect">
            <a:avLst/>
          </a:prstGeom>
          <a:noFill/>
        </p:spPr>
        <p:txBody>
          <a:bodyPr wrap="square">
            <a:spAutoFit/>
          </a:bodyPr>
          <a:lstStyle/>
          <a:p>
            <a:pPr marL="285750" indent="-285750">
              <a:buFont typeface="Arial" panose="020B0604020202020204" pitchFamily="34" charset="0"/>
              <a:buChar char="•"/>
            </a:pPr>
            <a:r>
              <a:rPr lang="en-MY" strike="sngStrike" dirty="0"/>
              <a:t>Values &lt; 1 × 10</a:t>
            </a:r>
            <a:r>
              <a:rPr lang="en-MY" strike="sngStrike" baseline="30000" dirty="0"/>
              <a:t>−13</a:t>
            </a:r>
          </a:p>
          <a:p>
            <a:pPr marL="285750" indent="-285750">
              <a:buFont typeface="Arial" panose="020B0604020202020204" pitchFamily="34" charset="0"/>
              <a:buChar char="•"/>
            </a:pPr>
            <a:r>
              <a:rPr lang="en-US" dirty="0"/>
              <a:t>significant increase on the accuracy of the prediction (overall)</a:t>
            </a:r>
          </a:p>
          <a:p>
            <a:pPr marL="285750" indent="-285750">
              <a:buFont typeface="Arial" panose="020B0604020202020204" pitchFamily="34" charset="0"/>
              <a:buChar char="•"/>
            </a:pPr>
            <a:r>
              <a:rPr lang="en-US" dirty="0"/>
              <a:t>Learned on small values</a:t>
            </a:r>
          </a:p>
          <a:p>
            <a:pPr marL="285750" indent="-285750">
              <a:buFont typeface="Arial" panose="020B0604020202020204" pitchFamily="34" charset="0"/>
              <a:buChar char="•"/>
            </a:pPr>
            <a:endParaRPr lang="en-MY" dirty="0"/>
          </a:p>
        </p:txBody>
      </p:sp>
      <p:sp>
        <p:nvSpPr>
          <p:cNvPr id="19" name="Oval 18">
            <a:extLst>
              <a:ext uri="{FF2B5EF4-FFF2-40B4-BE49-F238E27FC236}">
                <a16:creationId xmlns:a16="http://schemas.microsoft.com/office/drawing/2014/main" id="{FFDC2CFB-9420-B86D-71DB-963D472BDD1E}"/>
              </a:ext>
            </a:extLst>
          </p:cNvPr>
          <p:cNvSpPr/>
          <p:nvPr/>
        </p:nvSpPr>
        <p:spPr>
          <a:xfrm>
            <a:off x="497131" y="3305808"/>
            <a:ext cx="808704" cy="759107"/>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3327891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F99CF-7F73-C255-D99A-8F09850648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5F8E5-7DDA-E791-7EA7-D05639DAF90F}"/>
              </a:ext>
            </a:extLst>
          </p:cNvPr>
          <p:cNvSpPr>
            <a:spLocks noGrp="1"/>
          </p:cNvSpPr>
          <p:nvPr>
            <p:ph type="title" idx="4294967295"/>
          </p:nvPr>
        </p:nvSpPr>
        <p:spPr>
          <a:xfrm>
            <a:off x="524088" y="-724694"/>
            <a:ext cx="10058400" cy="1449387"/>
          </a:xfrm>
        </p:spPr>
        <p:txBody>
          <a:bodyPr/>
          <a:lstStyle/>
          <a:p>
            <a:r>
              <a:rPr lang="en-MY" dirty="0"/>
              <a:t>Removing noise</a:t>
            </a:r>
          </a:p>
        </p:txBody>
      </p:sp>
      <p:pic>
        <p:nvPicPr>
          <p:cNvPr id="6" name="Picture 5">
            <a:extLst>
              <a:ext uri="{FF2B5EF4-FFF2-40B4-BE49-F238E27FC236}">
                <a16:creationId xmlns:a16="http://schemas.microsoft.com/office/drawing/2014/main" id="{1E85F3F5-4ED4-CA70-ECC9-7E7B668D78D3}"/>
              </a:ext>
            </a:extLst>
          </p:cNvPr>
          <p:cNvPicPr>
            <a:picLocks noChangeAspect="1"/>
          </p:cNvPicPr>
          <p:nvPr/>
        </p:nvPicPr>
        <p:blipFill>
          <a:blip r:embed="rId2"/>
          <a:stretch>
            <a:fillRect/>
          </a:stretch>
        </p:blipFill>
        <p:spPr>
          <a:xfrm>
            <a:off x="73744" y="1080070"/>
            <a:ext cx="5479544" cy="5257631"/>
          </a:xfrm>
          <a:prstGeom prst="rect">
            <a:avLst/>
          </a:prstGeom>
        </p:spPr>
      </p:pic>
      <p:pic>
        <p:nvPicPr>
          <p:cNvPr id="10" name="Picture 9">
            <a:extLst>
              <a:ext uri="{FF2B5EF4-FFF2-40B4-BE49-F238E27FC236}">
                <a16:creationId xmlns:a16="http://schemas.microsoft.com/office/drawing/2014/main" id="{30989B47-4708-B1EE-857D-69916DBB96A0}"/>
              </a:ext>
            </a:extLst>
          </p:cNvPr>
          <p:cNvPicPr>
            <a:picLocks noChangeAspect="1"/>
          </p:cNvPicPr>
          <p:nvPr/>
        </p:nvPicPr>
        <p:blipFill>
          <a:blip r:embed="rId3"/>
          <a:stretch>
            <a:fillRect/>
          </a:stretch>
        </p:blipFill>
        <p:spPr>
          <a:xfrm>
            <a:off x="6096000" y="1080069"/>
            <a:ext cx="5767569" cy="5257631"/>
          </a:xfrm>
          <a:prstGeom prst="rect">
            <a:avLst/>
          </a:prstGeom>
        </p:spPr>
      </p:pic>
      <p:sp>
        <p:nvSpPr>
          <p:cNvPr id="3" name="TextBox 2">
            <a:extLst>
              <a:ext uri="{FF2B5EF4-FFF2-40B4-BE49-F238E27FC236}">
                <a16:creationId xmlns:a16="http://schemas.microsoft.com/office/drawing/2014/main" id="{931EDB31-9BB8-D392-B181-2AE43FEB67D9}"/>
              </a:ext>
            </a:extLst>
          </p:cNvPr>
          <p:cNvSpPr txBox="1"/>
          <p:nvPr/>
        </p:nvSpPr>
        <p:spPr>
          <a:xfrm>
            <a:off x="1685396" y="768006"/>
            <a:ext cx="3421630" cy="369332"/>
          </a:xfrm>
          <a:prstGeom prst="rect">
            <a:avLst/>
          </a:prstGeom>
          <a:noFill/>
        </p:spPr>
        <p:txBody>
          <a:bodyPr wrap="square">
            <a:spAutoFit/>
          </a:bodyPr>
          <a:lstStyle/>
          <a:p>
            <a:r>
              <a:rPr lang="en-MY" dirty="0"/>
              <a:t>Example of  poor predictions</a:t>
            </a:r>
          </a:p>
        </p:txBody>
      </p:sp>
      <p:sp>
        <p:nvSpPr>
          <p:cNvPr id="4" name="TextBox 3">
            <a:extLst>
              <a:ext uri="{FF2B5EF4-FFF2-40B4-BE49-F238E27FC236}">
                <a16:creationId xmlns:a16="http://schemas.microsoft.com/office/drawing/2014/main" id="{A5174E4F-2260-87F3-11CB-031381134FE6}"/>
              </a:ext>
            </a:extLst>
          </p:cNvPr>
          <p:cNvSpPr txBox="1"/>
          <p:nvPr/>
        </p:nvSpPr>
        <p:spPr>
          <a:xfrm>
            <a:off x="7528560" y="768006"/>
            <a:ext cx="3474317" cy="369332"/>
          </a:xfrm>
          <a:prstGeom prst="rect">
            <a:avLst/>
          </a:prstGeom>
          <a:noFill/>
        </p:spPr>
        <p:txBody>
          <a:bodyPr wrap="square">
            <a:spAutoFit/>
          </a:bodyPr>
          <a:lstStyle/>
          <a:p>
            <a:r>
              <a:rPr lang="en-MY" dirty="0"/>
              <a:t>Example of good predictions</a:t>
            </a:r>
          </a:p>
        </p:txBody>
      </p:sp>
    </p:spTree>
    <p:extLst>
      <p:ext uri="{BB962C8B-B14F-4D97-AF65-F5344CB8AC3E}">
        <p14:creationId xmlns:p14="http://schemas.microsoft.com/office/powerpoint/2010/main" val="24812937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F51DE6-F61F-414C-3361-0B32F625EF9D}"/>
              </a:ext>
            </a:extLst>
          </p:cNvPr>
          <p:cNvSpPr txBox="1"/>
          <p:nvPr/>
        </p:nvSpPr>
        <p:spPr>
          <a:xfrm>
            <a:off x="299477" y="1577965"/>
            <a:ext cx="2160104" cy="369332"/>
          </a:xfrm>
          <a:prstGeom prst="rect">
            <a:avLst/>
          </a:prstGeom>
          <a:noFill/>
        </p:spPr>
        <p:txBody>
          <a:bodyPr wrap="square">
            <a:spAutoFit/>
          </a:bodyPr>
          <a:lstStyle/>
          <a:p>
            <a:r>
              <a:rPr lang="en-MY" dirty="0"/>
              <a:t>Neural network</a:t>
            </a:r>
          </a:p>
        </p:txBody>
      </p:sp>
      <p:sp>
        <p:nvSpPr>
          <p:cNvPr id="4" name="TextBox 3">
            <a:extLst>
              <a:ext uri="{FF2B5EF4-FFF2-40B4-BE49-F238E27FC236}">
                <a16:creationId xmlns:a16="http://schemas.microsoft.com/office/drawing/2014/main" id="{E131A71F-3779-3197-C7B2-A7057AC2846B}"/>
              </a:ext>
            </a:extLst>
          </p:cNvPr>
          <p:cNvSpPr txBox="1"/>
          <p:nvPr/>
        </p:nvSpPr>
        <p:spPr>
          <a:xfrm>
            <a:off x="2930821" y="1562129"/>
            <a:ext cx="2160104" cy="646331"/>
          </a:xfrm>
          <a:prstGeom prst="rect">
            <a:avLst/>
          </a:prstGeom>
          <a:noFill/>
        </p:spPr>
        <p:txBody>
          <a:bodyPr wrap="square">
            <a:spAutoFit/>
          </a:bodyPr>
          <a:lstStyle/>
          <a:p>
            <a:r>
              <a:rPr lang="en-MY" dirty="0"/>
              <a:t>Number of hidden layers</a:t>
            </a:r>
          </a:p>
        </p:txBody>
      </p:sp>
      <p:sp>
        <p:nvSpPr>
          <p:cNvPr id="5" name="TextBox 4">
            <a:extLst>
              <a:ext uri="{FF2B5EF4-FFF2-40B4-BE49-F238E27FC236}">
                <a16:creationId xmlns:a16="http://schemas.microsoft.com/office/drawing/2014/main" id="{72667341-4E1E-988E-4FE4-5C8558E0D18F}"/>
              </a:ext>
            </a:extLst>
          </p:cNvPr>
          <p:cNvSpPr txBox="1"/>
          <p:nvPr/>
        </p:nvSpPr>
        <p:spPr>
          <a:xfrm>
            <a:off x="2914259" y="2433572"/>
            <a:ext cx="2160104" cy="369332"/>
          </a:xfrm>
          <a:prstGeom prst="rect">
            <a:avLst/>
          </a:prstGeom>
          <a:noFill/>
        </p:spPr>
        <p:txBody>
          <a:bodyPr wrap="square">
            <a:spAutoFit/>
          </a:bodyPr>
          <a:lstStyle/>
          <a:p>
            <a:r>
              <a:rPr lang="en-MY" dirty="0"/>
              <a:t>Number of neurons</a:t>
            </a:r>
          </a:p>
        </p:txBody>
      </p:sp>
      <p:sp>
        <p:nvSpPr>
          <p:cNvPr id="6" name="TextBox 5">
            <a:extLst>
              <a:ext uri="{FF2B5EF4-FFF2-40B4-BE49-F238E27FC236}">
                <a16:creationId xmlns:a16="http://schemas.microsoft.com/office/drawing/2014/main" id="{5DBA8300-C678-1490-83D3-EBE9FFC387B7}"/>
              </a:ext>
            </a:extLst>
          </p:cNvPr>
          <p:cNvSpPr txBox="1"/>
          <p:nvPr/>
        </p:nvSpPr>
        <p:spPr>
          <a:xfrm>
            <a:off x="2914259" y="2971873"/>
            <a:ext cx="2160104" cy="369332"/>
          </a:xfrm>
          <a:prstGeom prst="rect">
            <a:avLst/>
          </a:prstGeom>
          <a:noFill/>
        </p:spPr>
        <p:txBody>
          <a:bodyPr wrap="square">
            <a:spAutoFit/>
          </a:bodyPr>
          <a:lstStyle/>
          <a:p>
            <a:r>
              <a:rPr lang="en-MY" dirty="0"/>
              <a:t>Optimizers</a:t>
            </a:r>
          </a:p>
        </p:txBody>
      </p:sp>
      <p:pic>
        <p:nvPicPr>
          <p:cNvPr id="8" name="Picture 7" descr="A diagram of a diagram&#10;&#10;AI-generated content may be incorrect.">
            <a:extLst>
              <a:ext uri="{FF2B5EF4-FFF2-40B4-BE49-F238E27FC236}">
                <a16:creationId xmlns:a16="http://schemas.microsoft.com/office/drawing/2014/main" id="{CAFAD2C9-137D-77F8-EB14-585E6D0687E1}"/>
              </a:ext>
            </a:extLst>
          </p:cNvPr>
          <p:cNvPicPr>
            <a:picLocks noChangeAspect="1"/>
          </p:cNvPicPr>
          <p:nvPr/>
        </p:nvPicPr>
        <p:blipFill>
          <a:blip r:embed="rId3">
            <a:extLst>
              <a:ext uri="{28A0092B-C50C-407E-A947-70E740481C1C}">
                <a14:useLocalDpi xmlns:a14="http://schemas.microsoft.com/office/drawing/2010/main" val="0"/>
              </a:ext>
            </a:extLst>
          </a:blip>
          <a:srcRect l="6259" t="19210" r="5587" b="11024"/>
          <a:stretch>
            <a:fillRect/>
          </a:stretch>
        </p:blipFill>
        <p:spPr>
          <a:xfrm>
            <a:off x="5582653" y="2780796"/>
            <a:ext cx="5835315" cy="3463593"/>
          </a:xfrm>
          <a:prstGeom prst="rect">
            <a:avLst/>
          </a:prstGeom>
        </p:spPr>
      </p:pic>
      <p:pic>
        <p:nvPicPr>
          <p:cNvPr id="10" name="Picture 9" descr="A diagram of a diagram&#10;&#10;AI-generated content may be incorrect.">
            <a:extLst>
              <a:ext uri="{FF2B5EF4-FFF2-40B4-BE49-F238E27FC236}">
                <a16:creationId xmlns:a16="http://schemas.microsoft.com/office/drawing/2014/main" id="{9D88BDE6-9B78-87E7-2F59-8F30CE307F84}"/>
              </a:ext>
            </a:extLst>
          </p:cNvPr>
          <p:cNvPicPr>
            <a:picLocks noChangeAspect="1"/>
          </p:cNvPicPr>
          <p:nvPr/>
        </p:nvPicPr>
        <p:blipFill>
          <a:blip r:embed="rId4">
            <a:extLst>
              <a:ext uri="{28A0092B-C50C-407E-A947-70E740481C1C}">
                <a14:useLocalDpi xmlns:a14="http://schemas.microsoft.com/office/drawing/2010/main" val="0"/>
              </a:ext>
            </a:extLst>
          </a:blip>
          <a:srcRect t="5326" b="13261"/>
          <a:stretch>
            <a:fillRect/>
          </a:stretch>
        </p:blipFill>
        <p:spPr>
          <a:xfrm>
            <a:off x="8244791" y="72383"/>
            <a:ext cx="3640317" cy="2222764"/>
          </a:xfrm>
          <a:prstGeom prst="rect">
            <a:avLst/>
          </a:prstGeom>
          <a:ln>
            <a:solidFill>
              <a:srgbClr val="FF0000"/>
            </a:solidFill>
          </a:ln>
        </p:spPr>
      </p:pic>
      <p:sp>
        <p:nvSpPr>
          <p:cNvPr id="12" name="Rectangle 11">
            <a:extLst>
              <a:ext uri="{FF2B5EF4-FFF2-40B4-BE49-F238E27FC236}">
                <a16:creationId xmlns:a16="http://schemas.microsoft.com/office/drawing/2014/main" id="{8277D17C-AFF2-A880-81F0-FBF9469B0180}"/>
              </a:ext>
            </a:extLst>
          </p:cNvPr>
          <p:cNvSpPr/>
          <p:nvPr/>
        </p:nvSpPr>
        <p:spPr>
          <a:xfrm>
            <a:off x="7301947" y="2885687"/>
            <a:ext cx="1073426" cy="107342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14" name="Straight Arrow Connector 13">
            <a:extLst>
              <a:ext uri="{FF2B5EF4-FFF2-40B4-BE49-F238E27FC236}">
                <a16:creationId xmlns:a16="http://schemas.microsoft.com/office/drawing/2014/main" id="{D8CB34BF-39BF-6C77-DA93-2C64798CEB1B}"/>
              </a:ext>
            </a:extLst>
          </p:cNvPr>
          <p:cNvCxnSpPr>
            <a:cxnSpLocks/>
          </p:cNvCxnSpPr>
          <p:nvPr/>
        </p:nvCxnSpPr>
        <p:spPr>
          <a:xfrm flipV="1">
            <a:off x="8001958" y="2408293"/>
            <a:ext cx="119270" cy="3933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Content Placeholder 4" descr="A graph of a function&#10;&#10;AI-generated content may be incorrect.">
            <a:extLst>
              <a:ext uri="{FF2B5EF4-FFF2-40B4-BE49-F238E27FC236}">
                <a16:creationId xmlns:a16="http://schemas.microsoft.com/office/drawing/2014/main" id="{B9D55DE3-73BE-8DD0-31B9-6772C6754B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9871" y="3623759"/>
            <a:ext cx="4001900" cy="2620630"/>
          </a:xfrm>
          <a:prstGeom prst="rect">
            <a:avLst/>
          </a:prstGeom>
        </p:spPr>
      </p:pic>
      <p:sp>
        <p:nvSpPr>
          <p:cNvPr id="2" name="Left Brace 1">
            <a:extLst>
              <a:ext uri="{FF2B5EF4-FFF2-40B4-BE49-F238E27FC236}">
                <a16:creationId xmlns:a16="http://schemas.microsoft.com/office/drawing/2014/main" id="{A7377ABE-425D-449B-C5A5-6C5C9DF76262}"/>
              </a:ext>
            </a:extLst>
          </p:cNvPr>
          <p:cNvSpPr/>
          <p:nvPr/>
        </p:nvSpPr>
        <p:spPr>
          <a:xfrm>
            <a:off x="2228457" y="1789043"/>
            <a:ext cx="477079" cy="133688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7" name="TextBox 6">
            <a:extLst>
              <a:ext uri="{FF2B5EF4-FFF2-40B4-BE49-F238E27FC236}">
                <a16:creationId xmlns:a16="http://schemas.microsoft.com/office/drawing/2014/main" id="{DE30D8DF-8F71-648C-9719-1C884E83E467}"/>
              </a:ext>
            </a:extLst>
          </p:cNvPr>
          <p:cNvSpPr txBox="1"/>
          <p:nvPr/>
        </p:nvSpPr>
        <p:spPr>
          <a:xfrm>
            <a:off x="2930821" y="1208195"/>
            <a:ext cx="2160104" cy="369332"/>
          </a:xfrm>
          <a:prstGeom prst="rect">
            <a:avLst/>
          </a:prstGeom>
          <a:noFill/>
        </p:spPr>
        <p:txBody>
          <a:bodyPr wrap="square">
            <a:spAutoFit/>
          </a:bodyPr>
          <a:lstStyle/>
          <a:p>
            <a:r>
              <a:rPr lang="en-MY" u="sng" dirty="0"/>
              <a:t>Hyperparameters</a:t>
            </a:r>
          </a:p>
        </p:txBody>
      </p:sp>
      <p:sp>
        <p:nvSpPr>
          <p:cNvPr id="9" name="Title 1">
            <a:extLst>
              <a:ext uri="{FF2B5EF4-FFF2-40B4-BE49-F238E27FC236}">
                <a16:creationId xmlns:a16="http://schemas.microsoft.com/office/drawing/2014/main" id="{B00E7865-596A-0776-EC7A-51F5ADE30D80}"/>
              </a:ext>
            </a:extLst>
          </p:cNvPr>
          <p:cNvSpPr txBox="1">
            <a:spLocks/>
          </p:cNvSpPr>
          <p:nvPr/>
        </p:nvSpPr>
        <p:spPr>
          <a:xfrm>
            <a:off x="277076" y="-39063"/>
            <a:ext cx="7174396" cy="780337"/>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MY" dirty="0"/>
              <a:t>Results and discussions</a:t>
            </a:r>
          </a:p>
        </p:txBody>
      </p:sp>
      <p:sp>
        <p:nvSpPr>
          <p:cNvPr id="11" name="TextBox 10">
            <a:extLst>
              <a:ext uri="{FF2B5EF4-FFF2-40B4-BE49-F238E27FC236}">
                <a16:creationId xmlns:a16="http://schemas.microsoft.com/office/drawing/2014/main" id="{E9BF01DC-0194-ECD0-C85A-3D70AB4EA973}"/>
              </a:ext>
            </a:extLst>
          </p:cNvPr>
          <p:cNvSpPr txBox="1"/>
          <p:nvPr/>
        </p:nvSpPr>
        <p:spPr>
          <a:xfrm>
            <a:off x="306892" y="767639"/>
            <a:ext cx="2873630" cy="400110"/>
          </a:xfrm>
          <a:prstGeom prst="rect">
            <a:avLst/>
          </a:prstGeom>
          <a:noFill/>
        </p:spPr>
        <p:txBody>
          <a:bodyPr wrap="square">
            <a:spAutoFit/>
          </a:bodyPr>
          <a:lstStyle/>
          <a:p>
            <a:r>
              <a:rPr lang="en-MY" sz="2000" dirty="0"/>
              <a:t>2. Neural network</a:t>
            </a:r>
          </a:p>
        </p:txBody>
      </p:sp>
      <p:pic>
        <p:nvPicPr>
          <p:cNvPr id="16" name="Picture 15" descr="A logo with a black background&#10;&#10;AI-generated content may be incorrect.">
            <a:extLst>
              <a:ext uri="{FF2B5EF4-FFF2-40B4-BE49-F238E27FC236}">
                <a16:creationId xmlns:a16="http://schemas.microsoft.com/office/drawing/2014/main" id="{8DD98218-0683-4FCF-CF31-0A72D6D7A4E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6783" y="2004440"/>
            <a:ext cx="1379529" cy="881749"/>
          </a:xfrm>
          <a:prstGeom prst="rect">
            <a:avLst/>
          </a:prstGeom>
        </p:spPr>
      </p:pic>
      <p:pic>
        <p:nvPicPr>
          <p:cNvPr id="17" name="Picture 16" descr="A black and grey logo&#10;&#10;AI-generated content may be incorrect.">
            <a:extLst>
              <a:ext uri="{FF2B5EF4-FFF2-40B4-BE49-F238E27FC236}">
                <a16:creationId xmlns:a16="http://schemas.microsoft.com/office/drawing/2014/main" id="{42A7D92C-CE5C-1C40-47D3-A8BC13BEA1E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2954" y="2879023"/>
            <a:ext cx="1379529" cy="400063"/>
          </a:xfrm>
          <a:prstGeom prst="rect">
            <a:avLst/>
          </a:prstGeom>
        </p:spPr>
      </p:pic>
    </p:spTree>
    <p:extLst>
      <p:ext uri="{BB962C8B-B14F-4D97-AF65-F5344CB8AC3E}">
        <p14:creationId xmlns:p14="http://schemas.microsoft.com/office/powerpoint/2010/main" val="382960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C55DD-31F8-1CF1-D992-6E3B90D14AB2}"/>
              </a:ext>
            </a:extLst>
          </p:cNvPr>
          <p:cNvSpPr>
            <a:spLocks noGrp="1"/>
          </p:cNvSpPr>
          <p:nvPr>
            <p:ph type="title" idx="4294967295"/>
          </p:nvPr>
        </p:nvSpPr>
        <p:spPr>
          <a:xfrm>
            <a:off x="88289" y="105952"/>
            <a:ext cx="7131090" cy="749964"/>
          </a:xfrm>
        </p:spPr>
        <p:txBody>
          <a:bodyPr>
            <a:normAutofit/>
          </a:bodyPr>
          <a:lstStyle/>
          <a:p>
            <a:r>
              <a:rPr lang="en-MY" dirty="0"/>
              <a:t>Number of hidden layers</a:t>
            </a:r>
          </a:p>
        </p:txBody>
      </p:sp>
      <p:pic>
        <p:nvPicPr>
          <p:cNvPr id="5" name="Picture 4">
            <a:extLst>
              <a:ext uri="{FF2B5EF4-FFF2-40B4-BE49-F238E27FC236}">
                <a16:creationId xmlns:a16="http://schemas.microsoft.com/office/drawing/2014/main" id="{DC070ACE-0DF7-4007-44B5-4880B2E02475}"/>
              </a:ext>
            </a:extLst>
          </p:cNvPr>
          <p:cNvPicPr>
            <a:picLocks noChangeAspect="1"/>
          </p:cNvPicPr>
          <p:nvPr/>
        </p:nvPicPr>
        <p:blipFill>
          <a:blip r:embed="rId3"/>
          <a:stretch>
            <a:fillRect/>
          </a:stretch>
        </p:blipFill>
        <p:spPr>
          <a:xfrm>
            <a:off x="189394" y="3592212"/>
            <a:ext cx="5777948" cy="2898902"/>
          </a:xfrm>
          <a:prstGeom prst="rect">
            <a:avLst/>
          </a:prstGeom>
        </p:spPr>
      </p:pic>
      <p:pic>
        <p:nvPicPr>
          <p:cNvPr id="6" name="Picture 5" descr="A graph with a line and numbers&#10;&#10;AI-generated content may be incorrect.">
            <a:extLst>
              <a:ext uri="{FF2B5EF4-FFF2-40B4-BE49-F238E27FC236}">
                <a16:creationId xmlns:a16="http://schemas.microsoft.com/office/drawing/2014/main" id="{32B141E2-2569-8F69-4657-132181817F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0507" y="3823584"/>
            <a:ext cx="2925639" cy="2436157"/>
          </a:xfrm>
          <a:prstGeom prst="rect">
            <a:avLst/>
          </a:prstGeom>
        </p:spPr>
      </p:pic>
      <p:pic>
        <p:nvPicPr>
          <p:cNvPr id="9" name="Picture 8" descr="A graph with a line and numbers&#10;&#10;AI-generated content may be incorrect.">
            <a:extLst>
              <a:ext uri="{FF2B5EF4-FFF2-40B4-BE49-F238E27FC236}">
                <a16:creationId xmlns:a16="http://schemas.microsoft.com/office/drawing/2014/main" id="{B81888AE-3B98-A57B-8496-381444595F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3847660"/>
            <a:ext cx="2850366" cy="2523944"/>
          </a:xfrm>
          <a:prstGeom prst="rect">
            <a:avLst/>
          </a:prstGeom>
        </p:spPr>
      </p:pic>
      <p:pic>
        <p:nvPicPr>
          <p:cNvPr id="11" name="Picture 10" descr="A graph with a blue line&#10;&#10;AI-generated content may be incorrect.">
            <a:extLst>
              <a:ext uri="{FF2B5EF4-FFF2-40B4-BE49-F238E27FC236}">
                <a16:creationId xmlns:a16="http://schemas.microsoft.com/office/drawing/2014/main" id="{3DF3E4E8-F8EB-8492-DFC4-783CA1B92AF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96026" y="746864"/>
            <a:ext cx="3107685" cy="2638486"/>
          </a:xfrm>
          <a:prstGeom prst="rect">
            <a:avLst/>
          </a:prstGeom>
        </p:spPr>
      </p:pic>
      <p:sp>
        <p:nvSpPr>
          <p:cNvPr id="3" name="TextBox 2">
            <a:extLst>
              <a:ext uri="{FF2B5EF4-FFF2-40B4-BE49-F238E27FC236}">
                <a16:creationId xmlns:a16="http://schemas.microsoft.com/office/drawing/2014/main" id="{F5BC5D36-0574-37F9-4DE1-09D11BE5F335}"/>
              </a:ext>
            </a:extLst>
          </p:cNvPr>
          <p:cNvSpPr txBox="1"/>
          <p:nvPr/>
        </p:nvSpPr>
        <p:spPr>
          <a:xfrm>
            <a:off x="383968" y="1057399"/>
            <a:ext cx="3378002" cy="1067472"/>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kern="100" dirty="0">
                <a:ea typeface="DengXian" panose="02010600030101010101" pitchFamily="2" charset="-122"/>
              </a:rPr>
              <a:t>H</a:t>
            </a:r>
            <a:r>
              <a:rPr lang="en-MY" kern="100" baseline="-25000" dirty="0">
                <a:ea typeface="DengXian" panose="02010600030101010101" pitchFamily="2" charset="-122"/>
              </a:rPr>
              <a:t>2</a:t>
            </a:r>
            <a:r>
              <a:rPr lang="en-MY" kern="100" dirty="0">
                <a:ea typeface="DengXian" panose="02010600030101010101" pitchFamily="2" charset="-122"/>
              </a:rPr>
              <a:t>O</a:t>
            </a:r>
          </a:p>
          <a:p>
            <a:r>
              <a:rPr lang="en-MY" dirty="0"/>
              <a:t>STO-3G 10000 time steps</a:t>
            </a:r>
          </a:p>
          <a:p>
            <a:r>
              <a:rPr lang="en-MY" dirty="0"/>
              <a:t>256 neurons each layer</a:t>
            </a:r>
          </a:p>
        </p:txBody>
      </p:sp>
      <p:sp>
        <p:nvSpPr>
          <p:cNvPr id="4" name="TextBox 3">
            <a:extLst>
              <a:ext uri="{FF2B5EF4-FFF2-40B4-BE49-F238E27FC236}">
                <a16:creationId xmlns:a16="http://schemas.microsoft.com/office/drawing/2014/main" id="{71B800E7-0833-E58B-28FA-70AF68537C06}"/>
              </a:ext>
            </a:extLst>
          </p:cNvPr>
          <p:cNvSpPr txBox="1"/>
          <p:nvPr/>
        </p:nvSpPr>
        <p:spPr>
          <a:xfrm>
            <a:off x="11444057" y="497094"/>
            <a:ext cx="558549" cy="369332"/>
          </a:xfrm>
          <a:prstGeom prst="rect">
            <a:avLst/>
          </a:prstGeom>
          <a:solidFill>
            <a:schemeClr val="accent2">
              <a:lumMod val="20000"/>
              <a:lumOff val="80000"/>
            </a:schemeClr>
          </a:solidFill>
        </p:spPr>
        <p:txBody>
          <a:bodyPr wrap="square" rtlCol="0">
            <a:spAutoFit/>
          </a:bodyPr>
          <a:lstStyle/>
          <a:p>
            <a:r>
              <a:rPr lang="en-MY" dirty="0"/>
              <a:t>R</a:t>
            </a:r>
            <a:r>
              <a:rPr lang="en-MY" baseline="30000" dirty="0"/>
              <a:t>2</a:t>
            </a:r>
            <a:endParaRPr lang="en-MY" dirty="0"/>
          </a:p>
        </p:txBody>
      </p:sp>
      <p:sp>
        <p:nvSpPr>
          <p:cNvPr id="7" name="TextBox 6">
            <a:extLst>
              <a:ext uri="{FF2B5EF4-FFF2-40B4-BE49-F238E27FC236}">
                <a16:creationId xmlns:a16="http://schemas.microsoft.com/office/drawing/2014/main" id="{EAA2856B-796D-8D23-6465-4CDCB2484CEF}"/>
              </a:ext>
            </a:extLst>
          </p:cNvPr>
          <p:cNvSpPr txBox="1"/>
          <p:nvPr/>
        </p:nvSpPr>
        <p:spPr>
          <a:xfrm>
            <a:off x="11281960" y="3592212"/>
            <a:ext cx="910040" cy="369332"/>
          </a:xfrm>
          <a:prstGeom prst="rect">
            <a:avLst/>
          </a:prstGeom>
          <a:solidFill>
            <a:schemeClr val="accent2">
              <a:lumMod val="20000"/>
              <a:lumOff val="80000"/>
            </a:schemeClr>
          </a:solidFill>
        </p:spPr>
        <p:txBody>
          <a:bodyPr wrap="square" rtlCol="0">
            <a:spAutoFit/>
          </a:bodyPr>
          <a:lstStyle/>
          <a:p>
            <a:r>
              <a:rPr lang="en-MY" dirty="0"/>
              <a:t>RMSE</a:t>
            </a:r>
          </a:p>
        </p:txBody>
      </p:sp>
      <p:sp>
        <p:nvSpPr>
          <p:cNvPr id="8" name="TextBox 7">
            <a:extLst>
              <a:ext uri="{FF2B5EF4-FFF2-40B4-BE49-F238E27FC236}">
                <a16:creationId xmlns:a16="http://schemas.microsoft.com/office/drawing/2014/main" id="{478D0BF2-C43F-AE25-934D-E8CE23E9459E}"/>
              </a:ext>
            </a:extLst>
          </p:cNvPr>
          <p:cNvSpPr txBox="1"/>
          <p:nvPr/>
        </p:nvSpPr>
        <p:spPr>
          <a:xfrm>
            <a:off x="8052691" y="3478328"/>
            <a:ext cx="910040" cy="369332"/>
          </a:xfrm>
          <a:prstGeom prst="rect">
            <a:avLst/>
          </a:prstGeom>
          <a:solidFill>
            <a:schemeClr val="accent2">
              <a:lumMod val="20000"/>
              <a:lumOff val="80000"/>
            </a:schemeClr>
          </a:solidFill>
        </p:spPr>
        <p:txBody>
          <a:bodyPr wrap="square" rtlCol="0">
            <a:spAutoFit/>
          </a:bodyPr>
          <a:lstStyle/>
          <a:p>
            <a:r>
              <a:rPr lang="en-MY" dirty="0"/>
              <a:t>MAPE</a:t>
            </a:r>
          </a:p>
        </p:txBody>
      </p:sp>
      <p:sp>
        <p:nvSpPr>
          <p:cNvPr id="10" name="Rectangle 9">
            <a:extLst>
              <a:ext uri="{FF2B5EF4-FFF2-40B4-BE49-F238E27FC236}">
                <a16:creationId xmlns:a16="http://schemas.microsoft.com/office/drawing/2014/main" id="{BFFAC3D7-783F-121C-D8D5-9F28696101B5}"/>
              </a:ext>
            </a:extLst>
          </p:cNvPr>
          <p:cNvSpPr/>
          <p:nvPr/>
        </p:nvSpPr>
        <p:spPr>
          <a:xfrm>
            <a:off x="319171" y="2326355"/>
            <a:ext cx="4351683" cy="1102645"/>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TextBox 12">
            <a:extLst>
              <a:ext uri="{FF2B5EF4-FFF2-40B4-BE49-F238E27FC236}">
                <a16:creationId xmlns:a16="http://schemas.microsoft.com/office/drawing/2014/main" id="{1B9ACCB3-1DFB-C138-9AE4-74E96033538C}"/>
              </a:ext>
            </a:extLst>
          </p:cNvPr>
          <p:cNvSpPr txBox="1"/>
          <p:nvPr/>
        </p:nvSpPr>
        <p:spPr>
          <a:xfrm>
            <a:off x="568412" y="2409438"/>
            <a:ext cx="3880020" cy="923330"/>
          </a:xfrm>
          <a:prstGeom prst="rect">
            <a:avLst/>
          </a:prstGeom>
          <a:noFill/>
        </p:spPr>
        <p:txBody>
          <a:bodyPr wrap="square">
            <a:spAutoFit/>
          </a:bodyPr>
          <a:lstStyle/>
          <a:p>
            <a:pPr marL="285750" indent="-285750">
              <a:buFont typeface="Arial" panose="020B0604020202020204" pitchFamily="34" charset="0"/>
              <a:buChar char="•"/>
            </a:pPr>
            <a:r>
              <a:rPr lang="en-US" dirty="0"/>
              <a:t>prediction accuracy decreases</a:t>
            </a:r>
          </a:p>
          <a:p>
            <a:pPr marL="285750" indent="-285750">
              <a:buFont typeface="Arial" panose="020B0604020202020204" pitchFamily="34" charset="0"/>
              <a:buChar char="•"/>
            </a:pPr>
            <a:r>
              <a:rPr lang="en-US" dirty="0"/>
              <a:t>Introduce non-linear to linear task</a:t>
            </a:r>
          </a:p>
          <a:p>
            <a:pPr marL="285750" indent="-285750">
              <a:buFont typeface="Arial" panose="020B0604020202020204" pitchFamily="34" charset="0"/>
              <a:buChar char="•"/>
            </a:pPr>
            <a:r>
              <a:rPr lang="en-US" dirty="0"/>
              <a:t># Hidden layer ≠  accuracy</a:t>
            </a:r>
            <a:endParaRPr lang="en-MY" dirty="0"/>
          </a:p>
        </p:txBody>
      </p:sp>
      <p:pic>
        <p:nvPicPr>
          <p:cNvPr id="14" name="Picture 13" descr="A diagram of a diagram&#10;&#10;AI-generated content may be incorrect.">
            <a:extLst>
              <a:ext uri="{FF2B5EF4-FFF2-40B4-BE49-F238E27FC236}">
                <a16:creationId xmlns:a16="http://schemas.microsoft.com/office/drawing/2014/main" id="{87A69EB7-29E7-8D50-B927-C2951760A26E}"/>
              </a:ext>
            </a:extLst>
          </p:cNvPr>
          <p:cNvPicPr>
            <a:picLocks noChangeAspect="1"/>
          </p:cNvPicPr>
          <p:nvPr/>
        </p:nvPicPr>
        <p:blipFill>
          <a:blip r:embed="rId7">
            <a:extLst>
              <a:ext uri="{28A0092B-C50C-407E-A947-70E740481C1C}">
                <a14:useLocalDpi xmlns:a14="http://schemas.microsoft.com/office/drawing/2010/main" val="0"/>
              </a:ext>
            </a:extLst>
          </a:blip>
          <a:srcRect l="6259" t="19210" r="5587" b="11024"/>
          <a:stretch>
            <a:fillRect/>
          </a:stretch>
        </p:blipFill>
        <p:spPr>
          <a:xfrm>
            <a:off x="5036173" y="829631"/>
            <a:ext cx="4104334" cy="2436157"/>
          </a:xfrm>
          <a:prstGeom prst="rect">
            <a:avLst/>
          </a:prstGeom>
        </p:spPr>
      </p:pic>
      <p:sp>
        <p:nvSpPr>
          <p:cNvPr id="15" name="Rectangle 14">
            <a:extLst>
              <a:ext uri="{FF2B5EF4-FFF2-40B4-BE49-F238E27FC236}">
                <a16:creationId xmlns:a16="http://schemas.microsoft.com/office/drawing/2014/main" id="{EBAF7945-5BCD-31DC-FCBF-E8CEB0BD6D2F}"/>
              </a:ext>
            </a:extLst>
          </p:cNvPr>
          <p:cNvSpPr/>
          <p:nvPr/>
        </p:nvSpPr>
        <p:spPr>
          <a:xfrm>
            <a:off x="5967342" y="768951"/>
            <a:ext cx="2237544" cy="2546165"/>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41248653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71820-E028-46E8-D2D0-AA14669C9957}"/>
              </a:ext>
            </a:extLst>
          </p:cNvPr>
          <p:cNvSpPr>
            <a:spLocks noGrp="1"/>
          </p:cNvSpPr>
          <p:nvPr>
            <p:ph type="title" idx="4294967295"/>
          </p:nvPr>
        </p:nvSpPr>
        <p:spPr>
          <a:xfrm>
            <a:off x="280823" y="111602"/>
            <a:ext cx="5457037" cy="713160"/>
          </a:xfrm>
        </p:spPr>
        <p:txBody>
          <a:bodyPr>
            <a:normAutofit fontScale="90000"/>
          </a:bodyPr>
          <a:lstStyle/>
          <a:p>
            <a:r>
              <a:rPr lang="en-MY" dirty="0"/>
              <a:t>Number of neurons</a:t>
            </a:r>
          </a:p>
        </p:txBody>
      </p:sp>
      <p:pic>
        <p:nvPicPr>
          <p:cNvPr id="5" name="Picture 4">
            <a:extLst>
              <a:ext uri="{FF2B5EF4-FFF2-40B4-BE49-F238E27FC236}">
                <a16:creationId xmlns:a16="http://schemas.microsoft.com/office/drawing/2014/main" id="{57B00CEA-3615-A852-48D4-A95D9FE330A3}"/>
              </a:ext>
            </a:extLst>
          </p:cNvPr>
          <p:cNvPicPr>
            <a:picLocks noChangeAspect="1"/>
          </p:cNvPicPr>
          <p:nvPr/>
        </p:nvPicPr>
        <p:blipFill>
          <a:blip r:embed="rId3"/>
          <a:stretch>
            <a:fillRect/>
          </a:stretch>
        </p:blipFill>
        <p:spPr>
          <a:xfrm>
            <a:off x="159359" y="3633994"/>
            <a:ext cx="4414683" cy="2739579"/>
          </a:xfrm>
          <a:prstGeom prst="rect">
            <a:avLst/>
          </a:prstGeom>
        </p:spPr>
      </p:pic>
      <p:pic>
        <p:nvPicPr>
          <p:cNvPr id="13" name="Picture 12" descr="A graph with a line and numbers&#10;&#10;AI-generated content may be incorrect.">
            <a:extLst>
              <a:ext uri="{FF2B5EF4-FFF2-40B4-BE49-F238E27FC236}">
                <a16:creationId xmlns:a16="http://schemas.microsoft.com/office/drawing/2014/main" id="{7794AA63-E78B-5390-AC11-EB2BB82F14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70583" y="3507938"/>
            <a:ext cx="3441409" cy="2865635"/>
          </a:xfrm>
          <a:prstGeom prst="rect">
            <a:avLst/>
          </a:prstGeom>
        </p:spPr>
      </p:pic>
      <p:pic>
        <p:nvPicPr>
          <p:cNvPr id="15" name="Picture 14" descr="A graph with a line and numbers&#10;&#10;AI-generated content may be incorrect.">
            <a:extLst>
              <a:ext uri="{FF2B5EF4-FFF2-40B4-BE49-F238E27FC236}">
                <a16:creationId xmlns:a16="http://schemas.microsoft.com/office/drawing/2014/main" id="{D909D717-09D6-2B0D-5F87-6944FF43A46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2428" y="3507938"/>
            <a:ext cx="3295811" cy="2865635"/>
          </a:xfrm>
          <a:prstGeom prst="rect">
            <a:avLst/>
          </a:prstGeom>
        </p:spPr>
      </p:pic>
      <p:pic>
        <p:nvPicPr>
          <p:cNvPr id="17" name="Picture 16" descr="A graph with a blue line and numbers&#10;&#10;AI-generated content may be incorrect.">
            <a:extLst>
              <a:ext uri="{FF2B5EF4-FFF2-40B4-BE49-F238E27FC236}">
                <a16:creationId xmlns:a16="http://schemas.microsoft.com/office/drawing/2014/main" id="{4F87DE82-C975-1948-087F-F201CEA52FD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56651" y="404830"/>
            <a:ext cx="3287270" cy="2790957"/>
          </a:xfrm>
          <a:prstGeom prst="rect">
            <a:avLst/>
          </a:prstGeom>
        </p:spPr>
      </p:pic>
      <p:sp>
        <p:nvSpPr>
          <p:cNvPr id="3" name="TextBox 2">
            <a:extLst>
              <a:ext uri="{FF2B5EF4-FFF2-40B4-BE49-F238E27FC236}">
                <a16:creationId xmlns:a16="http://schemas.microsoft.com/office/drawing/2014/main" id="{30B87F82-86FB-9B36-02D1-C605A27F5F34}"/>
              </a:ext>
            </a:extLst>
          </p:cNvPr>
          <p:cNvSpPr txBox="1"/>
          <p:nvPr/>
        </p:nvSpPr>
        <p:spPr>
          <a:xfrm>
            <a:off x="335072" y="1051353"/>
            <a:ext cx="3378002" cy="1067472"/>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kern="100" dirty="0">
                <a:ea typeface="DengXian" panose="02010600030101010101" pitchFamily="2" charset="-122"/>
              </a:rPr>
              <a:t>H</a:t>
            </a:r>
            <a:r>
              <a:rPr lang="en-MY" kern="100" baseline="-25000" dirty="0">
                <a:ea typeface="DengXian" panose="02010600030101010101" pitchFamily="2" charset="-122"/>
              </a:rPr>
              <a:t>2</a:t>
            </a:r>
            <a:r>
              <a:rPr lang="en-MY" kern="100" dirty="0">
                <a:ea typeface="DengXian" panose="02010600030101010101" pitchFamily="2" charset="-122"/>
              </a:rPr>
              <a:t>O</a:t>
            </a:r>
          </a:p>
          <a:p>
            <a:r>
              <a:rPr lang="en-MY" dirty="0"/>
              <a:t>STO-3G 10000 time steps</a:t>
            </a:r>
          </a:p>
          <a:p>
            <a:r>
              <a:rPr lang="en-MY" dirty="0"/>
              <a:t>1 hidden layer</a:t>
            </a:r>
          </a:p>
        </p:txBody>
      </p:sp>
      <p:sp>
        <p:nvSpPr>
          <p:cNvPr id="4" name="TextBox 3">
            <a:extLst>
              <a:ext uri="{FF2B5EF4-FFF2-40B4-BE49-F238E27FC236}">
                <a16:creationId xmlns:a16="http://schemas.microsoft.com/office/drawing/2014/main" id="{7BBC346A-E98E-400D-148C-CDA4013CE337}"/>
              </a:ext>
            </a:extLst>
          </p:cNvPr>
          <p:cNvSpPr txBox="1"/>
          <p:nvPr/>
        </p:nvSpPr>
        <p:spPr>
          <a:xfrm>
            <a:off x="11457705" y="220164"/>
            <a:ext cx="558549" cy="369332"/>
          </a:xfrm>
          <a:prstGeom prst="rect">
            <a:avLst/>
          </a:prstGeom>
          <a:solidFill>
            <a:schemeClr val="accent2">
              <a:lumMod val="20000"/>
              <a:lumOff val="80000"/>
            </a:schemeClr>
          </a:solidFill>
        </p:spPr>
        <p:txBody>
          <a:bodyPr wrap="square" rtlCol="0">
            <a:spAutoFit/>
          </a:bodyPr>
          <a:lstStyle/>
          <a:p>
            <a:r>
              <a:rPr lang="en-MY" dirty="0"/>
              <a:t>R</a:t>
            </a:r>
            <a:r>
              <a:rPr lang="en-MY" baseline="30000" dirty="0"/>
              <a:t>2</a:t>
            </a:r>
            <a:endParaRPr lang="en-MY" dirty="0"/>
          </a:p>
        </p:txBody>
      </p:sp>
      <p:sp>
        <p:nvSpPr>
          <p:cNvPr id="6" name="TextBox 5">
            <a:extLst>
              <a:ext uri="{FF2B5EF4-FFF2-40B4-BE49-F238E27FC236}">
                <a16:creationId xmlns:a16="http://schemas.microsoft.com/office/drawing/2014/main" id="{48A2B0E0-B086-7872-18F5-05433E7F1F48}"/>
              </a:ext>
            </a:extLst>
          </p:cNvPr>
          <p:cNvSpPr txBox="1"/>
          <p:nvPr/>
        </p:nvSpPr>
        <p:spPr>
          <a:xfrm>
            <a:off x="11133881" y="3244334"/>
            <a:ext cx="910040" cy="369332"/>
          </a:xfrm>
          <a:prstGeom prst="rect">
            <a:avLst/>
          </a:prstGeom>
          <a:solidFill>
            <a:schemeClr val="accent2">
              <a:lumMod val="20000"/>
              <a:lumOff val="80000"/>
            </a:schemeClr>
          </a:solidFill>
        </p:spPr>
        <p:txBody>
          <a:bodyPr wrap="square" rtlCol="0">
            <a:spAutoFit/>
          </a:bodyPr>
          <a:lstStyle/>
          <a:p>
            <a:r>
              <a:rPr lang="en-MY" dirty="0"/>
              <a:t>RMSE</a:t>
            </a:r>
          </a:p>
        </p:txBody>
      </p:sp>
      <p:sp>
        <p:nvSpPr>
          <p:cNvPr id="7" name="TextBox 6">
            <a:extLst>
              <a:ext uri="{FF2B5EF4-FFF2-40B4-BE49-F238E27FC236}">
                <a16:creationId xmlns:a16="http://schemas.microsoft.com/office/drawing/2014/main" id="{5C470311-894A-9769-128A-391486E30F2A}"/>
              </a:ext>
            </a:extLst>
          </p:cNvPr>
          <p:cNvSpPr txBox="1"/>
          <p:nvPr/>
        </p:nvSpPr>
        <p:spPr>
          <a:xfrm>
            <a:off x="7540974" y="3320513"/>
            <a:ext cx="910040" cy="369332"/>
          </a:xfrm>
          <a:prstGeom prst="rect">
            <a:avLst/>
          </a:prstGeom>
          <a:solidFill>
            <a:schemeClr val="accent2">
              <a:lumMod val="20000"/>
              <a:lumOff val="80000"/>
            </a:schemeClr>
          </a:solidFill>
        </p:spPr>
        <p:txBody>
          <a:bodyPr wrap="square" rtlCol="0">
            <a:spAutoFit/>
          </a:bodyPr>
          <a:lstStyle/>
          <a:p>
            <a:r>
              <a:rPr lang="en-MY" dirty="0"/>
              <a:t>MAPE</a:t>
            </a:r>
          </a:p>
        </p:txBody>
      </p:sp>
      <p:pic>
        <p:nvPicPr>
          <p:cNvPr id="9" name="Picture 8" descr="A diagram of a diagram&#10;&#10;AI-generated content may be incorrect.">
            <a:extLst>
              <a:ext uri="{FF2B5EF4-FFF2-40B4-BE49-F238E27FC236}">
                <a16:creationId xmlns:a16="http://schemas.microsoft.com/office/drawing/2014/main" id="{B64703EB-7457-D613-EA47-E8B40B812ED8}"/>
              </a:ext>
            </a:extLst>
          </p:cNvPr>
          <p:cNvPicPr>
            <a:picLocks noChangeAspect="1"/>
          </p:cNvPicPr>
          <p:nvPr/>
        </p:nvPicPr>
        <p:blipFill>
          <a:blip r:embed="rId7">
            <a:extLst>
              <a:ext uri="{28A0092B-C50C-407E-A947-70E740481C1C}">
                <a14:useLocalDpi xmlns:a14="http://schemas.microsoft.com/office/drawing/2010/main" val="0"/>
              </a:ext>
            </a:extLst>
          </a:blip>
          <a:srcRect l="6259" t="19210" r="5587" b="11024"/>
          <a:stretch>
            <a:fillRect/>
          </a:stretch>
        </p:blipFill>
        <p:spPr>
          <a:xfrm>
            <a:off x="4207474" y="887067"/>
            <a:ext cx="4104334" cy="2436157"/>
          </a:xfrm>
          <a:prstGeom prst="rect">
            <a:avLst/>
          </a:prstGeom>
        </p:spPr>
      </p:pic>
      <p:sp>
        <p:nvSpPr>
          <p:cNvPr id="10" name="Rectangle 9">
            <a:extLst>
              <a:ext uri="{FF2B5EF4-FFF2-40B4-BE49-F238E27FC236}">
                <a16:creationId xmlns:a16="http://schemas.microsoft.com/office/drawing/2014/main" id="{C4B4035B-6977-8633-AE93-99902A6F39B7}"/>
              </a:ext>
            </a:extLst>
          </p:cNvPr>
          <p:cNvSpPr/>
          <p:nvPr/>
        </p:nvSpPr>
        <p:spPr>
          <a:xfrm>
            <a:off x="5310023" y="887067"/>
            <a:ext cx="1050121" cy="2196671"/>
          </a:xfrm>
          <a:prstGeom prst="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Rectangle 10">
            <a:extLst>
              <a:ext uri="{FF2B5EF4-FFF2-40B4-BE49-F238E27FC236}">
                <a16:creationId xmlns:a16="http://schemas.microsoft.com/office/drawing/2014/main" id="{5D7B6188-F26A-A3E2-559B-D3EA8F4E79C8}"/>
              </a:ext>
            </a:extLst>
          </p:cNvPr>
          <p:cNvSpPr/>
          <p:nvPr/>
        </p:nvSpPr>
        <p:spPr>
          <a:xfrm>
            <a:off x="222359" y="2288059"/>
            <a:ext cx="4077053" cy="1102645"/>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2" name="TextBox 11">
            <a:extLst>
              <a:ext uri="{FF2B5EF4-FFF2-40B4-BE49-F238E27FC236}">
                <a16:creationId xmlns:a16="http://schemas.microsoft.com/office/drawing/2014/main" id="{B97B660A-16DB-13F1-124B-E0633FAE08BE}"/>
              </a:ext>
            </a:extLst>
          </p:cNvPr>
          <p:cNvSpPr txBox="1"/>
          <p:nvPr/>
        </p:nvSpPr>
        <p:spPr>
          <a:xfrm>
            <a:off x="427915" y="2509113"/>
            <a:ext cx="3574004" cy="646331"/>
          </a:xfrm>
          <a:prstGeom prst="rect">
            <a:avLst/>
          </a:prstGeom>
          <a:noFill/>
        </p:spPr>
        <p:txBody>
          <a:bodyPr wrap="square">
            <a:spAutoFit/>
          </a:bodyPr>
          <a:lstStyle/>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rule-of-thumb method : 2/3  </a:t>
            </a:r>
            <a:endParaRPr lang="en-MY" dirty="0"/>
          </a:p>
        </p:txBody>
      </p:sp>
      <p:sp>
        <p:nvSpPr>
          <p:cNvPr id="14" name="Rectangle 13">
            <a:extLst>
              <a:ext uri="{FF2B5EF4-FFF2-40B4-BE49-F238E27FC236}">
                <a16:creationId xmlns:a16="http://schemas.microsoft.com/office/drawing/2014/main" id="{AB3FDA1A-770A-19F8-6C3C-79264A70C42F}"/>
              </a:ext>
            </a:extLst>
          </p:cNvPr>
          <p:cNvSpPr/>
          <p:nvPr/>
        </p:nvSpPr>
        <p:spPr>
          <a:xfrm>
            <a:off x="508140" y="4563127"/>
            <a:ext cx="3791272" cy="317793"/>
          </a:xfrm>
          <a:prstGeom prst="rect">
            <a:avLst/>
          </a:prstGeom>
          <a:solidFill>
            <a:srgbClr val="FFFF00">
              <a:alpha val="2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205202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BAA70-E1FD-6BD8-A0C4-8B61BF51F058}"/>
              </a:ext>
            </a:extLst>
          </p:cNvPr>
          <p:cNvSpPr>
            <a:spLocks noGrp="1"/>
          </p:cNvSpPr>
          <p:nvPr>
            <p:ph type="title" idx="4294967295"/>
          </p:nvPr>
        </p:nvSpPr>
        <p:spPr>
          <a:xfrm>
            <a:off x="588710" y="43154"/>
            <a:ext cx="6250546" cy="796567"/>
          </a:xfrm>
        </p:spPr>
        <p:txBody>
          <a:bodyPr/>
          <a:lstStyle/>
          <a:p>
            <a:r>
              <a:rPr lang="en-MY" dirty="0"/>
              <a:t>Types of optimizers</a:t>
            </a:r>
          </a:p>
        </p:txBody>
      </p:sp>
      <p:pic>
        <p:nvPicPr>
          <p:cNvPr id="6" name="Picture 5" descr="A graph with numbers and lines&#10;&#10;AI-generated content may be incorrect.">
            <a:extLst>
              <a:ext uri="{FF2B5EF4-FFF2-40B4-BE49-F238E27FC236}">
                <a16:creationId xmlns:a16="http://schemas.microsoft.com/office/drawing/2014/main" id="{12DE03C0-6BE4-AF01-9FEC-EE48E0085F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7313" y="3827293"/>
            <a:ext cx="3020163" cy="2510040"/>
          </a:xfrm>
          <a:prstGeom prst="rect">
            <a:avLst/>
          </a:prstGeom>
        </p:spPr>
      </p:pic>
      <p:pic>
        <p:nvPicPr>
          <p:cNvPr id="10" name="Picture 9" descr="A graph with numbers and lines&#10;&#10;AI-generated content may be incorrect.">
            <a:extLst>
              <a:ext uri="{FF2B5EF4-FFF2-40B4-BE49-F238E27FC236}">
                <a16:creationId xmlns:a16="http://schemas.microsoft.com/office/drawing/2014/main" id="{C09E4B3E-0CF8-0D5E-7983-F53866F7B7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84782" y="3679866"/>
            <a:ext cx="3062531" cy="2657467"/>
          </a:xfrm>
          <a:prstGeom prst="rect">
            <a:avLst/>
          </a:prstGeom>
        </p:spPr>
      </p:pic>
      <p:pic>
        <p:nvPicPr>
          <p:cNvPr id="13" name="Picture 12" descr="A graph with a line and a line&#10;&#10;AI-generated content may be incorrect.">
            <a:extLst>
              <a:ext uri="{FF2B5EF4-FFF2-40B4-BE49-F238E27FC236}">
                <a16:creationId xmlns:a16="http://schemas.microsoft.com/office/drawing/2014/main" id="{A5CD99E5-262A-9510-9CAA-274B80CC52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43954" y="509895"/>
            <a:ext cx="3246425" cy="2800203"/>
          </a:xfrm>
          <a:prstGeom prst="rect">
            <a:avLst/>
          </a:prstGeom>
        </p:spPr>
      </p:pic>
      <p:sp>
        <p:nvSpPr>
          <p:cNvPr id="3" name="TextBox 2">
            <a:extLst>
              <a:ext uri="{FF2B5EF4-FFF2-40B4-BE49-F238E27FC236}">
                <a16:creationId xmlns:a16="http://schemas.microsoft.com/office/drawing/2014/main" id="{68E67C80-CBAB-272C-F140-17E164554CE7}"/>
              </a:ext>
            </a:extLst>
          </p:cNvPr>
          <p:cNvSpPr txBox="1"/>
          <p:nvPr/>
        </p:nvSpPr>
        <p:spPr>
          <a:xfrm>
            <a:off x="366362" y="1091579"/>
            <a:ext cx="3378002" cy="1067472"/>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kern="100" dirty="0">
                <a:ea typeface="DengXian" panose="02010600030101010101" pitchFamily="2" charset="-122"/>
              </a:rPr>
              <a:t>H</a:t>
            </a:r>
            <a:r>
              <a:rPr lang="en-MY" kern="100" baseline="-25000" dirty="0">
                <a:ea typeface="DengXian" panose="02010600030101010101" pitchFamily="2" charset="-122"/>
              </a:rPr>
              <a:t>2</a:t>
            </a:r>
            <a:r>
              <a:rPr lang="en-MY" kern="100" dirty="0">
                <a:ea typeface="DengXian" panose="02010600030101010101" pitchFamily="2" charset="-122"/>
              </a:rPr>
              <a:t>O</a:t>
            </a:r>
          </a:p>
          <a:p>
            <a:r>
              <a:rPr lang="en-MY" dirty="0"/>
              <a:t>STO-3G 10000 time steps</a:t>
            </a:r>
          </a:p>
          <a:p>
            <a:r>
              <a:rPr lang="en-MY" dirty="0"/>
              <a:t>1 hidden layer, 256 neurons</a:t>
            </a:r>
          </a:p>
        </p:txBody>
      </p:sp>
      <p:sp>
        <p:nvSpPr>
          <p:cNvPr id="4" name="TextBox 3">
            <a:extLst>
              <a:ext uri="{FF2B5EF4-FFF2-40B4-BE49-F238E27FC236}">
                <a16:creationId xmlns:a16="http://schemas.microsoft.com/office/drawing/2014/main" id="{B1489A12-06CA-6FA9-48A5-941F25023E1F}"/>
              </a:ext>
            </a:extLst>
          </p:cNvPr>
          <p:cNvSpPr txBox="1"/>
          <p:nvPr/>
        </p:nvSpPr>
        <p:spPr>
          <a:xfrm>
            <a:off x="11433181" y="111602"/>
            <a:ext cx="558549" cy="369332"/>
          </a:xfrm>
          <a:prstGeom prst="rect">
            <a:avLst/>
          </a:prstGeom>
          <a:solidFill>
            <a:schemeClr val="accent2">
              <a:lumMod val="20000"/>
              <a:lumOff val="80000"/>
            </a:schemeClr>
          </a:solidFill>
        </p:spPr>
        <p:txBody>
          <a:bodyPr wrap="square" rtlCol="0">
            <a:spAutoFit/>
          </a:bodyPr>
          <a:lstStyle/>
          <a:p>
            <a:r>
              <a:rPr lang="en-MY" dirty="0"/>
              <a:t>R</a:t>
            </a:r>
            <a:r>
              <a:rPr lang="en-MY" baseline="30000" dirty="0"/>
              <a:t>2</a:t>
            </a:r>
            <a:endParaRPr lang="en-MY" dirty="0"/>
          </a:p>
        </p:txBody>
      </p:sp>
      <p:sp>
        <p:nvSpPr>
          <p:cNvPr id="5" name="TextBox 4">
            <a:extLst>
              <a:ext uri="{FF2B5EF4-FFF2-40B4-BE49-F238E27FC236}">
                <a16:creationId xmlns:a16="http://schemas.microsoft.com/office/drawing/2014/main" id="{5BB7B0E5-84B4-19EF-11D8-7E842B2B98B9}"/>
              </a:ext>
            </a:extLst>
          </p:cNvPr>
          <p:cNvSpPr txBox="1"/>
          <p:nvPr/>
        </p:nvSpPr>
        <p:spPr>
          <a:xfrm>
            <a:off x="11257436" y="3429000"/>
            <a:ext cx="910040" cy="369332"/>
          </a:xfrm>
          <a:prstGeom prst="rect">
            <a:avLst/>
          </a:prstGeom>
          <a:solidFill>
            <a:schemeClr val="accent2">
              <a:lumMod val="20000"/>
              <a:lumOff val="80000"/>
            </a:schemeClr>
          </a:solidFill>
        </p:spPr>
        <p:txBody>
          <a:bodyPr wrap="square" rtlCol="0">
            <a:spAutoFit/>
          </a:bodyPr>
          <a:lstStyle/>
          <a:p>
            <a:r>
              <a:rPr lang="en-MY" dirty="0"/>
              <a:t>RMSE</a:t>
            </a:r>
          </a:p>
        </p:txBody>
      </p:sp>
      <p:sp>
        <p:nvSpPr>
          <p:cNvPr id="7" name="TextBox 6">
            <a:extLst>
              <a:ext uri="{FF2B5EF4-FFF2-40B4-BE49-F238E27FC236}">
                <a16:creationId xmlns:a16="http://schemas.microsoft.com/office/drawing/2014/main" id="{22DC6F39-B04E-51FC-4EEC-0730A407E650}"/>
              </a:ext>
            </a:extLst>
          </p:cNvPr>
          <p:cNvSpPr txBox="1"/>
          <p:nvPr/>
        </p:nvSpPr>
        <p:spPr>
          <a:xfrm>
            <a:off x="8237273" y="3429000"/>
            <a:ext cx="910040" cy="369332"/>
          </a:xfrm>
          <a:prstGeom prst="rect">
            <a:avLst/>
          </a:prstGeom>
          <a:solidFill>
            <a:schemeClr val="accent2">
              <a:lumMod val="20000"/>
              <a:lumOff val="80000"/>
            </a:schemeClr>
          </a:solidFill>
        </p:spPr>
        <p:txBody>
          <a:bodyPr wrap="square" rtlCol="0">
            <a:spAutoFit/>
          </a:bodyPr>
          <a:lstStyle/>
          <a:p>
            <a:r>
              <a:rPr lang="en-MY" dirty="0"/>
              <a:t>MAPE</a:t>
            </a:r>
          </a:p>
        </p:txBody>
      </p:sp>
      <p:sp>
        <p:nvSpPr>
          <p:cNvPr id="9" name="TextBox 8">
            <a:extLst>
              <a:ext uri="{FF2B5EF4-FFF2-40B4-BE49-F238E27FC236}">
                <a16:creationId xmlns:a16="http://schemas.microsoft.com/office/drawing/2014/main" id="{C3FE3188-8435-2BB6-BC4D-D9356F5F47B3}"/>
              </a:ext>
            </a:extLst>
          </p:cNvPr>
          <p:cNvSpPr txBox="1"/>
          <p:nvPr/>
        </p:nvSpPr>
        <p:spPr>
          <a:xfrm>
            <a:off x="366362" y="3075503"/>
            <a:ext cx="5004971" cy="923330"/>
          </a:xfrm>
          <a:prstGeom prst="rect">
            <a:avLst/>
          </a:prstGeom>
          <a:noFill/>
        </p:spPr>
        <p:txBody>
          <a:bodyPr wrap="square">
            <a:spAutoFit/>
          </a:bodyPr>
          <a:lstStyle/>
          <a:p>
            <a:r>
              <a:rPr lang="en-US" dirty="0"/>
              <a:t>Adam optimizer</a:t>
            </a:r>
          </a:p>
          <a:p>
            <a:pPr marL="285750" indent="-285750">
              <a:buFont typeface="Arial" panose="020B0604020202020204" pitchFamily="34" charset="0"/>
              <a:buChar char="•"/>
            </a:pPr>
            <a:r>
              <a:rPr lang="en-US" dirty="0"/>
              <a:t>combines two techniques compared to SGD (momentum, adaptive learning rates)  </a:t>
            </a:r>
            <a:endParaRPr lang="en-MY" dirty="0"/>
          </a:p>
        </p:txBody>
      </p:sp>
      <p:sp>
        <p:nvSpPr>
          <p:cNvPr id="12" name="TextBox 11">
            <a:extLst>
              <a:ext uri="{FF2B5EF4-FFF2-40B4-BE49-F238E27FC236}">
                <a16:creationId xmlns:a16="http://schemas.microsoft.com/office/drawing/2014/main" id="{EDBFFC84-7535-D91C-103D-3647061CEB5C}"/>
              </a:ext>
            </a:extLst>
          </p:cNvPr>
          <p:cNvSpPr txBox="1"/>
          <p:nvPr/>
        </p:nvSpPr>
        <p:spPr>
          <a:xfrm>
            <a:off x="355699" y="2225283"/>
            <a:ext cx="3246425" cy="646331"/>
          </a:xfrm>
          <a:prstGeom prst="rect">
            <a:avLst/>
          </a:prstGeom>
          <a:noFill/>
        </p:spPr>
        <p:txBody>
          <a:bodyPr wrap="square">
            <a:spAutoFit/>
          </a:bodyPr>
          <a:lstStyle/>
          <a:p>
            <a:r>
              <a:rPr lang="en-US" dirty="0"/>
              <a:t>Stochastic Gradient Descent (SGD) optimizer</a:t>
            </a:r>
            <a:endParaRPr lang="en-MY" dirty="0"/>
          </a:p>
        </p:txBody>
      </p:sp>
      <p:sp>
        <p:nvSpPr>
          <p:cNvPr id="14" name="Rectangle 13">
            <a:extLst>
              <a:ext uri="{FF2B5EF4-FFF2-40B4-BE49-F238E27FC236}">
                <a16:creationId xmlns:a16="http://schemas.microsoft.com/office/drawing/2014/main" id="{46ACD723-D04B-6FB9-E544-F02974AC990C}"/>
              </a:ext>
            </a:extLst>
          </p:cNvPr>
          <p:cNvSpPr/>
          <p:nvPr/>
        </p:nvSpPr>
        <p:spPr>
          <a:xfrm>
            <a:off x="366362" y="4208640"/>
            <a:ext cx="4239928" cy="1392060"/>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6" name="TextBox 15">
            <a:extLst>
              <a:ext uri="{FF2B5EF4-FFF2-40B4-BE49-F238E27FC236}">
                <a16:creationId xmlns:a16="http://schemas.microsoft.com/office/drawing/2014/main" id="{4EBF4550-12C3-847B-96C2-39FC65D40F53}"/>
              </a:ext>
            </a:extLst>
          </p:cNvPr>
          <p:cNvSpPr txBox="1"/>
          <p:nvPr/>
        </p:nvSpPr>
        <p:spPr>
          <a:xfrm>
            <a:off x="588710" y="4460498"/>
            <a:ext cx="1925890" cy="369332"/>
          </a:xfrm>
          <a:prstGeom prst="rect">
            <a:avLst/>
          </a:prstGeom>
          <a:noFill/>
        </p:spPr>
        <p:txBody>
          <a:bodyPr wrap="square">
            <a:spAutoFit/>
          </a:bodyPr>
          <a:lstStyle/>
          <a:p>
            <a:pPr marL="285750" indent="-285750">
              <a:buFont typeface="Arial" panose="020B0604020202020204" pitchFamily="34" charset="0"/>
              <a:buChar char="•"/>
            </a:pPr>
            <a:r>
              <a:rPr lang="en-US" dirty="0"/>
              <a:t>Adam &gt; SGD </a:t>
            </a:r>
            <a:endParaRPr lang="en-MY" dirty="0"/>
          </a:p>
        </p:txBody>
      </p:sp>
      <p:pic>
        <p:nvPicPr>
          <p:cNvPr id="18" name="Picture 17">
            <a:extLst>
              <a:ext uri="{FF2B5EF4-FFF2-40B4-BE49-F238E27FC236}">
                <a16:creationId xmlns:a16="http://schemas.microsoft.com/office/drawing/2014/main" id="{D33A0582-A210-E203-B53F-363CDCF2C538}"/>
              </a:ext>
            </a:extLst>
          </p:cNvPr>
          <p:cNvPicPr>
            <a:picLocks noChangeAspect="1"/>
          </p:cNvPicPr>
          <p:nvPr/>
        </p:nvPicPr>
        <p:blipFill>
          <a:blip r:embed="rId6"/>
          <a:stretch>
            <a:fillRect/>
          </a:stretch>
        </p:blipFill>
        <p:spPr>
          <a:xfrm>
            <a:off x="5371333" y="760311"/>
            <a:ext cx="2704333" cy="2189759"/>
          </a:xfrm>
          <a:prstGeom prst="rect">
            <a:avLst/>
          </a:prstGeom>
        </p:spPr>
      </p:pic>
      <p:sp>
        <p:nvSpPr>
          <p:cNvPr id="20" name="TextBox 19">
            <a:extLst>
              <a:ext uri="{FF2B5EF4-FFF2-40B4-BE49-F238E27FC236}">
                <a16:creationId xmlns:a16="http://schemas.microsoft.com/office/drawing/2014/main" id="{030198C3-C464-FD98-BDB5-3F1ED49328E6}"/>
              </a:ext>
            </a:extLst>
          </p:cNvPr>
          <p:cNvSpPr txBox="1"/>
          <p:nvPr/>
        </p:nvSpPr>
        <p:spPr>
          <a:xfrm>
            <a:off x="5809660" y="2933297"/>
            <a:ext cx="2882633" cy="261610"/>
          </a:xfrm>
          <a:prstGeom prst="rect">
            <a:avLst/>
          </a:prstGeom>
          <a:noFill/>
        </p:spPr>
        <p:txBody>
          <a:bodyPr wrap="square">
            <a:spAutoFit/>
          </a:bodyPr>
          <a:lstStyle/>
          <a:p>
            <a:r>
              <a:rPr lang="en-MY" sz="1100" dirty="0"/>
              <a:t>Kumar G, “Optimizing Neural Networks”</a:t>
            </a:r>
          </a:p>
        </p:txBody>
      </p:sp>
    </p:spTree>
    <p:extLst>
      <p:ext uri="{BB962C8B-B14F-4D97-AF65-F5344CB8AC3E}">
        <p14:creationId xmlns:p14="http://schemas.microsoft.com/office/powerpoint/2010/main" val="1305860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1A3E2-50AA-8476-9091-9180D6895E98}"/>
              </a:ext>
            </a:extLst>
          </p:cNvPr>
          <p:cNvSpPr>
            <a:spLocks noGrp="1"/>
          </p:cNvSpPr>
          <p:nvPr>
            <p:ph type="title" idx="4294967295"/>
          </p:nvPr>
        </p:nvSpPr>
        <p:spPr>
          <a:xfrm>
            <a:off x="320434" y="-302532"/>
            <a:ext cx="10058400" cy="1449387"/>
          </a:xfrm>
        </p:spPr>
        <p:txBody>
          <a:bodyPr/>
          <a:lstStyle/>
          <a:p>
            <a:r>
              <a:rPr lang="en-MY" dirty="0"/>
              <a:t>Grid search</a:t>
            </a:r>
          </a:p>
        </p:txBody>
      </p:sp>
      <p:pic>
        <p:nvPicPr>
          <p:cNvPr id="5" name="Picture 4">
            <a:extLst>
              <a:ext uri="{FF2B5EF4-FFF2-40B4-BE49-F238E27FC236}">
                <a16:creationId xmlns:a16="http://schemas.microsoft.com/office/drawing/2014/main" id="{FAEE52A9-32B0-5E0A-8FB5-E7C267448690}"/>
              </a:ext>
            </a:extLst>
          </p:cNvPr>
          <p:cNvPicPr>
            <a:picLocks noChangeAspect="1"/>
          </p:cNvPicPr>
          <p:nvPr/>
        </p:nvPicPr>
        <p:blipFill>
          <a:blip r:embed="rId3"/>
          <a:stretch>
            <a:fillRect/>
          </a:stretch>
        </p:blipFill>
        <p:spPr>
          <a:xfrm>
            <a:off x="6842367" y="-129606"/>
            <a:ext cx="4877223" cy="2552921"/>
          </a:xfrm>
          <a:prstGeom prst="rect">
            <a:avLst/>
          </a:prstGeom>
        </p:spPr>
      </p:pic>
      <p:pic>
        <p:nvPicPr>
          <p:cNvPr id="7" name="Picture 6">
            <a:extLst>
              <a:ext uri="{FF2B5EF4-FFF2-40B4-BE49-F238E27FC236}">
                <a16:creationId xmlns:a16="http://schemas.microsoft.com/office/drawing/2014/main" id="{D3D6CCD4-0DB9-793C-9FA2-55767B708BD1}"/>
              </a:ext>
            </a:extLst>
          </p:cNvPr>
          <p:cNvPicPr>
            <a:picLocks noChangeAspect="1"/>
          </p:cNvPicPr>
          <p:nvPr/>
        </p:nvPicPr>
        <p:blipFill>
          <a:blip r:embed="rId4"/>
          <a:stretch>
            <a:fillRect/>
          </a:stretch>
        </p:blipFill>
        <p:spPr>
          <a:xfrm>
            <a:off x="7070987" y="2163014"/>
            <a:ext cx="4808637" cy="2629128"/>
          </a:xfrm>
          <a:prstGeom prst="rect">
            <a:avLst/>
          </a:prstGeom>
        </p:spPr>
      </p:pic>
      <p:pic>
        <p:nvPicPr>
          <p:cNvPr id="9" name="Picture 8">
            <a:extLst>
              <a:ext uri="{FF2B5EF4-FFF2-40B4-BE49-F238E27FC236}">
                <a16:creationId xmlns:a16="http://schemas.microsoft.com/office/drawing/2014/main" id="{7791B0DF-763F-735E-61EC-0700B6D68369}"/>
              </a:ext>
            </a:extLst>
          </p:cNvPr>
          <p:cNvPicPr>
            <a:picLocks noChangeAspect="1"/>
          </p:cNvPicPr>
          <p:nvPr/>
        </p:nvPicPr>
        <p:blipFill>
          <a:blip r:embed="rId5"/>
          <a:stretch>
            <a:fillRect/>
          </a:stretch>
        </p:blipFill>
        <p:spPr>
          <a:xfrm>
            <a:off x="7070987" y="4106942"/>
            <a:ext cx="5037257" cy="2751058"/>
          </a:xfrm>
          <a:prstGeom prst="rect">
            <a:avLst/>
          </a:prstGeom>
        </p:spPr>
      </p:pic>
      <p:sp>
        <p:nvSpPr>
          <p:cNvPr id="4" name="TextBox 3">
            <a:extLst>
              <a:ext uri="{FF2B5EF4-FFF2-40B4-BE49-F238E27FC236}">
                <a16:creationId xmlns:a16="http://schemas.microsoft.com/office/drawing/2014/main" id="{0C0794B5-C25F-6C7A-B818-2C1882FC0114}"/>
              </a:ext>
            </a:extLst>
          </p:cNvPr>
          <p:cNvSpPr txBox="1"/>
          <p:nvPr/>
        </p:nvSpPr>
        <p:spPr>
          <a:xfrm>
            <a:off x="692578" y="2226455"/>
            <a:ext cx="4428436" cy="1754326"/>
          </a:xfrm>
          <a:prstGeom prst="rect">
            <a:avLst/>
          </a:prstGeom>
          <a:noFill/>
        </p:spPr>
        <p:txBody>
          <a:bodyPr wrap="square">
            <a:spAutoFit/>
          </a:bodyPr>
          <a:lstStyle/>
          <a:p>
            <a:r>
              <a:rPr lang="en-MY" dirty="0"/>
              <a:t>Changing hyperparameters:</a:t>
            </a:r>
          </a:p>
          <a:p>
            <a:pPr marL="285750" indent="-285750">
              <a:buFont typeface="Arial" panose="020B0604020202020204" pitchFamily="34" charset="0"/>
              <a:buChar char="•"/>
            </a:pPr>
            <a:r>
              <a:rPr lang="en-MY" dirty="0"/>
              <a:t>Hidden layers </a:t>
            </a:r>
            <a:r>
              <a:rPr lang="en-MY" dirty="0">
                <a:sym typeface="Wingdings" panose="05000000000000000000" pitchFamily="2" charset="2"/>
              </a:rPr>
              <a:t></a:t>
            </a:r>
            <a:r>
              <a:rPr lang="en-MY" dirty="0"/>
              <a:t>[ 0, 1, 2 ]</a:t>
            </a:r>
          </a:p>
          <a:p>
            <a:pPr marL="285750" indent="-285750">
              <a:buFont typeface="Arial" panose="020B0604020202020204" pitchFamily="34" charset="0"/>
              <a:buChar char="•"/>
            </a:pPr>
            <a:endParaRPr lang="en-MY" dirty="0"/>
          </a:p>
          <a:p>
            <a:pPr marL="285750" indent="-285750">
              <a:buFont typeface="Arial" panose="020B0604020202020204" pitchFamily="34" charset="0"/>
              <a:buChar char="•"/>
            </a:pPr>
            <a:r>
              <a:rPr lang="en-MY" dirty="0"/>
              <a:t>Neurons  </a:t>
            </a:r>
            <a:r>
              <a:rPr lang="en-MY" dirty="0">
                <a:sym typeface="Wingdings" panose="05000000000000000000" pitchFamily="2" charset="2"/>
              </a:rPr>
              <a:t> [32, 64, 128, 256]</a:t>
            </a:r>
          </a:p>
          <a:p>
            <a:pPr marL="285750" indent="-285750">
              <a:buFont typeface="Arial" panose="020B0604020202020204" pitchFamily="34" charset="0"/>
              <a:buChar char="•"/>
            </a:pPr>
            <a:endParaRPr lang="en-MY" dirty="0"/>
          </a:p>
          <a:p>
            <a:pPr marL="285750" indent="-285750">
              <a:buFont typeface="Arial" panose="020B0604020202020204" pitchFamily="34" charset="0"/>
              <a:buChar char="•"/>
            </a:pPr>
            <a:r>
              <a:rPr lang="en-MY" dirty="0"/>
              <a:t>Optimizer </a:t>
            </a:r>
            <a:r>
              <a:rPr lang="en-MY" dirty="0">
                <a:sym typeface="Wingdings" panose="05000000000000000000" pitchFamily="2" charset="2"/>
              </a:rPr>
              <a:t> [ </a:t>
            </a:r>
            <a:r>
              <a:rPr lang="en-MY" dirty="0" err="1">
                <a:sym typeface="Wingdings" panose="05000000000000000000" pitchFamily="2" charset="2"/>
              </a:rPr>
              <a:t>adam</a:t>
            </a:r>
            <a:r>
              <a:rPr lang="en-MY" dirty="0">
                <a:sym typeface="Wingdings" panose="05000000000000000000" pitchFamily="2" charset="2"/>
              </a:rPr>
              <a:t>, </a:t>
            </a:r>
            <a:r>
              <a:rPr lang="en-MY" dirty="0" err="1">
                <a:sym typeface="Wingdings" panose="05000000000000000000" pitchFamily="2" charset="2"/>
              </a:rPr>
              <a:t>sgd</a:t>
            </a:r>
            <a:r>
              <a:rPr lang="en-MY" dirty="0">
                <a:sym typeface="Wingdings" panose="05000000000000000000" pitchFamily="2" charset="2"/>
              </a:rPr>
              <a:t> ]</a:t>
            </a:r>
            <a:endParaRPr lang="en-MY" dirty="0"/>
          </a:p>
        </p:txBody>
      </p:sp>
      <p:sp>
        <p:nvSpPr>
          <p:cNvPr id="3" name="TextBox 2">
            <a:extLst>
              <a:ext uri="{FF2B5EF4-FFF2-40B4-BE49-F238E27FC236}">
                <a16:creationId xmlns:a16="http://schemas.microsoft.com/office/drawing/2014/main" id="{1100B2A5-E470-2AE6-E39F-04374767E374}"/>
              </a:ext>
            </a:extLst>
          </p:cNvPr>
          <p:cNvSpPr txBox="1"/>
          <p:nvPr/>
        </p:nvSpPr>
        <p:spPr>
          <a:xfrm>
            <a:off x="727843" y="1270843"/>
            <a:ext cx="3378002" cy="790473"/>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kern="100" dirty="0">
                <a:ea typeface="DengXian" panose="02010600030101010101" pitchFamily="2" charset="-122"/>
              </a:rPr>
              <a:t>H</a:t>
            </a:r>
            <a:r>
              <a:rPr lang="en-MY" kern="100" baseline="-25000" dirty="0">
                <a:ea typeface="DengXian" panose="02010600030101010101" pitchFamily="2" charset="-122"/>
              </a:rPr>
              <a:t>2</a:t>
            </a:r>
            <a:r>
              <a:rPr lang="en-MY" kern="100" dirty="0">
                <a:ea typeface="DengXian" panose="02010600030101010101" pitchFamily="2" charset="-122"/>
              </a:rPr>
              <a:t>O</a:t>
            </a:r>
          </a:p>
          <a:p>
            <a:r>
              <a:rPr lang="en-MY" dirty="0"/>
              <a:t>STO-3G 10000 time steps</a:t>
            </a:r>
          </a:p>
        </p:txBody>
      </p:sp>
      <p:sp>
        <p:nvSpPr>
          <p:cNvPr id="8" name="Rectangle 7">
            <a:extLst>
              <a:ext uri="{FF2B5EF4-FFF2-40B4-BE49-F238E27FC236}">
                <a16:creationId xmlns:a16="http://schemas.microsoft.com/office/drawing/2014/main" id="{29F581D3-0EE0-0F53-447D-075074E466CD}"/>
              </a:ext>
            </a:extLst>
          </p:cNvPr>
          <p:cNvSpPr/>
          <p:nvPr/>
        </p:nvSpPr>
        <p:spPr>
          <a:xfrm>
            <a:off x="738506" y="4106942"/>
            <a:ext cx="3367339" cy="1963560"/>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1" name="TextBox 10">
            <a:extLst>
              <a:ext uri="{FF2B5EF4-FFF2-40B4-BE49-F238E27FC236}">
                <a16:creationId xmlns:a16="http://schemas.microsoft.com/office/drawing/2014/main" id="{D9E3891E-735C-930E-7884-F918A2DA4AC2}"/>
              </a:ext>
            </a:extLst>
          </p:cNvPr>
          <p:cNvSpPr txBox="1"/>
          <p:nvPr/>
        </p:nvSpPr>
        <p:spPr>
          <a:xfrm>
            <a:off x="837917" y="4252532"/>
            <a:ext cx="3146107" cy="1754326"/>
          </a:xfrm>
          <a:prstGeom prst="rect">
            <a:avLst/>
          </a:prstGeom>
          <a:noFill/>
        </p:spPr>
        <p:txBody>
          <a:bodyPr wrap="square">
            <a:spAutoFit/>
          </a:bodyPr>
          <a:lstStyle/>
          <a:p>
            <a:pPr marL="285750" indent="-285750" algn="just">
              <a:buFont typeface="Arial" panose="020B0604020202020204" pitchFamily="34" charset="0"/>
              <a:buChar char="•"/>
            </a:pPr>
            <a:r>
              <a:rPr lang="en-MY" dirty="0"/>
              <a:t>Good implementation even without grid search (understanding data)</a:t>
            </a:r>
          </a:p>
          <a:p>
            <a:pPr marL="285750" indent="-285750" algn="just">
              <a:buFont typeface="Arial" panose="020B0604020202020204" pitchFamily="34" charset="0"/>
              <a:buChar char="•"/>
            </a:pPr>
            <a:r>
              <a:rPr lang="en-MY" dirty="0"/>
              <a:t>Time consuming</a:t>
            </a:r>
          </a:p>
          <a:p>
            <a:pPr marL="285750" indent="-285750" algn="just">
              <a:buFont typeface="Arial" panose="020B0604020202020204" pitchFamily="34" charset="0"/>
              <a:buChar char="•"/>
            </a:pPr>
            <a:r>
              <a:rPr lang="en-MY" dirty="0"/>
              <a:t>Suitable for many hyperparameter values</a:t>
            </a:r>
          </a:p>
        </p:txBody>
      </p:sp>
    </p:spTree>
    <p:extLst>
      <p:ext uri="{BB962C8B-B14F-4D97-AF65-F5344CB8AC3E}">
        <p14:creationId xmlns:p14="http://schemas.microsoft.com/office/powerpoint/2010/main" val="3482531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E9F42-EF62-7B85-F2F5-37448456C4DE}"/>
              </a:ext>
            </a:extLst>
          </p:cNvPr>
          <p:cNvSpPr>
            <a:spLocks noGrp="1"/>
          </p:cNvSpPr>
          <p:nvPr>
            <p:ph type="title" idx="4294967295"/>
          </p:nvPr>
        </p:nvSpPr>
        <p:spPr>
          <a:xfrm>
            <a:off x="249814" y="115910"/>
            <a:ext cx="9308584" cy="835203"/>
          </a:xfrm>
        </p:spPr>
        <p:txBody>
          <a:bodyPr/>
          <a:lstStyle/>
          <a:p>
            <a:r>
              <a:rPr lang="en-MY" dirty="0"/>
              <a:t>Removing zeros neural network</a:t>
            </a:r>
          </a:p>
        </p:txBody>
      </p:sp>
      <p:pic>
        <p:nvPicPr>
          <p:cNvPr id="6" name="Picture 5" descr="A graph with a line and a blue line&#10;&#10;AI-generated content may be incorrect.">
            <a:extLst>
              <a:ext uri="{FF2B5EF4-FFF2-40B4-BE49-F238E27FC236}">
                <a16:creationId xmlns:a16="http://schemas.microsoft.com/office/drawing/2014/main" id="{6C7EDFB0-02F4-274D-5383-F994898B3D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2601" y="3504096"/>
            <a:ext cx="2882764" cy="2547423"/>
          </a:xfrm>
          <a:prstGeom prst="rect">
            <a:avLst/>
          </a:prstGeom>
        </p:spPr>
      </p:pic>
      <p:pic>
        <p:nvPicPr>
          <p:cNvPr id="10" name="Picture 9" descr="A graph with a line and a line&#10;&#10;AI-generated content may be incorrect.">
            <a:extLst>
              <a:ext uri="{FF2B5EF4-FFF2-40B4-BE49-F238E27FC236}">
                <a16:creationId xmlns:a16="http://schemas.microsoft.com/office/drawing/2014/main" id="{DCC3377C-5DA9-C96D-94A5-6C23923B4C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57468" y="692808"/>
            <a:ext cx="3006311" cy="2547422"/>
          </a:xfrm>
          <a:prstGeom prst="rect">
            <a:avLst/>
          </a:prstGeom>
        </p:spPr>
      </p:pic>
      <p:pic>
        <p:nvPicPr>
          <p:cNvPr id="13" name="Picture 12" descr="A graph with blue and orange lines&#10;&#10;AI-generated content may be incorrect.">
            <a:extLst>
              <a:ext uri="{FF2B5EF4-FFF2-40B4-BE49-F238E27FC236}">
                <a16:creationId xmlns:a16="http://schemas.microsoft.com/office/drawing/2014/main" id="{DE59445E-A2E6-FE69-377E-5B307FA47D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05435" y="3553556"/>
            <a:ext cx="2959884" cy="2664511"/>
          </a:xfrm>
          <a:prstGeom prst="rect">
            <a:avLst/>
          </a:prstGeom>
        </p:spPr>
      </p:pic>
      <p:sp>
        <p:nvSpPr>
          <p:cNvPr id="3" name="TextBox 2">
            <a:extLst>
              <a:ext uri="{FF2B5EF4-FFF2-40B4-BE49-F238E27FC236}">
                <a16:creationId xmlns:a16="http://schemas.microsoft.com/office/drawing/2014/main" id="{2221140C-F546-D5ED-387D-C83012D36666}"/>
              </a:ext>
            </a:extLst>
          </p:cNvPr>
          <p:cNvSpPr txBox="1"/>
          <p:nvPr/>
        </p:nvSpPr>
        <p:spPr>
          <a:xfrm>
            <a:off x="448762" y="1158565"/>
            <a:ext cx="3378002" cy="1067472"/>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kern="100" dirty="0">
                <a:ea typeface="DengXian" panose="02010600030101010101" pitchFamily="2" charset="-122"/>
              </a:rPr>
              <a:t>H</a:t>
            </a:r>
            <a:r>
              <a:rPr lang="en-MY" kern="100" baseline="-25000" dirty="0">
                <a:ea typeface="DengXian" panose="02010600030101010101" pitchFamily="2" charset="-122"/>
              </a:rPr>
              <a:t>2</a:t>
            </a:r>
            <a:r>
              <a:rPr lang="en-MY" kern="100" dirty="0">
                <a:ea typeface="DengXian" panose="02010600030101010101" pitchFamily="2" charset="-122"/>
              </a:rPr>
              <a:t>O</a:t>
            </a:r>
          </a:p>
          <a:p>
            <a:r>
              <a:rPr lang="en-MY" dirty="0"/>
              <a:t>STO-3G 10000 time steps</a:t>
            </a:r>
          </a:p>
          <a:p>
            <a:r>
              <a:rPr lang="en-MY" dirty="0"/>
              <a:t>1 layer, neuron, </a:t>
            </a:r>
            <a:r>
              <a:rPr lang="en-MY" dirty="0" err="1"/>
              <a:t>adam</a:t>
            </a:r>
            <a:endParaRPr lang="en-MY" dirty="0"/>
          </a:p>
        </p:txBody>
      </p:sp>
      <p:sp>
        <p:nvSpPr>
          <p:cNvPr id="4" name="TextBox 3">
            <a:extLst>
              <a:ext uri="{FF2B5EF4-FFF2-40B4-BE49-F238E27FC236}">
                <a16:creationId xmlns:a16="http://schemas.microsoft.com/office/drawing/2014/main" id="{F7558BCD-C255-95A8-78A1-F4005B5ABEEF}"/>
              </a:ext>
            </a:extLst>
          </p:cNvPr>
          <p:cNvSpPr txBox="1"/>
          <p:nvPr/>
        </p:nvSpPr>
        <p:spPr>
          <a:xfrm>
            <a:off x="11137015" y="446364"/>
            <a:ext cx="558549" cy="369332"/>
          </a:xfrm>
          <a:prstGeom prst="rect">
            <a:avLst/>
          </a:prstGeom>
          <a:solidFill>
            <a:schemeClr val="accent2">
              <a:lumMod val="20000"/>
              <a:lumOff val="80000"/>
            </a:schemeClr>
          </a:solidFill>
        </p:spPr>
        <p:txBody>
          <a:bodyPr wrap="square" rtlCol="0">
            <a:spAutoFit/>
          </a:bodyPr>
          <a:lstStyle/>
          <a:p>
            <a:r>
              <a:rPr lang="en-MY" dirty="0"/>
              <a:t>R</a:t>
            </a:r>
            <a:r>
              <a:rPr lang="en-MY" baseline="30000" dirty="0"/>
              <a:t>2</a:t>
            </a:r>
            <a:endParaRPr lang="en-MY" dirty="0"/>
          </a:p>
        </p:txBody>
      </p:sp>
      <p:sp>
        <p:nvSpPr>
          <p:cNvPr id="5" name="TextBox 4">
            <a:extLst>
              <a:ext uri="{FF2B5EF4-FFF2-40B4-BE49-F238E27FC236}">
                <a16:creationId xmlns:a16="http://schemas.microsoft.com/office/drawing/2014/main" id="{D770EF54-41E8-1B65-3D8B-69730EFDD668}"/>
              </a:ext>
            </a:extLst>
          </p:cNvPr>
          <p:cNvSpPr txBox="1"/>
          <p:nvPr/>
        </p:nvSpPr>
        <p:spPr>
          <a:xfrm>
            <a:off x="10982410" y="3344672"/>
            <a:ext cx="910040" cy="369332"/>
          </a:xfrm>
          <a:prstGeom prst="rect">
            <a:avLst/>
          </a:prstGeom>
          <a:solidFill>
            <a:schemeClr val="accent2">
              <a:lumMod val="20000"/>
              <a:lumOff val="80000"/>
            </a:schemeClr>
          </a:solidFill>
        </p:spPr>
        <p:txBody>
          <a:bodyPr wrap="square" rtlCol="0">
            <a:spAutoFit/>
          </a:bodyPr>
          <a:lstStyle/>
          <a:p>
            <a:r>
              <a:rPr lang="en-MY" dirty="0"/>
              <a:t>RMSE</a:t>
            </a:r>
          </a:p>
        </p:txBody>
      </p:sp>
      <p:sp>
        <p:nvSpPr>
          <p:cNvPr id="7" name="TextBox 6">
            <a:extLst>
              <a:ext uri="{FF2B5EF4-FFF2-40B4-BE49-F238E27FC236}">
                <a16:creationId xmlns:a16="http://schemas.microsoft.com/office/drawing/2014/main" id="{930B6644-748B-3BFB-F888-BEEF23824643}"/>
              </a:ext>
            </a:extLst>
          </p:cNvPr>
          <p:cNvSpPr txBox="1"/>
          <p:nvPr/>
        </p:nvSpPr>
        <p:spPr>
          <a:xfrm>
            <a:off x="7247969" y="3295245"/>
            <a:ext cx="910040" cy="369332"/>
          </a:xfrm>
          <a:prstGeom prst="rect">
            <a:avLst/>
          </a:prstGeom>
          <a:solidFill>
            <a:schemeClr val="accent2">
              <a:lumMod val="20000"/>
              <a:lumOff val="80000"/>
            </a:schemeClr>
          </a:solidFill>
        </p:spPr>
        <p:txBody>
          <a:bodyPr wrap="square" rtlCol="0">
            <a:spAutoFit/>
          </a:bodyPr>
          <a:lstStyle/>
          <a:p>
            <a:r>
              <a:rPr lang="en-MY" dirty="0"/>
              <a:t>MAPE</a:t>
            </a:r>
          </a:p>
        </p:txBody>
      </p:sp>
      <p:sp>
        <p:nvSpPr>
          <p:cNvPr id="8" name="TextBox 7">
            <a:extLst>
              <a:ext uri="{FF2B5EF4-FFF2-40B4-BE49-F238E27FC236}">
                <a16:creationId xmlns:a16="http://schemas.microsoft.com/office/drawing/2014/main" id="{158708DB-8C75-42B2-E2CA-9F67C191E870}"/>
              </a:ext>
            </a:extLst>
          </p:cNvPr>
          <p:cNvSpPr txBox="1"/>
          <p:nvPr/>
        </p:nvSpPr>
        <p:spPr>
          <a:xfrm>
            <a:off x="5767621" y="4523692"/>
            <a:ext cx="910040" cy="369332"/>
          </a:xfrm>
          <a:prstGeom prst="rect">
            <a:avLst/>
          </a:prstGeom>
          <a:solidFill>
            <a:schemeClr val="accent2">
              <a:lumMod val="20000"/>
              <a:lumOff val="80000"/>
            </a:schemeClr>
          </a:solidFill>
        </p:spPr>
        <p:txBody>
          <a:bodyPr wrap="square" rtlCol="0">
            <a:spAutoFit/>
          </a:bodyPr>
          <a:lstStyle/>
          <a:p>
            <a:r>
              <a:rPr lang="en-MY" dirty="0"/>
              <a:t>Before</a:t>
            </a:r>
          </a:p>
        </p:txBody>
      </p:sp>
      <p:sp>
        <p:nvSpPr>
          <p:cNvPr id="9" name="TextBox 8">
            <a:extLst>
              <a:ext uri="{FF2B5EF4-FFF2-40B4-BE49-F238E27FC236}">
                <a16:creationId xmlns:a16="http://schemas.microsoft.com/office/drawing/2014/main" id="{04FC7433-334A-C989-8DC6-6E8C8212666C}"/>
              </a:ext>
            </a:extLst>
          </p:cNvPr>
          <p:cNvSpPr txBox="1"/>
          <p:nvPr/>
        </p:nvSpPr>
        <p:spPr>
          <a:xfrm>
            <a:off x="5843943" y="5126727"/>
            <a:ext cx="833718" cy="369332"/>
          </a:xfrm>
          <a:prstGeom prst="rect">
            <a:avLst/>
          </a:prstGeom>
          <a:solidFill>
            <a:schemeClr val="accent2">
              <a:lumMod val="20000"/>
              <a:lumOff val="80000"/>
            </a:schemeClr>
          </a:solidFill>
        </p:spPr>
        <p:txBody>
          <a:bodyPr wrap="square" rtlCol="0">
            <a:spAutoFit/>
          </a:bodyPr>
          <a:lstStyle/>
          <a:p>
            <a:r>
              <a:rPr lang="en-MY" dirty="0"/>
              <a:t>After</a:t>
            </a:r>
          </a:p>
        </p:txBody>
      </p:sp>
      <p:sp>
        <p:nvSpPr>
          <p:cNvPr id="11" name="TextBox 10">
            <a:extLst>
              <a:ext uri="{FF2B5EF4-FFF2-40B4-BE49-F238E27FC236}">
                <a16:creationId xmlns:a16="http://schemas.microsoft.com/office/drawing/2014/main" id="{CBE53425-173C-03C5-37F4-053A4B71C24D}"/>
              </a:ext>
            </a:extLst>
          </p:cNvPr>
          <p:cNvSpPr txBox="1"/>
          <p:nvPr/>
        </p:nvSpPr>
        <p:spPr>
          <a:xfrm>
            <a:off x="10961270" y="4383024"/>
            <a:ext cx="910040" cy="369332"/>
          </a:xfrm>
          <a:prstGeom prst="rect">
            <a:avLst/>
          </a:prstGeom>
          <a:solidFill>
            <a:schemeClr val="accent2">
              <a:lumMod val="20000"/>
              <a:lumOff val="80000"/>
            </a:schemeClr>
          </a:solidFill>
        </p:spPr>
        <p:txBody>
          <a:bodyPr wrap="square" rtlCol="0">
            <a:spAutoFit/>
          </a:bodyPr>
          <a:lstStyle/>
          <a:p>
            <a:r>
              <a:rPr lang="en-MY" dirty="0"/>
              <a:t>Before</a:t>
            </a:r>
          </a:p>
        </p:txBody>
      </p:sp>
      <p:sp>
        <p:nvSpPr>
          <p:cNvPr id="12" name="TextBox 11">
            <a:extLst>
              <a:ext uri="{FF2B5EF4-FFF2-40B4-BE49-F238E27FC236}">
                <a16:creationId xmlns:a16="http://schemas.microsoft.com/office/drawing/2014/main" id="{4920E23A-1542-CC58-58D5-C7BA5C6F1290}"/>
              </a:ext>
            </a:extLst>
          </p:cNvPr>
          <p:cNvSpPr txBox="1"/>
          <p:nvPr/>
        </p:nvSpPr>
        <p:spPr>
          <a:xfrm>
            <a:off x="11068324" y="5496059"/>
            <a:ext cx="910040" cy="369332"/>
          </a:xfrm>
          <a:prstGeom prst="rect">
            <a:avLst/>
          </a:prstGeom>
          <a:solidFill>
            <a:schemeClr val="accent2">
              <a:lumMod val="20000"/>
              <a:lumOff val="80000"/>
            </a:schemeClr>
          </a:solidFill>
        </p:spPr>
        <p:txBody>
          <a:bodyPr wrap="square" rtlCol="0">
            <a:spAutoFit/>
          </a:bodyPr>
          <a:lstStyle/>
          <a:p>
            <a:r>
              <a:rPr lang="en-MY" dirty="0"/>
              <a:t>After</a:t>
            </a:r>
          </a:p>
        </p:txBody>
      </p:sp>
      <p:sp>
        <p:nvSpPr>
          <p:cNvPr id="14" name="TextBox 13">
            <a:extLst>
              <a:ext uri="{FF2B5EF4-FFF2-40B4-BE49-F238E27FC236}">
                <a16:creationId xmlns:a16="http://schemas.microsoft.com/office/drawing/2014/main" id="{91C9B8D3-D4D8-F287-E013-0A96A0763E90}"/>
              </a:ext>
            </a:extLst>
          </p:cNvPr>
          <p:cNvSpPr txBox="1"/>
          <p:nvPr/>
        </p:nvSpPr>
        <p:spPr>
          <a:xfrm>
            <a:off x="9675337" y="1072797"/>
            <a:ext cx="910040" cy="369332"/>
          </a:xfrm>
          <a:prstGeom prst="rect">
            <a:avLst/>
          </a:prstGeom>
          <a:solidFill>
            <a:schemeClr val="accent2">
              <a:lumMod val="20000"/>
              <a:lumOff val="80000"/>
            </a:schemeClr>
          </a:solidFill>
        </p:spPr>
        <p:txBody>
          <a:bodyPr wrap="square" rtlCol="0">
            <a:spAutoFit/>
          </a:bodyPr>
          <a:lstStyle/>
          <a:p>
            <a:r>
              <a:rPr lang="en-MY" dirty="0"/>
              <a:t>After</a:t>
            </a:r>
          </a:p>
        </p:txBody>
      </p:sp>
      <p:sp>
        <p:nvSpPr>
          <p:cNvPr id="15" name="TextBox 14">
            <a:extLst>
              <a:ext uri="{FF2B5EF4-FFF2-40B4-BE49-F238E27FC236}">
                <a16:creationId xmlns:a16="http://schemas.microsoft.com/office/drawing/2014/main" id="{5D00617F-BC6E-3935-79C5-00A15175D71F}"/>
              </a:ext>
            </a:extLst>
          </p:cNvPr>
          <p:cNvSpPr txBox="1"/>
          <p:nvPr/>
        </p:nvSpPr>
        <p:spPr>
          <a:xfrm>
            <a:off x="9805604" y="1915244"/>
            <a:ext cx="910040" cy="369332"/>
          </a:xfrm>
          <a:prstGeom prst="rect">
            <a:avLst/>
          </a:prstGeom>
          <a:solidFill>
            <a:schemeClr val="accent2">
              <a:lumMod val="20000"/>
              <a:lumOff val="80000"/>
            </a:schemeClr>
          </a:solidFill>
        </p:spPr>
        <p:txBody>
          <a:bodyPr wrap="square" rtlCol="0">
            <a:spAutoFit/>
          </a:bodyPr>
          <a:lstStyle/>
          <a:p>
            <a:r>
              <a:rPr lang="en-MY" dirty="0"/>
              <a:t>Before</a:t>
            </a:r>
          </a:p>
        </p:txBody>
      </p:sp>
      <p:sp>
        <p:nvSpPr>
          <p:cNvPr id="16" name="Rectangle 15">
            <a:extLst>
              <a:ext uri="{FF2B5EF4-FFF2-40B4-BE49-F238E27FC236}">
                <a16:creationId xmlns:a16="http://schemas.microsoft.com/office/drawing/2014/main" id="{5EC027B2-0BB5-DD26-1825-7EA32AD0097F}"/>
              </a:ext>
            </a:extLst>
          </p:cNvPr>
          <p:cNvSpPr/>
          <p:nvPr/>
        </p:nvSpPr>
        <p:spPr>
          <a:xfrm>
            <a:off x="366362" y="3507689"/>
            <a:ext cx="3367339" cy="2664511"/>
          </a:xfrm>
          <a:prstGeom prst="rect">
            <a:avLst/>
          </a:prstGeom>
          <a:solidFill>
            <a:schemeClr val="accent1">
              <a:lumMod val="40000"/>
              <a:lumOff val="6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7" name="TextBox 16">
            <a:extLst>
              <a:ext uri="{FF2B5EF4-FFF2-40B4-BE49-F238E27FC236}">
                <a16:creationId xmlns:a16="http://schemas.microsoft.com/office/drawing/2014/main" id="{98F925C0-5043-2009-913E-551D71BEDDE7}"/>
              </a:ext>
            </a:extLst>
          </p:cNvPr>
          <p:cNvSpPr txBox="1"/>
          <p:nvPr/>
        </p:nvSpPr>
        <p:spPr>
          <a:xfrm>
            <a:off x="564709" y="3757566"/>
            <a:ext cx="3146107" cy="646331"/>
          </a:xfrm>
          <a:prstGeom prst="rect">
            <a:avLst/>
          </a:prstGeom>
          <a:noFill/>
        </p:spPr>
        <p:txBody>
          <a:bodyPr wrap="square">
            <a:spAutoFit/>
          </a:bodyPr>
          <a:lstStyle/>
          <a:p>
            <a:pPr marL="285750" indent="-285750" algn="just">
              <a:buFont typeface="Arial" panose="020B0604020202020204" pitchFamily="34" charset="0"/>
              <a:buChar char="•"/>
            </a:pPr>
            <a:r>
              <a:rPr lang="en-MY" dirty="0"/>
              <a:t>Improve accuracy when removed zeros</a:t>
            </a:r>
          </a:p>
        </p:txBody>
      </p:sp>
      <p:sp>
        <p:nvSpPr>
          <p:cNvPr id="19" name="TextBox 18">
            <a:extLst>
              <a:ext uri="{FF2B5EF4-FFF2-40B4-BE49-F238E27FC236}">
                <a16:creationId xmlns:a16="http://schemas.microsoft.com/office/drawing/2014/main" id="{8BFB0B2B-F770-3A9C-9A7B-1C7D0560C39F}"/>
              </a:ext>
            </a:extLst>
          </p:cNvPr>
          <p:cNvSpPr txBox="1"/>
          <p:nvPr/>
        </p:nvSpPr>
        <p:spPr>
          <a:xfrm>
            <a:off x="407561" y="2330085"/>
            <a:ext cx="3460402" cy="1200329"/>
          </a:xfrm>
          <a:prstGeom prst="rect">
            <a:avLst/>
          </a:prstGeom>
          <a:noFill/>
        </p:spPr>
        <p:txBody>
          <a:bodyPr wrap="square">
            <a:spAutoFit/>
          </a:bodyPr>
          <a:lstStyle/>
          <a:p>
            <a:pPr marL="285750" indent="-285750" algn="just">
              <a:buFont typeface="Arial" panose="020B0604020202020204" pitchFamily="34" charset="0"/>
              <a:buChar char="•"/>
            </a:pPr>
            <a:r>
              <a:rPr lang="en-MY" dirty="0"/>
              <a:t>Same procedure as linear regression method</a:t>
            </a:r>
          </a:p>
          <a:p>
            <a:pPr marL="285750" indent="-285750" algn="just">
              <a:buFont typeface="Arial" panose="020B0604020202020204" pitchFamily="34" charset="0"/>
              <a:buChar char="•"/>
            </a:pPr>
            <a:r>
              <a:rPr lang="en-MY" strike="sngStrike" dirty="0"/>
              <a:t>Values &lt; 1 × 10</a:t>
            </a:r>
            <a:r>
              <a:rPr lang="en-MY" strike="sngStrike" baseline="30000" dirty="0"/>
              <a:t>−13</a:t>
            </a:r>
          </a:p>
          <a:p>
            <a:pPr marL="285750" indent="-285750" algn="just">
              <a:buFont typeface="Arial" panose="020B0604020202020204" pitchFamily="34" charset="0"/>
              <a:buChar char="•"/>
            </a:pPr>
            <a:endParaRPr lang="en-MY" dirty="0"/>
          </a:p>
        </p:txBody>
      </p:sp>
    </p:spTree>
    <p:extLst>
      <p:ext uri="{BB962C8B-B14F-4D97-AF65-F5344CB8AC3E}">
        <p14:creationId xmlns:p14="http://schemas.microsoft.com/office/powerpoint/2010/main" val="24863770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33491-D5D3-F0C4-F4D2-A936F67C1BD2}"/>
              </a:ext>
            </a:extLst>
          </p:cNvPr>
          <p:cNvSpPr>
            <a:spLocks noGrp="1"/>
          </p:cNvSpPr>
          <p:nvPr>
            <p:ph type="title" idx="4294967295"/>
          </p:nvPr>
        </p:nvSpPr>
        <p:spPr>
          <a:xfrm>
            <a:off x="179555" y="-590251"/>
            <a:ext cx="10058400" cy="1449387"/>
          </a:xfrm>
        </p:spPr>
        <p:txBody>
          <a:bodyPr/>
          <a:lstStyle/>
          <a:p>
            <a:r>
              <a:rPr lang="en-MY" dirty="0"/>
              <a:t>Comparing result linear and NN</a:t>
            </a:r>
          </a:p>
        </p:txBody>
      </p:sp>
      <p:pic>
        <p:nvPicPr>
          <p:cNvPr id="5" name="Picture 4">
            <a:extLst>
              <a:ext uri="{FF2B5EF4-FFF2-40B4-BE49-F238E27FC236}">
                <a16:creationId xmlns:a16="http://schemas.microsoft.com/office/drawing/2014/main" id="{017AF76E-391A-FB38-055F-F66C18B1B617}"/>
              </a:ext>
            </a:extLst>
          </p:cNvPr>
          <p:cNvPicPr>
            <a:picLocks noChangeAspect="1"/>
          </p:cNvPicPr>
          <p:nvPr/>
        </p:nvPicPr>
        <p:blipFill>
          <a:blip r:embed="rId3"/>
          <a:stretch>
            <a:fillRect/>
          </a:stretch>
        </p:blipFill>
        <p:spPr>
          <a:xfrm>
            <a:off x="265044" y="859136"/>
            <a:ext cx="6132554" cy="5243778"/>
          </a:xfrm>
          <a:prstGeom prst="rect">
            <a:avLst/>
          </a:prstGeom>
        </p:spPr>
      </p:pic>
      <p:pic>
        <p:nvPicPr>
          <p:cNvPr id="7" name="Picture 6">
            <a:extLst>
              <a:ext uri="{FF2B5EF4-FFF2-40B4-BE49-F238E27FC236}">
                <a16:creationId xmlns:a16="http://schemas.microsoft.com/office/drawing/2014/main" id="{130E99D1-38E4-84B8-9F33-992BDA09B307}"/>
              </a:ext>
            </a:extLst>
          </p:cNvPr>
          <p:cNvPicPr>
            <a:picLocks noChangeAspect="1"/>
          </p:cNvPicPr>
          <p:nvPr/>
        </p:nvPicPr>
        <p:blipFill>
          <a:blip r:embed="rId4"/>
          <a:stretch>
            <a:fillRect/>
          </a:stretch>
        </p:blipFill>
        <p:spPr>
          <a:xfrm>
            <a:off x="6478761" y="807110"/>
            <a:ext cx="5713239" cy="5243779"/>
          </a:xfrm>
          <a:prstGeom prst="rect">
            <a:avLst/>
          </a:prstGeom>
        </p:spPr>
      </p:pic>
      <p:pic>
        <p:nvPicPr>
          <p:cNvPr id="9" name="Picture 8">
            <a:extLst>
              <a:ext uri="{FF2B5EF4-FFF2-40B4-BE49-F238E27FC236}">
                <a16:creationId xmlns:a16="http://schemas.microsoft.com/office/drawing/2014/main" id="{C207A76C-B566-093B-6F7B-C224C3BE313B}"/>
              </a:ext>
            </a:extLst>
          </p:cNvPr>
          <p:cNvPicPr>
            <a:picLocks noChangeAspect="1"/>
          </p:cNvPicPr>
          <p:nvPr/>
        </p:nvPicPr>
        <p:blipFill>
          <a:blip r:embed="rId5"/>
          <a:stretch>
            <a:fillRect/>
          </a:stretch>
        </p:blipFill>
        <p:spPr>
          <a:xfrm>
            <a:off x="3778685" y="4841608"/>
            <a:ext cx="4805792" cy="1764563"/>
          </a:xfrm>
          <a:prstGeom prst="rect">
            <a:avLst/>
          </a:prstGeom>
        </p:spPr>
      </p:pic>
      <p:sp>
        <p:nvSpPr>
          <p:cNvPr id="3" name="TextBox 2">
            <a:extLst>
              <a:ext uri="{FF2B5EF4-FFF2-40B4-BE49-F238E27FC236}">
                <a16:creationId xmlns:a16="http://schemas.microsoft.com/office/drawing/2014/main" id="{FD38D100-4090-856C-5C94-8E216E2D3442}"/>
              </a:ext>
            </a:extLst>
          </p:cNvPr>
          <p:cNvSpPr txBox="1"/>
          <p:nvPr/>
        </p:nvSpPr>
        <p:spPr>
          <a:xfrm>
            <a:off x="8813998" y="98523"/>
            <a:ext cx="3378002" cy="790473"/>
          </a:xfrm>
          <a:prstGeom prst="rect">
            <a:avLst/>
          </a:prstGeom>
          <a:solidFill>
            <a:schemeClr val="accent2">
              <a:lumMod val="20000"/>
              <a:lumOff val="80000"/>
            </a:schemeClr>
          </a:solidFill>
        </p:spPr>
        <p:txBody>
          <a:bodyPr wrap="square" rtlCol="0">
            <a:spAutoFit/>
          </a:bodyPr>
          <a:lstStyle/>
          <a:p>
            <a:pPr>
              <a:lnSpc>
                <a:spcPct val="115000"/>
              </a:lnSpc>
              <a:spcAft>
                <a:spcPts val="800"/>
              </a:spcAft>
              <a:buNone/>
            </a:pPr>
            <a:r>
              <a:rPr lang="en-MY" kern="100" dirty="0">
                <a:ea typeface="DengXian" panose="02010600030101010101" pitchFamily="2" charset="-122"/>
              </a:rPr>
              <a:t>H</a:t>
            </a:r>
            <a:r>
              <a:rPr lang="en-MY" kern="100" baseline="-25000" dirty="0">
                <a:ea typeface="DengXian" panose="02010600030101010101" pitchFamily="2" charset="-122"/>
              </a:rPr>
              <a:t>2</a:t>
            </a:r>
            <a:r>
              <a:rPr lang="en-MY" kern="100" dirty="0">
                <a:ea typeface="DengXian" panose="02010600030101010101" pitchFamily="2" charset="-122"/>
              </a:rPr>
              <a:t>O</a:t>
            </a:r>
          </a:p>
          <a:p>
            <a:r>
              <a:rPr lang="en-MY" dirty="0"/>
              <a:t>STO-3G 10000 time steps</a:t>
            </a:r>
          </a:p>
        </p:txBody>
      </p:sp>
      <p:sp>
        <p:nvSpPr>
          <p:cNvPr id="4" name="TextBox 3">
            <a:extLst>
              <a:ext uri="{FF2B5EF4-FFF2-40B4-BE49-F238E27FC236}">
                <a16:creationId xmlns:a16="http://schemas.microsoft.com/office/drawing/2014/main" id="{C81BCD49-15E9-6FA0-30A0-E947EB377482}"/>
              </a:ext>
            </a:extLst>
          </p:cNvPr>
          <p:cNvSpPr txBox="1"/>
          <p:nvPr/>
        </p:nvSpPr>
        <p:spPr>
          <a:xfrm>
            <a:off x="18967" y="2665706"/>
            <a:ext cx="777446" cy="369332"/>
          </a:xfrm>
          <a:prstGeom prst="rect">
            <a:avLst/>
          </a:prstGeom>
          <a:solidFill>
            <a:schemeClr val="accent2">
              <a:lumMod val="20000"/>
              <a:lumOff val="80000"/>
            </a:schemeClr>
          </a:solidFill>
        </p:spPr>
        <p:txBody>
          <a:bodyPr wrap="square" rtlCol="0">
            <a:spAutoFit/>
          </a:bodyPr>
          <a:lstStyle/>
          <a:p>
            <a:r>
              <a:rPr lang="en-MY" dirty="0"/>
              <a:t>Real</a:t>
            </a:r>
          </a:p>
        </p:txBody>
      </p:sp>
      <p:sp>
        <p:nvSpPr>
          <p:cNvPr id="6" name="TextBox 5">
            <a:extLst>
              <a:ext uri="{FF2B5EF4-FFF2-40B4-BE49-F238E27FC236}">
                <a16:creationId xmlns:a16="http://schemas.microsoft.com/office/drawing/2014/main" id="{E0400110-C28A-5FAE-DF07-976465961DBB}"/>
              </a:ext>
            </a:extLst>
          </p:cNvPr>
          <p:cNvSpPr txBox="1"/>
          <p:nvPr/>
        </p:nvSpPr>
        <p:spPr>
          <a:xfrm>
            <a:off x="0" y="4841608"/>
            <a:ext cx="1297858" cy="369332"/>
          </a:xfrm>
          <a:prstGeom prst="rect">
            <a:avLst/>
          </a:prstGeom>
          <a:solidFill>
            <a:schemeClr val="accent2">
              <a:lumMod val="20000"/>
              <a:lumOff val="80000"/>
            </a:schemeClr>
          </a:solidFill>
        </p:spPr>
        <p:txBody>
          <a:bodyPr wrap="square" rtlCol="0">
            <a:spAutoFit/>
          </a:bodyPr>
          <a:lstStyle/>
          <a:p>
            <a:r>
              <a:rPr lang="en-MY" dirty="0"/>
              <a:t>Imaginary</a:t>
            </a:r>
          </a:p>
        </p:txBody>
      </p:sp>
    </p:spTree>
    <p:extLst>
      <p:ext uri="{BB962C8B-B14F-4D97-AF65-F5344CB8AC3E}">
        <p14:creationId xmlns:p14="http://schemas.microsoft.com/office/powerpoint/2010/main" val="1659981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CC96-5E07-BD25-8BB4-EF18E2BAB1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6719C-2BD4-476C-2418-DDF7F3A8B459}"/>
              </a:ext>
            </a:extLst>
          </p:cNvPr>
          <p:cNvSpPr txBox="1">
            <a:spLocks/>
          </p:cNvSpPr>
          <p:nvPr/>
        </p:nvSpPr>
        <p:spPr>
          <a:xfrm>
            <a:off x="1097280" y="286603"/>
            <a:ext cx="10058400" cy="14507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MY" dirty="0"/>
              <a:t>Perspectives</a:t>
            </a:r>
          </a:p>
          <a:p>
            <a:endParaRPr lang="en-MY" dirty="0"/>
          </a:p>
        </p:txBody>
      </p:sp>
      <p:grpSp>
        <p:nvGrpSpPr>
          <p:cNvPr id="3" name="Group 2">
            <a:extLst>
              <a:ext uri="{FF2B5EF4-FFF2-40B4-BE49-F238E27FC236}">
                <a16:creationId xmlns:a16="http://schemas.microsoft.com/office/drawing/2014/main" id="{4651EF17-6BEE-F414-0859-650C078FD173}"/>
              </a:ext>
            </a:extLst>
          </p:cNvPr>
          <p:cNvGrpSpPr/>
          <p:nvPr/>
        </p:nvGrpSpPr>
        <p:grpSpPr>
          <a:xfrm>
            <a:off x="6892033" y="3205302"/>
            <a:ext cx="4980796" cy="2822363"/>
            <a:chOff x="797153" y="3403887"/>
            <a:chExt cx="4980796" cy="2822363"/>
          </a:xfrm>
        </p:grpSpPr>
        <p:pic>
          <p:nvPicPr>
            <p:cNvPr id="4" name="Picture 3">
              <a:extLst>
                <a:ext uri="{FF2B5EF4-FFF2-40B4-BE49-F238E27FC236}">
                  <a16:creationId xmlns:a16="http://schemas.microsoft.com/office/drawing/2014/main" id="{72DC239F-6896-C02A-FBBB-940818C624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153" y="3403887"/>
              <a:ext cx="4980796" cy="254363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8DA53D58-0DBB-951E-3B8B-04223B0E9B1A}"/>
                </a:ext>
              </a:extLst>
            </p:cNvPr>
            <p:cNvSpPr/>
            <p:nvPr/>
          </p:nvSpPr>
          <p:spPr>
            <a:xfrm>
              <a:off x="1329840" y="3454115"/>
              <a:ext cx="2086460" cy="2121186"/>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TextBox 5">
              <a:extLst>
                <a:ext uri="{FF2B5EF4-FFF2-40B4-BE49-F238E27FC236}">
                  <a16:creationId xmlns:a16="http://schemas.microsoft.com/office/drawing/2014/main" id="{024A82D9-7439-8D85-6033-3979D298AFAE}"/>
                </a:ext>
              </a:extLst>
            </p:cNvPr>
            <p:cNvSpPr txBox="1"/>
            <p:nvPr/>
          </p:nvSpPr>
          <p:spPr>
            <a:xfrm>
              <a:off x="1698548" y="5856918"/>
              <a:ext cx="1349044" cy="369332"/>
            </a:xfrm>
            <a:prstGeom prst="rect">
              <a:avLst/>
            </a:prstGeom>
            <a:noFill/>
          </p:spPr>
          <p:txBody>
            <a:bodyPr wrap="square">
              <a:spAutoFit/>
            </a:bodyPr>
            <a:lstStyle/>
            <a:p>
              <a:r>
                <a:rPr lang="en-US" dirty="0"/>
                <a:t>ML training</a:t>
              </a:r>
              <a:endParaRPr lang="en-MY" dirty="0"/>
            </a:p>
          </p:txBody>
        </p:sp>
        <p:sp>
          <p:nvSpPr>
            <p:cNvPr id="7" name="Rectangle 6">
              <a:extLst>
                <a:ext uri="{FF2B5EF4-FFF2-40B4-BE49-F238E27FC236}">
                  <a16:creationId xmlns:a16="http://schemas.microsoft.com/office/drawing/2014/main" id="{1D4DAF44-93C5-2D4E-09A4-E13F33C5F792}"/>
                </a:ext>
              </a:extLst>
            </p:cNvPr>
            <p:cNvSpPr/>
            <p:nvPr/>
          </p:nvSpPr>
          <p:spPr>
            <a:xfrm>
              <a:off x="3518125" y="3454114"/>
              <a:ext cx="2086460" cy="2121186"/>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TextBox 7">
              <a:extLst>
                <a:ext uri="{FF2B5EF4-FFF2-40B4-BE49-F238E27FC236}">
                  <a16:creationId xmlns:a16="http://schemas.microsoft.com/office/drawing/2014/main" id="{A42243C3-5D3A-DEF0-C29D-E8E0BECA9A4E}"/>
                </a:ext>
              </a:extLst>
            </p:cNvPr>
            <p:cNvSpPr txBox="1"/>
            <p:nvPr/>
          </p:nvSpPr>
          <p:spPr>
            <a:xfrm>
              <a:off x="3948987" y="5856918"/>
              <a:ext cx="1793952" cy="369332"/>
            </a:xfrm>
            <a:prstGeom prst="rect">
              <a:avLst/>
            </a:prstGeom>
            <a:noFill/>
          </p:spPr>
          <p:txBody>
            <a:bodyPr wrap="square">
              <a:spAutoFit/>
            </a:bodyPr>
            <a:lstStyle/>
            <a:p>
              <a:r>
                <a:rPr lang="en-US" dirty="0"/>
                <a:t>Prediction</a:t>
              </a:r>
              <a:endParaRPr lang="en-MY" dirty="0"/>
            </a:p>
          </p:txBody>
        </p:sp>
      </p:grpSp>
      <p:sp>
        <p:nvSpPr>
          <p:cNvPr id="9" name="TextBox 8">
            <a:extLst>
              <a:ext uri="{FF2B5EF4-FFF2-40B4-BE49-F238E27FC236}">
                <a16:creationId xmlns:a16="http://schemas.microsoft.com/office/drawing/2014/main" id="{B23B71A9-700B-EC91-904F-5C2713905A26}"/>
              </a:ext>
            </a:extLst>
          </p:cNvPr>
          <p:cNvSpPr txBox="1"/>
          <p:nvPr/>
        </p:nvSpPr>
        <p:spPr>
          <a:xfrm>
            <a:off x="851928" y="4639667"/>
            <a:ext cx="3310917" cy="646331"/>
          </a:xfrm>
          <a:prstGeom prst="rect">
            <a:avLst/>
          </a:prstGeom>
          <a:noFill/>
        </p:spPr>
        <p:txBody>
          <a:bodyPr wrap="square">
            <a:spAutoFit/>
          </a:bodyPr>
          <a:lstStyle/>
          <a:p>
            <a:r>
              <a:rPr lang="en-MY" dirty="0" err="1"/>
              <a:t>aug</a:t>
            </a:r>
            <a:r>
              <a:rPr lang="en-MY" dirty="0"/>
              <a:t>-cc-</a:t>
            </a:r>
            <a:r>
              <a:rPr lang="en-MY" dirty="0" err="1"/>
              <a:t>pVDZ</a:t>
            </a:r>
            <a:r>
              <a:rPr lang="en-MY" dirty="0"/>
              <a:t>  </a:t>
            </a:r>
            <a:r>
              <a:rPr lang="en-MY" dirty="0">
                <a:sym typeface="Wingdings" panose="05000000000000000000" pitchFamily="2" charset="2"/>
              </a:rPr>
              <a:t> </a:t>
            </a:r>
            <a:r>
              <a:rPr lang="en-US" dirty="0"/>
              <a:t>41 × 41, </a:t>
            </a:r>
          </a:p>
          <a:p>
            <a:r>
              <a:rPr lang="en-US" dirty="0" err="1"/>
              <a:t>aug</a:t>
            </a:r>
            <a:r>
              <a:rPr lang="en-US" dirty="0"/>
              <a:t>-cc-</a:t>
            </a:r>
            <a:r>
              <a:rPr lang="en-US" dirty="0" err="1"/>
              <a:t>pVTZ</a:t>
            </a:r>
            <a:r>
              <a:rPr lang="en-US" dirty="0"/>
              <a:t> basis  </a:t>
            </a:r>
            <a:r>
              <a:rPr lang="en-US" dirty="0">
                <a:sym typeface="Wingdings" panose="05000000000000000000" pitchFamily="2" charset="2"/>
              </a:rPr>
              <a:t> </a:t>
            </a:r>
            <a:r>
              <a:rPr lang="en-US" dirty="0"/>
              <a:t>92 × 92</a:t>
            </a:r>
            <a:endParaRPr lang="en-MY" dirty="0"/>
          </a:p>
        </p:txBody>
      </p:sp>
      <p:sp>
        <p:nvSpPr>
          <p:cNvPr id="10" name="TextBox 9">
            <a:extLst>
              <a:ext uri="{FF2B5EF4-FFF2-40B4-BE49-F238E27FC236}">
                <a16:creationId xmlns:a16="http://schemas.microsoft.com/office/drawing/2014/main" id="{FDD29247-B0F4-DF5B-53AF-95AF89CE77C6}"/>
              </a:ext>
            </a:extLst>
          </p:cNvPr>
          <p:cNvSpPr txBox="1"/>
          <p:nvPr/>
        </p:nvSpPr>
        <p:spPr>
          <a:xfrm>
            <a:off x="784843" y="4316122"/>
            <a:ext cx="3243832" cy="369332"/>
          </a:xfrm>
          <a:prstGeom prst="rect">
            <a:avLst/>
          </a:prstGeom>
          <a:noFill/>
        </p:spPr>
        <p:txBody>
          <a:bodyPr wrap="square" rtlCol="0">
            <a:spAutoFit/>
          </a:bodyPr>
          <a:lstStyle/>
          <a:p>
            <a:r>
              <a:rPr lang="en-MY" u="sng" dirty="0"/>
              <a:t>Limitation of method: </a:t>
            </a:r>
          </a:p>
        </p:txBody>
      </p:sp>
      <p:sp>
        <p:nvSpPr>
          <p:cNvPr id="12" name="TextBox 11">
            <a:extLst>
              <a:ext uri="{FF2B5EF4-FFF2-40B4-BE49-F238E27FC236}">
                <a16:creationId xmlns:a16="http://schemas.microsoft.com/office/drawing/2014/main" id="{49E53D7B-59AA-00A6-EFB1-A94646BF738C}"/>
              </a:ext>
            </a:extLst>
          </p:cNvPr>
          <p:cNvSpPr txBox="1"/>
          <p:nvPr/>
        </p:nvSpPr>
        <p:spPr>
          <a:xfrm>
            <a:off x="515003" y="1501834"/>
            <a:ext cx="4587939" cy="1200329"/>
          </a:xfrm>
          <a:prstGeom prst="rect">
            <a:avLst/>
          </a:prstGeom>
          <a:noFill/>
        </p:spPr>
        <p:txBody>
          <a:bodyPr wrap="square">
            <a:spAutoFit/>
          </a:bodyPr>
          <a:lstStyle/>
          <a:p>
            <a:pPr marL="285750" indent="-285750">
              <a:buFont typeface="Arial" panose="020B0604020202020204" pitchFamily="34" charset="0"/>
              <a:buChar char="•"/>
            </a:pPr>
            <a:r>
              <a:rPr lang="en-US" dirty="0"/>
              <a:t>Optimize our code, such as running the neural network on a GPU</a:t>
            </a:r>
          </a:p>
          <a:p>
            <a:pPr marL="285750" indent="-285750">
              <a:buFont typeface="Arial" panose="020B0604020202020204" pitchFamily="34" charset="0"/>
              <a:buChar char="•"/>
            </a:pPr>
            <a:r>
              <a:rPr lang="en-US" dirty="0"/>
              <a:t>More effective methods for large data (basis size, data size)</a:t>
            </a:r>
          </a:p>
        </p:txBody>
      </p:sp>
      <p:sp>
        <p:nvSpPr>
          <p:cNvPr id="14" name="TextBox 13">
            <a:extLst>
              <a:ext uri="{FF2B5EF4-FFF2-40B4-BE49-F238E27FC236}">
                <a16:creationId xmlns:a16="http://schemas.microsoft.com/office/drawing/2014/main" id="{FD9F5CE7-2DE6-BF3A-0417-72FCF3F3498D}"/>
              </a:ext>
            </a:extLst>
          </p:cNvPr>
          <p:cNvSpPr txBox="1"/>
          <p:nvPr/>
        </p:nvSpPr>
        <p:spPr>
          <a:xfrm>
            <a:off x="784843" y="2952591"/>
            <a:ext cx="3791954" cy="923330"/>
          </a:xfrm>
          <a:prstGeom prst="rect">
            <a:avLst/>
          </a:prstGeom>
          <a:noFill/>
        </p:spPr>
        <p:txBody>
          <a:bodyPr wrap="square">
            <a:spAutoFit/>
          </a:bodyPr>
          <a:lstStyle/>
          <a:p>
            <a:r>
              <a:rPr lang="en-US" dirty="0"/>
              <a:t>Next step - </a:t>
            </a:r>
          </a:p>
          <a:p>
            <a:r>
              <a:rPr lang="en-US" dirty="0"/>
              <a:t>learned Fock matrix to</a:t>
            </a:r>
          </a:p>
          <a:p>
            <a:r>
              <a:rPr lang="en-US" dirty="0"/>
              <a:t>simulate the electron dynamics</a:t>
            </a:r>
            <a:endParaRPr lang="en-MY" dirty="0"/>
          </a:p>
        </p:txBody>
      </p:sp>
    </p:spTree>
    <p:extLst>
      <p:ext uri="{BB962C8B-B14F-4D97-AF65-F5344CB8AC3E}">
        <p14:creationId xmlns:p14="http://schemas.microsoft.com/office/powerpoint/2010/main" val="5893915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77529-CBC6-7865-23C3-22964A4C6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A44450-DED4-72F3-C4EB-EEDF5A172FB3}"/>
              </a:ext>
            </a:extLst>
          </p:cNvPr>
          <p:cNvSpPr txBox="1">
            <a:spLocks/>
          </p:cNvSpPr>
          <p:nvPr/>
        </p:nvSpPr>
        <p:spPr>
          <a:xfrm>
            <a:off x="1097280" y="286603"/>
            <a:ext cx="10058400" cy="145075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MY" dirty="0"/>
              <a:t>Conclusions</a:t>
            </a:r>
          </a:p>
          <a:p>
            <a:endParaRPr lang="en-MY" dirty="0"/>
          </a:p>
        </p:txBody>
      </p:sp>
      <p:sp>
        <p:nvSpPr>
          <p:cNvPr id="4" name="TextBox 3">
            <a:extLst>
              <a:ext uri="{FF2B5EF4-FFF2-40B4-BE49-F238E27FC236}">
                <a16:creationId xmlns:a16="http://schemas.microsoft.com/office/drawing/2014/main" id="{BE374E48-B44F-8267-2175-0EFBFB4EEB85}"/>
              </a:ext>
            </a:extLst>
          </p:cNvPr>
          <p:cNvSpPr txBox="1"/>
          <p:nvPr/>
        </p:nvSpPr>
        <p:spPr>
          <a:xfrm>
            <a:off x="1304544" y="1564886"/>
            <a:ext cx="5745185" cy="3728649"/>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2000" dirty="0"/>
              <a:t>Investigated factors that affect the accuracy</a:t>
            </a:r>
          </a:p>
          <a:p>
            <a:pPr marL="342900" indent="-342900" algn="just">
              <a:lnSpc>
                <a:spcPct val="150000"/>
              </a:lnSpc>
              <a:buFont typeface="Arial" panose="020B0604020202020204" pitchFamily="34" charset="0"/>
              <a:buChar char="•"/>
            </a:pPr>
            <a:r>
              <a:rPr lang="en-US" sz="2000" dirty="0"/>
              <a:t>Quality of the data, which must be inspected</a:t>
            </a:r>
          </a:p>
          <a:p>
            <a:pPr marL="342900" indent="-342900" algn="just">
              <a:lnSpc>
                <a:spcPct val="150000"/>
              </a:lnSpc>
              <a:buFont typeface="Arial" panose="020B0604020202020204" pitchFamily="34" charset="0"/>
              <a:buChar char="•"/>
            </a:pPr>
            <a:r>
              <a:rPr lang="en-US" sz="2000" dirty="0"/>
              <a:t>Neural network best combination of hyperparameters. </a:t>
            </a:r>
          </a:p>
          <a:p>
            <a:pPr marL="342900" indent="-342900" algn="just">
              <a:lnSpc>
                <a:spcPct val="150000"/>
              </a:lnSpc>
              <a:buFont typeface="Arial" panose="020B0604020202020204" pitchFamily="34" charset="0"/>
              <a:buChar char="•"/>
            </a:pPr>
            <a:r>
              <a:rPr lang="en-US" sz="2000" dirty="0"/>
              <a:t>Choose the simplest algorithm</a:t>
            </a:r>
          </a:p>
          <a:p>
            <a:pPr marL="342900" indent="-342900" algn="just">
              <a:lnSpc>
                <a:spcPct val="150000"/>
              </a:lnSpc>
              <a:buFont typeface="Arial" panose="020B0604020202020204" pitchFamily="34" charset="0"/>
              <a:buChar char="•"/>
            </a:pPr>
            <a:r>
              <a:rPr lang="en-MY" sz="2000" dirty="0"/>
              <a:t>Not necessarily reduce the computation time, but it is possible to use an alternative method</a:t>
            </a:r>
            <a:endParaRPr lang="en-US" sz="2000" dirty="0"/>
          </a:p>
          <a:p>
            <a:pPr marL="342900" indent="-342900" algn="just">
              <a:lnSpc>
                <a:spcPct val="150000"/>
              </a:lnSpc>
              <a:buFont typeface="Arial" panose="020B0604020202020204" pitchFamily="34" charset="0"/>
              <a:buChar char="•"/>
            </a:pPr>
            <a:endParaRPr lang="en-US" sz="2000" dirty="0"/>
          </a:p>
        </p:txBody>
      </p:sp>
    </p:spTree>
    <p:extLst>
      <p:ext uri="{BB962C8B-B14F-4D97-AF65-F5344CB8AC3E}">
        <p14:creationId xmlns:p14="http://schemas.microsoft.com/office/powerpoint/2010/main" val="17127880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CDA35-7A32-0CF4-4A9F-FE7F617FD77E}"/>
              </a:ext>
            </a:extLst>
          </p:cNvPr>
          <p:cNvSpPr txBox="1">
            <a:spLocks/>
          </p:cNvSpPr>
          <p:nvPr/>
        </p:nvSpPr>
        <p:spPr>
          <a:xfrm>
            <a:off x="525153" y="427703"/>
            <a:ext cx="10058400" cy="114452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MY" dirty="0"/>
              <a:t>Acknowledgement</a:t>
            </a:r>
          </a:p>
        </p:txBody>
      </p:sp>
      <p:sp>
        <p:nvSpPr>
          <p:cNvPr id="3" name="Content Placeholder 2">
            <a:extLst>
              <a:ext uri="{FF2B5EF4-FFF2-40B4-BE49-F238E27FC236}">
                <a16:creationId xmlns:a16="http://schemas.microsoft.com/office/drawing/2014/main" id="{16F381B3-C085-EA11-5D8C-A7E5B22B1FAA}"/>
              </a:ext>
            </a:extLst>
          </p:cNvPr>
          <p:cNvSpPr txBox="1">
            <a:spLocks/>
          </p:cNvSpPr>
          <p:nvPr/>
        </p:nvSpPr>
        <p:spPr>
          <a:xfrm>
            <a:off x="1097280" y="5723515"/>
            <a:ext cx="10058400" cy="50650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MY" sz="2800" dirty="0"/>
              <a:t>Thank you for your attention</a:t>
            </a:r>
          </a:p>
        </p:txBody>
      </p:sp>
      <p:pic>
        <p:nvPicPr>
          <p:cNvPr id="4" name="Picture 3">
            <a:extLst>
              <a:ext uri="{FF2B5EF4-FFF2-40B4-BE49-F238E27FC236}">
                <a16:creationId xmlns:a16="http://schemas.microsoft.com/office/drawing/2014/main" id="{3B7BB41F-4C46-FF3F-9AF7-68C4BDBAC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26624" y="232007"/>
            <a:ext cx="1340223" cy="1340223"/>
          </a:xfrm>
          <a:prstGeom prst="rect">
            <a:avLst/>
          </a:prstGeom>
        </p:spPr>
      </p:pic>
      <p:sp>
        <p:nvSpPr>
          <p:cNvPr id="6" name="TextBox 5">
            <a:extLst>
              <a:ext uri="{FF2B5EF4-FFF2-40B4-BE49-F238E27FC236}">
                <a16:creationId xmlns:a16="http://schemas.microsoft.com/office/drawing/2014/main" id="{D1DC9506-D218-02C0-143F-3762AAA8C233}"/>
              </a:ext>
            </a:extLst>
          </p:cNvPr>
          <p:cNvSpPr txBox="1"/>
          <p:nvPr/>
        </p:nvSpPr>
        <p:spPr>
          <a:xfrm>
            <a:off x="1498546" y="1572230"/>
            <a:ext cx="6096000" cy="1938992"/>
          </a:xfrm>
          <a:prstGeom prst="rect">
            <a:avLst/>
          </a:prstGeom>
          <a:noFill/>
        </p:spPr>
        <p:txBody>
          <a:bodyPr wrap="square">
            <a:spAutoFit/>
          </a:bodyPr>
          <a:lstStyle/>
          <a:p>
            <a:r>
              <a:rPr lang="en-MY" sz="2000" dirty="0"/>
              <a:t>Special thanks to:</a:t>
            </a:r>
          </a:p>
          <a:p>
            <a:endParaRPr lang="en-MY" sz="2000" dirty="0"/>
          </a:p>
          <a:p>
            <a:r>
              <a:rPr lang="en-MY" sz="2000" dirty="0"/>
              <a:t>Dott. Leonardo </a:t>
            </a:r>
            <a:r>
              <a:rPr lang="en-MY" sz="2000" dirty="0" err="1"/>
              <a:t>Belpassi</a:t>
            </a:r>
            <a:endParaRPr lang="en-MY" sz="2000" dirty="0"/>
          </a:p>
          <a:p>
            <a:r>
              <a:rPr lang="en-MY" sz="2000" dirty="0" err="1"/>
              <a:t>Prof.ssa</a:t>
            </a:r>
            <a:r>
              <a:rPr lang="en-MY" sz="2000" dirty="0"/>
              <a:t> Paola </a:t>
            </a:r>
            <a:r>
              <a:rPr lang="en-MY" sz="2000" dirty="0" err="1"/>
              <a:t>Belanzoni</a:t>
            </a:r>
            <a:endParaRPr lang="en-MY" sz="2000" dirty="0"/>
          </a:p>
          <a:p>
            <a:endParaRPr lang="en-MY" sz="2000" dirty="0"/>
          </a:p>
          <a:p>
            <a:r>
              <a:rPr lang="en-MY" sz="2000" dirty="0"/>
              <a:t> </a:t>
            </a:r>
          </a:p>
        </p:txBody>
      </p:sp>
    </p:spTree>
    <p:extLst>
      <p:ext uri="{BB962C8B-B14F-4D97-AF65-F5344CB8AC3E}">
        <p14:creationId xmlns:p14="http://schemas.microsoft.com/office/powerpoint/2010/main" val="2959874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18BFB-ADBF-49E7-AE3C-05821843B6B3}"/>
              </a:ext>
            </a:extLst>
          </p:cNvPr>
          <p:cNvSpPr>
            <a:spLocks noGrp="1"/>
          </p:cNvSpPr>
          <p:nvPr>
            <p:ph type="title"/>
          </p:nvPr>
        </p:nvSpPr>
        <p:spPr/>
        <p:txBody>
          <a:bodyPr/>
          <a:lstStyle/>
          <a:p>
            <a:r>
              <a:rPr lang="en-MY" dirty="0"/>
              <a:t>Appendix – tables data</a:t>
            </a:r>
          </a:p>
        </p:txBody>
      </p:sp>
      <p:sp>
        <p:nvSpPr>
          <p:cNvPr id="3" name="Content Placeholder 2">
            <a:extLst>
              <a:ext uri="{FF2B5EF4-FFF2-40B4-BE49-F238E27FC236}">
                <a16:creationId xmlns:a16="http://schemas.microsoft.com/office/drawing/2014/main" id="{4C8FA1A1-564B-F712-4EC5-A8A887C208B2}"/>
              </a:ext>
            </a:extLst>
          </p:cNvPr>
          <p:cNvSpPr>
            <a:spLocks noGrp="1"/>
          </p:cNvSpPr>
          <p:nvPr>
            <p:ph idx="1"/>
          </p:nvPr>
        </p:nvSpPr>
        <p:spPr/>
        <p:txBody>
          <a:bodyPr/>
          <a:lstStyle/>
          <a:p>
            <a:endParaRPr lang="en-MY"/>
          </a:p>
        </p:txBody>
      </p:sp>
    </p:spTree>
    <p:extLst>
      <p:ext uri="{BB962C8B-B14F-4D97-AF65-F5344CB8AC3E}">
        <p14:creationId xmlns:p14="http://schemas.microsoft.com/office/powerpoint/2010/main" val="9818208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 1200"/>
  <p:tag name="ORIGINALHEIGHT" val=" 112.4859"/>
  <p:tag name="ORIGINALWIDTH" val=" 68.99134"/>
  <p:tag name="OUTPUTTYPE" val="PNG"/>
  <p:tag name="IGUANATEXVERSION" val="162"/>
  <p:tag name="LATEXADDIN" val="\documentclass{article}&#10;\usepackage{amsmath}&#10;\pagestyle{empty}&#10;\begin{document}&#10;&#10;$\beta$&#10;&#10;&#10;\end{document}"/>
  <p:tag name="IGUANATEXSIZE" val="20"/>
  <p:tag name="IGUANATEXCURSOR" val="84"/>
  <p:tag name="TRANSPARENCY" val="True"/>
  <p:tag name="CHOOSECOLOR" val="False"/>
  <p:tag name="COLORHEX" val="000000"/>
  <p:tag name="LATEXENGINEID" val="0"/>
  <p:tag name="TEMPFOLDER" val="c:\temp\"/>
  <p:tag name="LATEXFORMHEIGHT" val=" 320"/>
  <p:tag name="LATEXFORMWIDTH" val=" 38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 1200"/>
  <p:tag name="ORIGINALHEIGHT" val=" 299.9625"/>
  <p:tag name="ORIGINALWIDTH" val=" 3231.346"/>
  <p:tag name="OUTPUTTYPE" val="PNG"/>
  <p:tag name="IGUANATEXVERSION" val="162"/>
  <p:tag name="LATEXADDIN" val="\documentclass{article}&#10;\usepackage{amsmath}&#10;\pagestyle{empty}&#10;\begin{document}&#10;&#10; \begin{equation}&#10;        \boldsymbol{U}(t + \Delta t, t_0) \approx \text{exp} &#10;        \left[  -iF \left( t + \frac{\Delta t}{2} \right) \Delta t\right]&#10;    \end{equation}&#10;&#10;&#10;&#10;\end{document}"/>
  <p:tag name="IGUANATEXSIZE" val="12"/>
  <p:tag name="IGUANATEXCURSOR" val="180"/>
  <p:tag name="TRANSPARENCY" val="True"/>
  <p:tag name="CHOOSECOLOR" val="False"/>
  <p:tag name="COLORHEX" val="000000"/>
  <p:tag name="LATEXENGINEID" val="0"/>
  <p:tag name="TEMPFOLDER" val="c:\temp\"/>
  <p:tag name="LATEXFORMHEIGHT" val=" 320"/>
  <p:tag name="LATEXFORMWIDTH" val=" 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 1200"/>
  <p:tag name="ORIGINALHEIGHT" val=" 125.2343"/>
  <p:tag name="ORIGINALWIDTH" val=" 537.6827"/>
  <p:tag name="OUTPUTTYPE" val="PNG"/>
  <p:tag name="IGUANATEXVERSION" val="162"/>
  <p:tag name="LATEXADDIN" val="\documentclass{article}&#10;\usepackage{amsmath}&#10;\pagestyle{empty}&#10;\begin{document}&#10;&#10;$\boldsymbol{F}(t, \boldsymbol{P}(t))$&#10;&#10;&#10;\end{document}"/>
  <p:tag name="IGUANATEXSIZE" val="20"/>
  <p:tag name="IGUANATEXCURSOR" val="114"/>
  <p:tag name="TRANSPARENCY" val="True"/>
  <p:tag name="CHOOSECOLOR" val="False"/>
  <p:tag name="COLORHEX" val="000000"/>
  <p:tag name="LATEXENGINEID" val="0"/>
  <p:tag name="TEMPFOLDER" val="c:\temp\"/>
  <p:tag name="LATEXFORMHEIGHT" val=" 320"/>
  <p:tag name="LATEXFORMWIDTH" val=" 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 1200"/>
  <p:tag name="ORIGINALHEIGHT" val=" 147.7315"/>
  <p:tag name="ORIGINALWIDTH" val=" 537.6827"/>
  <p:tag name="OUTPUTTYPE" val="PNG"/>
  <p:tag name="IGUANATEXVERSION" val="162"/>
  <p:tag name="LATEXADDIN" val="\documentclass{article}&#10;\usepackage{amsmath}&#10;\pagestyle{empty}&#10;\begin{document}&#10;&#10;$\boldsymbol{\tilde{F}}(t, \boldsymbol{\tilde{P}}(t))$&#10;&#10;&#10;\end{document}"/>
  <p:tag name="IGUANATEXSIZE" val="20"/>
  <p:tag name="IGUANATEXCURSOR" val="129"/>
  <p:tag name="TRANSPARENCY" val="True"/>
  <p:tag name="CHOOSECOLOR" val="False"/>
  <p:tag name="COLORHEX" val="000000"/>
  <p:tag name="LATEXENGINEID" val="0"/>
  <p:tag name="TEMPFOLDER" val="c:\temp\"/>
  <p:tag name="LATEXFORMHEIGHT" val=" 320"/>
  <p:tag name="LATEXFORMWIDTH" val=" 38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 1200"/>
  <p:tag name="ORIGINALHEIGHT" val=" 299.9625"/>
  <p:tag name="ORIGINALWIDTH" val=" 3231.346"/>
  <p:tag name="OUTPUTTYPE" val="PNG"/>
  <p:tag name="IGUANATEXVERSION" val="162"/>
  <p:tag name="LATEXADDIN" val="\documentclass{article}&#10;\usepackage{amsmath}&#10;\pagestyle{empty}&#10;\begin{document}&#10;&#10; \begin{equation}&#10;        \boldsymbol{U}(t + \Delta t, t_0) \approx \text{exp} &#10;        \left[  -iF \left( t + \frac{\Delta t}{2} \right) \Delta t\right]&#10;    \end{equation}&#10;&#10;&#10;&#10;\end{document}"/>
  <p:tag name="IGUANATEXSIZE" val="12"/>
  <p:tag name="IGUANATEXCURSOR" val="180"/>
  <p:tag name="TRANSPARENCY" val="True"/>
  <p:tag name="CHOOSECOLOR" val="False"/>
  <p:tag name="COLORHEX" val="000000"/>
  <p:tag name="LATEXENGINEID" val="0"/>
  <p:tag name="TEMPFOLDER" val="c:\temp\"/>
  <p:tag name="LATEXFORMHEIGHT" val=" 320"/>
  <p:tag name="LATEXFORMWIDTH" val=" 38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 1200"/>
  <p:tag name="ORIGINALHEIGHT" val=" 112.4859"/>
  <p:tag name="ORIGINALWIDTH" val=" 721.4099"/>
  <p:tag name="OUTPUTTYPE" val="PNG"/>
  <p:tag name="IGUANATEXVERSION" val="162"/>
  <p:tag name="LATEXADDIN" val="\documentclass{article}&#10;\usepackage{amsmath}&#10;\pagestyle{empty}&#10;\begin{document}&#10;&#10;$\boldsymbol{h} = \beta_0 + \beta_1 \boldsymbol{p}$&#10;&#10;&#10;\end{document}"/>
  <p:tag name="IGUANATEXSIZE" val="18"/>
  <p:tag name="IGUANATEXCURSOR" val="111"/>
  <p:tag name="TRANSPARENCY" val="True"/>
  <p:tag name="CHOOSECOLOR" val="False"/>
  <p:tag name="COLORHEX" val="000000"/>
  <p:tag name="LATEXENGINEID" val="0"/>
  <p:tag name="TEMPFOLDER" val="c:\temp\"/>
  <p:tag name="LATEXFORMHEIGHT" val=" 320"/>
  <p:tag name="LATEXFORMWIDTH" val=" 385"/>
  <p:tag name="LATEXFORMWRAP" val="True"/>
  <p:tag name="BITMAPVECTOR" val="0"/>
</p:tagLst>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17329</TotalTime>
  <Words>4257</Words>
  <Application>Microsoft Office PowerPoint</Application>
  <PresentationFormat>Widescreen</PresentationFormat>
  <Paragraphs>740</Paragraphs>
  <Slides>30</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DengXian</vt:lpstr>
      <vt:lpstr>Aptos</vt:lpstr>
      <vt:lpstr>Arial</vt:lpstr>
      <vt:lpstr>Calibri</vt:lpstr>
      <vt:lpstr>Cambria Math</vt:lpstr>
      <vt:lpstr>Merriweather Sans</vt:lpstr>
      <vt:lpstr>Roboto</vt:lpstr>
      <vt:lpstr>Times New Roman</vt:lpstr>
      <vt:lpstr>Wingdings</vt:lpstr>
      <vt:lpstr>Retrospect</vt:lpstr>
      <vt:lpstr>Machine learning techniques for molecular electrodynamic simulations in real time</vt:lpstr>
      <vt:lpstr>PowerPoint Presentation</vt:lpstr>
      <vt:lpstr>PowerPoint Presentation</vt:lpstr>
      <vt:lpstr>PowerPoint Presentation</vt:lpstr>
      <vt:lpstr>PowerPoint Presentation</vt:lpstr>
      <vt:lpstr>PowerPoint Presentation</vt:lpstr>
      <vt:lpstr>Methodology</vt:lpstr>
      <vt:lpstr>PowerPoint Presentation</vt:lpstr>
      <vt:lpstr>PowerPoint Presentation</vt:lpstr>
      <vt:lpstr>PowerPoint Presentation</vt:lpstr>
      <vt:lpstr>Results and discussions</vt:lpstr>
      <vt:lpstr>Data scaling</vt:lpstr>
      <vt:lpstr>Train-test percentage</vt:lpstr>
      <vt:lpstr>Increasing dataset size</vt:lpstr>
      <vt:lpstr>Increasing basis size</vt:lpstr>
      <vt:lpstr>Changing orientation </vt:lpstr>
      <vt:lpstr>Removing value experienced perturbation LiH /H2O</vt:lpstr>
      <vt:lpstr>Removing noise</vt:lpstr>
      <vt:lpstr>Removing noise</vt:lpstr>
      <vt:lpstr>PowerPoint Presentation</vt:lpstr>
      <vt:lpstr>Number of hidden layers</vt:lpstr>
      <vt:lpstr>Number of neurons</vt:lpstr>
      <vt:lpstr>Types of optimizers</vt:lpstr>
      <vt:lpstr>Grid search</vt:lpstr>
      <vt:lpstr>Removing zeros neural network</vt:lpstr>
      <vt:lpstr>Comparing result linear and NN</vt:lpstr>
      <vt:lpstr>PowerPoint Presentation</vt:lpstr>
      <vt:lpstr>PowerPoint Presentation</vt:lpstr>
      <vt:lpstr>PowerPoint Presentation</vt:lpstr>
      <vt:lpstr>Appendix – tables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Jia Sheng Siow</dc:creator>
  <cp:lastModifiedBy>Jia Sheng Siow</cp:lastModifiedBy>
  <cp:revision>631</cp:revision>
  <dcterms:created xsi:type="dcterms:W3CDTF">2025-05-06T16:52:31Z</dcterms:created>
  <dcterms:modified xsi:type="dcterms:W3CDTF">2025-09-13T23:34:51Z</dcterms:modified>
</cp:coreProperties>
</file>